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1" r:id="rId1"/>
  </p:sldMasterIdLst>
  <p:notesMasterIdLst>
    <p:notesMasterId r:id="rId45"/>
  </p:notesMasterIdLst>
  <p:sldIdLst>
    <p:sldId id="295" r:id="rId2"/>
    <p:sldId id="296" r:id="rId3"/>
    <p:sldId id="334" r:id="rId4"/>
    <p:sldId id="335" r:id="rId5"/>
    <p:sldId id="336" r:id="rId6"/>
    <p:sldId id="337" r:id="rId7"/>
    <p:sldId id="338" r:id="rId8"/>
    <p:sldId id="308" r:id="rId9"/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5" r:id="rId18"/>
    <p:sldId id="267" r:id="rId19"/>
    <p:sldId id="268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787"/>
    <p:restoredTop sz="90929"/>
  </p:normalViewPr>
  <p:slideViewPr>
    <p:cSldViewPr>
      <p:cViewPr varScale="1">
        <p:scale>
          <a:sx n="54" d="100"/>
          <a:sy n="54" d="100"/>
        </p:scale>
        <p:origin x="91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3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3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3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5A464D0-7801-4CCC-A86E-221A8AB370A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2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2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1">
            <a:extLst>
              <a:ext uri="{FF2B5EF4-FFF2-40B4-BE49-F238E27FC236}">
                <a16:creationId xmlns:a16="http://schemas.microsoft.com/office/drawing/2014/main" id="{445B6627-9A01-51C9-FD55-EA79A4D8512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92C65AF9-CC7E-49CF-B987-C8740A6F5C4A}" type="slidenum">
              <a:rPr lang="en-US" altLang="tr-TR" smtClean="0">
                <a:ea typeface="Droid Sans Fallback" charset="0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</a:t>
            </a:fld>
            <a:endParaRPr lang="en-US" altLang="tr-TR">
              <a:ea typeface="Droid Sans Fallback" charset="0"/>
            </a:endParaRPr>
          </a:p>
        </p:txBody>
      </p:sp>
      <p:sp>
        <p:nvSpPr>
          <p:cNvPr id="7171" name="Rectangle 1">
            <a:extLst>
              <a:ext uri="{FF2B5EF4-FFF2-40B4-BE49-F238E27FC236}">
                <a16:creationId xmlns:a16="http://schemas.microsoft.com/office/drawing/2014/main" id="{5268A604-5958-0FD2-B349-4CCAB4455ED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EB370153-967C-1037-6C25-094371CD01F7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1">
            <a:extLst>
              <a:ext uri="{FF2B5EF4-FFF2-40B4-BE49-F238E27FC236}">
                <a16:creationId xmlns:a16="http://schemas.microsoft.com/office/drawing/2014/main" id="{3B3658BE-8DD9-C7C6-C56F-9DF6E01C6B6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F65E9B94-E3EB-4783-9DA5-DDB9E94B88AF}" type="slidenum">
              <a:rPr lang="en-US" altLang="tr-TR" smtClean="0">
                <a:ea typeface="Droid Sans Fallback" charset="0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2</a:t>
            </a:fld>
            <a:endParaRPr lang="en-US" altLang="tr-TR">
              <a:ea typeface="Droid Sans Fallback" charset="0"/>
            </a:endParaRPr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A0014A87-A45E-DAAA-30E8-8D3F22A760A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C237C5FD-4E63-8299-9318-365CACDEA00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1">
            <a:extLst>
              <a:ext uri="{FF2B5EF4-FFF2-40B4-BE49-F238E27FC236}">
                <a16:creationId xmlns:a16="http://schemas.microsoft.com/office/drawing/2014/main" id="{90047156-C639-1CDF-7B60-D4F945F15AE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451739A5-2B5D-48B7-A8F9-8177EB7FE546}" type="slidenum">
              <a:rPr lang="en-US" altLang="tr-TR" smtClean="0">
                <a:ea typeface="Droid Sans Fallback" charset="0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3</a:t>
            </a:fld>
            <a:endParaRPr lang="en-US" altLang="tr-TR">
              <a:ea typeface="Droid Sans Fallback" charset="0"/>
            </a:endParaRPr>
          </a:p>
        </p:txBody>
      </p:sp>
      <p:sp>
        <p:nvSpPr>
          <p:cNvPr id="11267" name="Rectangle 1">
            <a:extLst>
              <a:ext uri="{FF2B5EF4-FFF2-40B4-BE49-F238E27FC236}">
                <a16:creationId xmlns:a16="http://schemas.microsoft.com/office/drawing/2014/main" id="{079D48D7-63D8-7A2C-1995-4CF83344F4C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D186CD27-5BDE-8F3B-553B-0ADFBB1AF6A7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1">
            <a:extLst>
              <a:ext uri="{FF2B5EF4-FFF2-40B4-BE49-F238E27FC236}">
                <a16:creationId xmlns:a16="http://schemas.microsoft.com/office/drawing/2014/main" id="{F2F73010-4111-7FFB-010E-984F30DDE79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A5F84A62-31F9-4D11-8AFD-FF890FEAE408}" type="slidenum">
              <a:rPr lang="en-US" altLang="tr-TR" smtClean="0">
                <a:ea typeface="Droid Sans Fallback" charset="0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4</a:t>
            </a:fld>
            <a:endParaRPr lang="en-US" altLang="tr-TR">
              <a:ea typeface="Droid Sans Fallback" charset="0"/>
            </a:endParaRPr>
          </a:p>
        </p:txBody>
      </p:sp>
      <p:sp>
        <p:nvSpPr>
          <p:cNvPr id="13315" name="Rectangle 1">
            <a:extLst>
              <a:ext uri="{FF2B5EF4-FFF2-40B4-BE49-F238E27FC236}">
                <a16:creationId xmlns:a16="http://schemas.microsoft.com/office/drawing/2014/main" id="{7E06F431-2A27-4711-AE06-063A452D622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AA9FD295-26F1-9434-6444-50F1EECCC96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1">
            <a:extLst>
              <a:ext uri="{FF2B5EF4-FFF2-40B4-BE49-F238E27FC236}">
                <a16:creationId xmlns:a16="http://schemas.microsoft.com/office/drawing/2014/main" id="{1865BE42-9CD0-AB85-D22C-8378CB425F2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579B4855-37D1-4161-8490-081EC7F9EC98}" type="slidenum">
              <a:rPr lang="en-US" altLang="tr-TR" smtClean="0">
                <a:ea typeface="Droid Sans Fallback" charset="0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5</a:t>
            </a:fld>
            <a:endParaRPr lang="en-US" altLang="tr-TR">
              <a:ea typeface="Droid Sans Fallback" charset="0"/>
            </a:endParaRPr>
          </a:p>
        </p:txBody>
      </p:sp>
      <p:sp>
        <p:nvSpPr>
          <p:cNvPr id="15363" name="Rectangle 1">
            <a:extLst>
              <a:ext uri="{FF2B5EF4-FFF2-40B4-BE49-F238E27FC236}">
                <a16:creationId xmlns:a16="http://schemas.microsoft.com/office/drawing/2014/main" id="{58A374BE-C2DA-5FD4-90B8-80C6C7E270A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8B5080D5-7633-94CF-5295-DBAD7C3DE3A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1">
            <a:extLst>
              <a:ext uri="{FF2B5EF4-FFF2-40B4-BE49-F238E27FC236}">
                <a16:creationId xmlns:a16="http://schemas.microsoft.com/office/drawing/2014/main" id="{129D16B6-10B1-3872-2072-AC694D4D4CB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F5F65FDA-688B-4724-A505-D4FA16A29BF6}" type="slidenum">
              <a:rPr lang="en-US" altLang="tr-TR" smtClean="0">
                <a:ea typeface="Droid Sans Fallback" charset="0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6</a:t>
            </a:fld>
            <a:endParaRPr lang="en-US" altLang="tr-TR">
              <a:ea typeface="Droid Sans Fallback" charset="0"/>
            </a:endParaRPr>
          </a:p>
        </p:txBody>
      </p:sp>
      <p:sp>
        <p:nvSpPr>
          <p:cNvPr id="17411" name="Rectangle 1">
            <a:extLst>
              <a:ext uri="{FF2B5EF4-FFF2-40B4-BE49-F238E27FC236}">
                <a16:creationId xmlns:a16="http://schemas.microsoft.com/office/drawing/2014/main" id="{E7EC5EAF-7881-32C3-2A9D-387E3EB9917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D950B434-1A5D-C256-6576-E6550FC2B7A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1">
            <a:extLst>
              <a:ext uri="{FF2B5EF4-FFF2-40B4-BE49-F238E27FC236}">
                <a16:creationId xmlns:a16="http://schemas.microsoft.com/office/drawing/2014/main" id="{13E3F1BD-7B64-4C62-F9C8-03A91EDEED8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71547F02-96D6-48E7-877A-359D3ADFF20B}" type="slidenum">
              <a:rPr lang="en-US" altLang="tr-TR" smtClean="0">
                <a:ea typeface="Droid Sans Fallback" charset="0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7</a:t>
            </a:fld>
            <a:endParaRPr lang="en-US" altLang="tr-TR">
              <a:ea typeface="Droid Sans Fallback" charset="0"/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99AD2694-E347-1DDF-9A77-A1F5A08B179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19A4CEE0-CDC6-088C-EC45-C14A54DD50DA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1">
            <a:extLst>
              <a:ext uri="{FF2B5EF4-FFF2-40B4-BE49-F238E27FC236}">
                <a16:creationId xmlns:a16="http://schemas.microsoft.com/office/drawing/2014/main" id="{942C0B95-BC8A-82B0-413B-CEE7211FCED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7B08E5FE-B796-4743-98CE-86FF201B0A6D}" type="slidenum">
              <a:rPr lang="en-US" altLang="tr-TR" smtClean="0">
                <a:ea typeface="Droid Sans Fallback" charset="0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8</a:t>
            </a:fld>
            <a:endParaRPr lang="en-US" altLang="tr-TR">
              <a:ea typeface="Droid Sans Fallback" charset="0"/>
            </a:endParaRPr>
          </a:p>
        </p:txBody>
      </p:sp>
      <p:sp>
        <p:nvSpPr>
          <p:cNvPr id="68611" name="Rectangle 1">
            <a:extLst>
              <a:ext uri="{FF2B5EF4-FFF2-40B4-BE49-F238E27FC236}">
                <a16:creationId xmlns:a16="http://schemas.microsoft.com/office/drawing/2014/main" id="{05812F35-26BE-2EA3-8A1A-817D014BEF0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C4C67BE7-7C57-300A-C5E8-DE05F9D4D1BD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tr-TR" altLang="tr-T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B75815C-13EB-4939-A61D-C3A664B61AAB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939581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F7156B1-E1EE-4195-B2CB-3047F62578EE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CDABB3E-6F1E-4FD3-94FE-432384E05361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4096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2764DA8-AC3C-4B99-AFB0-0BC8D8DBEE68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4198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"A,B are multiplied"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"A,B are added"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FCB8D27-8D39-47BF-8F7E-0E803942A87C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A4BAF8D-2237-480E-B55C-D912E949D83F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4403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E0C38CD-1B8B-4022-ADF8-FE54024E2307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5EDF7A8-875B-429F-A90F-51222D54FF0D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00F3F50-CD55-4FD6-B046-A70FEC051B59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Start with Fully parenthesized expression.  Move each operator to the left of its operands and remove the set of parentheses.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225914C-EDDE-4CFE-BE94-3FF1C7387308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Start with Fully parenthesized expression.  Move each operator to the left of its operands and remove the set of parentheses.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0AA7B66-5051-4063-A7F7-15C4C1ABABB4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Start with Fully parenthesized expression.  Move each operator to the left of its operands and remove the set of parentheses.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9CBF103-BDAE-4259-BB39-95A226C014FA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Start with Fully parenthesized expression.  Move each operator to the left of its operands and remove the set of parentheses.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A0DA588-5ECD-450A-B024-4530BC14DE6E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A20A57B-27AA-4A47-8265-1DA604E2DFD1}" type="slidenum">
              <a:rPr lang="en-US" altLang="en-US" sz="1200"/>
              <a:pPr/>
              <a:t>22</a:t>
            </a:fld>
            <a:endParaRPr lang="en-US" altLang="en-US" sz="1200"/>
          </a:p>
        </p:txBody>
      </p:sp>
      <p:sp>
        <p:nvSpPr>
          <p:cNvPr id="5222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417F67C-F35C-46D5-AE73-1D7277C07A94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58159B5-D753-42E2-B786-1B9EE1FB4668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EB35D92-9289-426C-A6E7-DDD14C24FC7F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916DEB6-285A-4837-87EC-DCA2F10B2D60}" type="slidenum">
              <a:rPr lang="en-US" altLang="en-US" sz="1200"/>
              <a:pPr/>
              <a:t>26</a:t>
            </a:fld>
            <a:endParaRPr lang="en-US" altLang="en-US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F38022A-D144-4F13-B226-D7A7EB766BDE}" type="slidenum">
              <a:rPr lang="en-US" altLang="en-US" sz="1200"/>
              <a:pPr/>
              <a:t>27</a:t>
            </a:fld>
            <a:endParaRPr lang="en-US" altLang="en-US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E5A0592-6852-4444-884D-225C5106A05A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363CEFB-520E-40D8-91FB-60D75BEC80C0}" type="slidenum">
              <a:rPr lang="en-US" altLang="en-US" sz="1200"/>
              <a:pPr/>
              <a:t>29</a:t>
            </a:fld>
            <a:endParaRPr lang="en-US" altLang="en-US" sz="12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E44BC47-3DC9-46D3-8366-A0E5DD4383EF}" type="slidenum">
              <a:rPr lang="en-US" altLang="en-US" sz="1200"/>
              <a:pPr/>
              <a:t>30</a:t>
            </a:fld>
            <a:endParaRPr lang="en-US" altLang="en-US" sz="12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4261277-BF69-4F81-BB6D-E52613BF4848}" type="slidenum">
              <a:rPr lang="en-US" altLang="en-US" sz="1200"/>
              <a:pPr/>
              <a:t>31</a:t>
            </a:fld>
            <a:endParaRPr lang="en-US" alt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F90507B-BA81-47D1-A278-C9515E505FEF}" type="slidenum">
              <a:rPr lang="en-US" altLang="en-US" sz="1200"/>
              <a:pPr/>
              <a:t>32</a:t>
            </a:fld>
            <a:endParaRPr lang="en-US" altLang="en-US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24DEA07-32AF-45AA-882F-1B44E2C4EEF1}" type="slidenum">
              <a:rPr lang="en-US" altLang="en-US" sz="1200"/>
              <a:pPr/>
              <a:t>33</a:t>
            </a:fld>
            <a:endParaRPr lang="en-US" altLang="en-US" sz="12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DC8BC23-1AF9-4ADB-B1DA-D8D6E2F66601}" type="slidenum">
              <a:rPr lang="en-US" altLang="en-US" sz="1200"/>
              <a:pPr/>
              <a:t>34</a:t>
            </a:fld>
            <a:endParaRPr lang="en-US" altLang="en-US" sz="12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3AE6DA7-666F-4C9B-80FF-B009DA69AFC1}" type="slidenum">
              <a:rPr lang="en-US" altLang="en-US" sz="1200"/>
              <a:pPr/>
              <a:t>35</a:t>
            </a:fld>
            <a:endParaRPr lang="en-US" alt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16C9E3D-0A11-4FE5-8830-A8519682E521}" type="slidenum">
              <a:rPr lang="en-US" altLang="en-US" sz="1200"/>
              <a:pPr/>
              <a:t>36</a:t>
            </a:fld>
            <a:endParaRPr lang="en-US" altLang="en-US" sz="12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B8CF55E-62A5-4D27-A134-21F9680A6DE5}" type="slidenum">
              <a:rPr lang="en-US" altLang="en-US" sz="1200"/>
              <a:pPr/>
              <a:t>37</a:t>
            </a:fld>
            <a:endParaRPr lang="en-US" altLang="en-US" sz="120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EE8989F-7CEE-41E9-9702-2064B7F1C1B4}" type="slidenum">
              <a:rPr lang="en-US" altLang="en-US" sz="1200"/>
              <a:pPr/>
              <a:t>38</a:t>
            </a:fld>
            <a:endParaRPr lang="en-US" altLang="en-US" sz="120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0063AC-C724-494A-A796-802C356BF73F}" type="slidenum">
              <a:rPr lang="en-US" altLang="en-US" sz="1200"/>
              <a:pPr/>
              <a:t>39</a:t>
            </a:fld>
            <a:endParaRPr lang="en-US" altLang="en-US" sz="120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DF24E8A-39A6-4A4E-97C0-6A8752592A8E}" type="slidenum">
              <a:rPr lang="en-US" altLang="en-US" sz="1200"/>
              <a:pPr/>
              <a:t>40</a:t>
            </a:fld>
            <a:endParaRPr lang="en-US" altLang="en-US" sz="120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211E256-080D-4E72-A9AB-4647DE334CE6}" type="slidenum">
              <a:rPr lang="en-US" altLang="en-US" sz="1200"/>
              <a:pPr/>
              <a:t>41</a:t>
            </a:fld>
            <a:endParaRPr lang="en-US" altLang="en-US" sz="12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4D0E63C-C411-49D3-A5EC-CF86F98738DA}" type="slidenum">
              <a:rPr lang="en-US" altLang="en-US" sz="1200"/>
              <a:pPr/>
              <a:t>42</a:t>
            </a:fld>
            <a:endParaRPr lang="en-US" altLang="en-US" sz="12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8B17E75-CA8D-4E96-B428-BA1987A83025}" type="slidenum">
              <a:rPr lang="en-US" altLang="en-US" sz="1200"/>
              <a:pPr/>
              <a:t>43</a:t>
            </a:fld>
            <a:endParaRPr lang="en-US" altLang="en-US" sz="120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7AF8E1-610D-45E1-840D-87D442B995D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539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06ECDE-A8E1-4EEA-92F1-1A49901A1D6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617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98C706-37C0-4D11-A205-823BDF6E629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3635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A9BDAA-9A2F-4A85-9E27-1B7C453417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1928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3B1275-98DE-4370-B1FB-A9988FE69B7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4054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126D36-F163-40A2-AAEC-74D0BF2A7B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2293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95C670-E8DA-42EE-92E2-9062ED39CB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5490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8181F1-7AEA-4F0E-8F05-FDCC6C609CE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418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85A711-C371-4089-AC28-1D2EC02B59D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4351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901BD5-496D-477E-AD12-6D3A03E7695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0006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AE2404-71F7-46B8-BAF7-8D33553A61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191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pitchFamily="3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pitchFamily="3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CB263E11-93B1-4B41-830B-5A10479CEB9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>
            <a:extLst>
              <a:ext uri="{FF2B5EF4-FFF2-40B4-BE49-F238E27FC236}">
                <a16:creationId xmlns:a16="http://schemas.microsoft.com/office/drawing/2014/main" id="{DEADCE4D-9669-362F-0519-E9D9BA730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tr-TR" sz="800"/>
          </a:p>
        </p:txBody>
      </p:sp>
      <p:sp>
        <p:nvSpPr>
          <p:cNvPr id="6147" name="Text Box 2">
            <a:extLst>
              <a:ext uri="{FF2B5EF4-FFF2-40B4-BE49-F238E27FC236}">
                <a16:creationId xmlns:a16="http://schemas.microsoft.com/office/drawing/2014/main" id="{DB367810-8037-D183-29DC-AC67DC15E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0E6795A9-BEC4-449A-ABAD-8A0DF9085A5F}" type="slidenum">
              <a:rPr lang="en-US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tr-TR" sz="800"/>
          </a:p>
        </p:txBody>
      </p:sp>
      <p:sp>
        <p:nvSpPr>
          <p:cNvPr id="6148" name="Text Box 3">
            <a:extLst>
              <a:ext uri="{FF2B5EF4-FFF2-40B4-BE49-F238E27FC236}">
                <a16:creationId xmlns:a16="http://schemas.microsoft.com/office/drawing/2014/main" id="{951C6AEB-E380-F069-D8B1-CAB2CF7EE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tr-TR" sz="3200" b="1"/>
              <a:t>Abstract Data Types (ADTs)</a:t>
            </a:r>
          </a:p>
        </p:txBody>
      </p:sp>
      <p:sp>
        <p:nvSpPr>
          <p:cNvPr id="6149" name="Text Box 4">
            <a:extLst>
              <a:ext uri="{FF2B5EF4-FFF2-40B4-BE49-F238E27FC236}">
                <a16:creationId xmlns:a16="http://schemas.microsoft.com/office/drawing/2014/main" id="{C123AB28-8FD0-1518-DB6F-8DBBF2A1B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219200"/>
            <a:ext cx="8580438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34963" indent="-334963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 marL="735013" indent="-277813"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en-US" altLang="tr-TR"/>
              <a:t>An abstract data type (ADT) is an abstraction of a data structure</a:t>
            </a:r>
          </a:p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en-US" altLang="tr-TR"/>
              <a:t>An ADT specifies:</a:t>
            </a:r>
          </a:p>
          <a:p>
            <a:pPr lvl="1" eaLnBrk="1" hangingPunct="1">
              <a:spcBef>
                <a:spcPts val="600"/>
              </a:spcBef>
              <a:buFont typeface="Times New Roman" panose="02020603050405020304" pitchFamily="18" charset="0"/>
              <a:buChar char="–"/>
            </a:pPr>
            <a:r>
              <a:rPr lang="en-US" altLang="tr-TR" sz="2400"/>
              <a:t>Data stored</a:t>
            </a:r>
          </a:p>
          <a:p>
            <a:pPr lvl="1" eaLnBrk="1" hangingPunct="1">
              <a:spcBef>
                <a:spcPts val="600"/>
              </a:spcBef>
              <a:buFont typeface="Times New Roman" panose="02020603050405020304" pitchFamily="18" charset="0"/>
              <a:buChar char="–"/>
            </a:pPr>
            <a:r>
              <a:rPr lang="en-US" altLang="tr-TR" sz="2400"/>
              <a:t>Operations on the data</a:t>
            </a:r>
          </a:p>
          <a:p>
            <a:pPr lvl="1" eaLnBrk="1" hangingPunct="1">
              <a:spcBef>
                <a:spcPts val="600"/>
              </a:spcBef>
              <a:buFont typeface="Times New Roman" panose="02020603050405020304" pitchFamily="18" charset="0"/>
              <a:buChar char="–"/>
            </a:pPr>
            <a:r>
              <a:rPr lang="en-US" altLang="tr-TR" sz="2400"/>
              <a:t>Error conditions associated with operations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">
            <a:extLst>
              <a:ext uri="{FF2B5EF4-FFF2-40B4-BE49-F238E27FC236}">
                <a16:creationId xmlns:a16="http://schemas.microsoft.com/office/drawing/2014/main" id="{BDA6A57F-493E-19B5-855E-4A6E11774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tr-TR" sz="800"/>
          </a:p>
        </p:txBody>
      </p:sp>
      <p:sp>
        <p:nvSpPr>
          <p:cNvPr id="8195" name="Text Box 2">
            <a:extLst>
              <a:ext uri="{FF2B5EF4-FFF2-40B4-BE49-F238E27FC236}">
                <a16:creationId xmlns:a16="http://schemas.microsoft.com/office/drawing/2014/main" id="{5B4CAC98-F1E5-94BA-C466-7DDA6298F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18D561EB-C750-4D7B-94E0-A16BA253DD7B}" type="slidenum">
              <a:rPr lang="en-US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tr-TR" sz="800"/>
          </a:p>
        </p:txBody>
      </p:sp>
      <p:sp>
        <p:nvSpPr>
          <p:cNvPr id="8196" name="Text Box 3">
            <a:extLst>
              <a:ext uri="{FF2B5EF4-FFF2-40B4-BE49-F238E27FC236}">
                <a16:creationId xmlns:a16="http://schemas.microsoft.com/office/drawing/2014/main" id="{7B345749-B774-9033-9D1D-9E9D6900C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tr-TR" sz="3200" b="1"/>
              <a:t>The Stack ADT</a:t>
            </a:r>
          </a:p>
        </p:txBody>
      </p:sp>
      <p:pic>
        <p:nvPicPr>
          <p:cNvPr id="8197" name="Picture 7">
            <a:extLst>
              <a:ext uri="{FF2B5EF4-FFF2-40B4-BE49-F238E27FC236}">
                <a16:creationId xmlns:a16="http://schemas.microsoft.com/office/drawing/2014/main" id="{ACBD800F-301E-E963-7DF3-843FE924CD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939800"/>
            <a:ext cx="4292600" cy="576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8" name="Freeform 14">
            <a:extLst>
              <a:ext uri="{FF2B5EF4-FFF2-40B4-BE49-F238E27FC236}">
                <a16:creationId xmlns:a16="http://schemas.microsoft.com/office/drawing/2014/main" id="{81DA887F-A548-02BF-F1B4-69DAA5736966}"/>
              </a:ext>
            </a:extLst>
          </p:cNvPr>
          <p:cNvSpPr>
            <a:spLocks/>
          </p:cNvSpPr>
          <p:nvPr/>
        </p:nvSpPr>
        <p:spPr bwMode="auto">
          <a:xfrm>
            <a:off x="3019425" y="911225"/>
            <a:ext cx="544513" cy="1222375"/>
          </a:xfrm>
          <a:custGeom>
            <a:avLst/>
            <a:gdLst>
              <a:gd name="T0" fmla="*/ 0 w 540"/>
              <a:gd name="T1" fmla="*/ 0 h 1080"/>
              <a:gd name="T2" fmla="*/ 2147483646 w 540"/>
              <a:gd name="T3" fmla="*/ 2147483646 h 1080"/>
              <a:gd name="T4" fmla="*/ 2147483646 w 540"/>
              <a:gd name="T5" fmla="*/ 2147483646 h 10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40" h="1080">
                <a:moveTo>
                  <a:pt x="0" y="0"/>
                </a:moveTo>
                <a:cubicBezTo>
                  <a:pt x="135" y="90"/>
                  <a:pt x="270" y="180"/>
                  <a:pt x="360" y="360"/>
                </a:cubicBezTo>
                <a:cubicBezTo>
                  <a:pt x="450" y="540"/>
                  <a:pt x="510" y="960"/>
                  <a:pt x="540" y="1080"/>
                </a:cubicBezTo>
              </a:path>
            </a:pathLst>
          </a:custGeom>
          <a:noFill/>
          <a:ln w="381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9" name="Freeform 15">
            <a:extLst>
              <a:ext uri="{FF2B5EF4-FFF2-40B4-BE49-F238E27FC236}">
                <a16:creationId xmlns:a16="http://schemas.microsoft.com/office/drawing/2014/main" id="{B696B52F-B677-6F39-3CD9-50FFB0DD4FFB}"/>
              </a:ext>
            </a:extLst>
          </p:cNvPr>
          <p:cNvSpPr>
            <a:spLocks/>
          </p:cNvSpPr>
          <p:nvPr/>
        </p:nvSpPr>
        <p:spPr bwMode="auto">
          <a:xfrm>
            <a:off x="5803900" y="911225"/>
            <a:ext cx="423863" cy="1222375"/>
          </a:xfrm>
          <a:custGeom>
            <a:avLst/>
            <a:gdLst>
              <a:gd name="T0" fmla="*/ 2147483646 w 420"/>
              <a:gd name="T1" fmla="*/ 2147483646 h 1080"/>
              <a:gd name="T2" fmla="*/ 2147483646 w 420"/>
              <a:gd name="T3" fmla="*/ 2147483646 h 1080"/>
              <a:gd name="T4" fmla="*/ 2147483646 w 420"/>
              <a:gd name="T5" fmla="*/ 0 h 10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0" h="1080">
                <a:moveTo>
                  <a:pt x="60" y="1080"/>
                </a:moveTo>
                <a:cubicBezTo>
                  <a:pt x="30" y="810"/>
                  <a:pt x="0" y="540"/>
                  <a:pt x="60" y="360"/>
                </a:cubicBezTo>
                <a:cubicBezTo>
                  <a:pt x="120" y="180"/>
                  <a:pt x="270" y="90"/>
                  <a:pt x="420" y="0"/>
                </a:cubicBezTo>
              </a:path>
            </a:pathLst>
          </a:custGeom>
          <a:noFill/>
          <a:ln w="381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0" name="Text Box 16">
            <a:extLst>
              <a:ext uri="{FF2B5EF4-FFF2-40B4-BE49-F238E27FC236}">
                <a16:creationId xmlns:a16="http://schemas.microsoft.com/office/drawing/2014/main" id="{CD856D70-BFE1-BD18-739B-C6B944496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5050" y="987425"/>
            <a:ext cx="914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eaLnBrk="1" hangingPunct="1">
              <a:spcBef>
                <a:spcPts val="1500"/>
              </a:spcBef>
              <a:buClrTx/>
              <a:buFontTx/>
              <a:buNone/>
            </a:pPr>
            <a:r>
              <a:rPr lang="en-US" altLang="tr-TR" b="1"/>
              <a:t>push</a:t>
            </a:r>
          </a:p>
        </p:txBody>
      </p:sp>
      <p:sp>
        <p:nvSpPr>
          <p:cNvPr id="8201" name="Text Box 17">
            <a:extLst>
              <a:ext uri="{FF2B5EF4-FFF2-40B4-BE49-F238E27FC236}">
                <a16:creationId xmlns:a16="http://schemas.microsoft.com/office/drawing/2014/main" id="{E42D7003-15AE-8FEF-42A3-92B569DFE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9963" y="1095375"/>
            <a:ext cx="9842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eaLnBrk="1" hangingPunct="1">
              <a:spcBef>
                <a:spcPts val="1500"/>
              </a:spcBef>
              <a:buClrTx/>
              <a:buFontTx/>
              <a:buNone/>
            </a:pPr>
            <a:r>
              <a:rPr lang="en-US" altLang="tr-TR" b="1"/>
              <a:t>pop</a:t>
            </a:r>
          </a:p>
        </p:txBody>
      </p:sp>
      <p:sp>
        <p:nvSpPr>
          <p:cNvPr id="8202" name="Text Box 19">
            <a:extLst>
              <a:ext uri="{FF2B5EF4-FFF2-40B4-BE49-F238E27FC236}">
                <a16:creationId xmlns:a16="http://schemas.microsoft.com/office/drawing/2014/main" id="{B537B99F-6275-880E-25AA-5FFF8C687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0813" y="1733550"/>
            <a:ext cx="11239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tr-TR" b="1"/>
              <a:t>top</a:t>
            </a:r>
          </a:p>
        </p:txBody>
      </p:sp>
      <p:sp>
        <p:nvSpPr>
          <p:cNvPr id="8203" name="Line 20">
            <a:extLst>
              <a:ext uri="{FF2B5EF4-FFF2-40B4-BE49-F238E27FC236}">
                <a16:creationId xmlns:a16="http://schemas.microsoft.com/office/drawing/2014/main" id="{50A2BCF9-28CF-3253-9851-0AF7B882E3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34088" y="1989138"/>
            <a:ext cx="508000" cy="15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">
            <a:extLst>
              <a:ext uri="{FF2B5EF4-FFF2-40B4-BE49-F238E27FC236}">
                <a16:creationId xmlns:a16="http://schemas.microsoft.com/office/drawing/2014/main" id="{DBE99F93-6E8A-D42A-3423-5C0589D70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tr-TR" sz="800"/>
          </a:p>
        </p:txBody>
      </p:sp>
      <p:sp>
        <p:nvSpPr>
          <p:cNvPr id="10243" name="Text Box 2">
            <a:extLst>
              <a:ext uri="{FF2B5EF4-FFF2-40B4-BE49-F238E27FC236}">
                <a16:creationId xmlns:a16="http://schemas.microsoft.com/office/drawing/2014/main" id="{2B01A879-9C6E-46F7-E32F-DD4A4A445F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F79DE431-F0C6-4947-9304-C07A81263C4A}" type="slidenum">
              <a:rPr lang="en-US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tr-TR" sz="800"/>
          </a:p>
        </p:txBody>
      </p:sp>
      <p:sp>
        <p:nvSpPr>
          <p:cNvPr id="10244" name="Text Box 3">
            <a:extLst>
              <a:ext uri="{FF2B5EF4-FFF2-40B4-BE49-F238E27FC236}">
                <a16:creationId xmlns:a16="http://schemas.microsoft.com/office/drawing/2014/main" id="{E87E20C7-DA99-A526-BCD1-37DCDC6EB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tr-TR" sz="3200" b="1"/>
              <a:t>The Stack ADT</a:t>
            </a:r>
          </a:p>
        </p:txBody>
      </p:sp>
      <p:sp>
        <p:nvSpPr>
          <p:cNvPr id="10245" name="Text Box 4">
            <a:extLst>
              <a:ext uri="{FF2B5EF4-FFF2-40B4-BE49-F238E27FC236}">
                <a16:creationId xmlns:a16="http://schemas.microsoft.com/office/drawing/2014/main" id="{2D047988-C982-7E8D-9828-7EC5A6B74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371600"/>
            <a:ext cx="6048375" cy="347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 marL="457200"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en-US" altLang="tr-TR"/>
              <a:t> The Stack ADT stores arbitrary objects.</a:t>
            </a:r>
          </a:p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en-US" altLang="tr-TR"/>
              <a:t> Insertions and deletions follow the </a:t>
            </a:r>
            <a:r>
              <a:rPr lang="en-US" altLang="tr-TR" i="1"/>
              <a:t>last-in </a:t>
            </a:r>
          </a:p>
          <a:p>
            <a:pPr eaLnBrk="1" hangingPunct="1">
              <a:buClrTx/>
              <a:buFontTx/>
              <a:buNone/>
            </a:pPr>
            <a:r>
              <a:rPr lang="en-US" altLang="tr-TR" i="1"/>
              <a:t>   first-out</a:t>
            </a:r>
            <a:r>
              <a:rPr lang="en-US" altLang="tr-TR"/>
              <a:t> (LIFO) scheme.</a:t>
            </a:r>
          </a:p>
          <a:p>
            <a:pPr lvl="1" indent="0" eaLnBrk="1" hangingPunct="1">
              <a:spcBef>
                <a:spcPts val="600"/>
              </a:spcBef>
              <a:buFont typeface="Times New Roman" panose="02020603050405020304" pitchFamily="18" charset="0"/>
              <a:buChar char="•"/>
            </a:pPr>
            <a:r>
              <a:rPr lang="en-US" altLang="tr-TR" sz="2400"/>
              <a:t> 	The last item placed on the stack will </a:t>
            </a:r>
          </a:p>
          <a:p>
            <a:pPr lvl="1" indent="0" eaLnBrk="1" hangingPunct="1">
              <a:spcBef>
                <a:spcPts val="600"/>
              </a:spcBef>
              <a:buClrTx/>
              <a:buFontTx/>
              <a:buNone/>
            </a:pPr>
            <a:r>
              <a:rPr lang="en-US" altLang="tr-TR" sz="2400"/>
              <a:t>	be the first item removed.</a:t>
            </a:r>
          </a:p>
          <a:p>
            <a:pPr lvl="1" indent="0" eaLnBrk="1" hangingPunct="1">
              <a:spcBef>
                <a:spcPts val="600"/>
              </a:spcBef>
              <a:buClrTx/>
              <a:buFontTx/>
              <a:buNone/>
            </a:pPr>
            <a:r>
              <a:rPr lang="en-US" altLang="tr-TR" sz="2400"/>
              <a:t>	(similar to a stack of dishes)</a:t>
            </a:r>
          </a:p>
          <a:p>
            <a:pPr eaLnBrk="1" hangingPunct="1">
              <a:buClrTx/>
              <a:buFontTx/>
              <a:buNone/>
            </a:pPr>
            <a:endParaRPr lang="en-US" altLang="tr-TR"/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tr-TR"/>
          </a:p>
        </p:txBody>
      </p:sp>
      <p:pic>
        <p:nvPicPr>
          <p:cNvPr id="10246" name="Picture 5">
            <a:extLst>
              <a:ext uri="{FF2B5EF4-FFF2-40B4-BE49-F238E27FC236}">
                <a16:creationId xmlns:a16="http://schemas.microsoft.com/office/drawing/2014/main" id="{BFC0F30A-E7E8-4E89-DC50-E0768B901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9663" y="1676400"/>
            <a:ext cx="2271712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7" name="Text Box 6">
            <a:extLst>
              <a:ext uri="{FF2B5EF4-FFF2-40B4-BE49-F238E27FC236}">
                <a16:creationId xmlns:a16="http://schemas.microsoft.com/office/drawing/2014/main" id="{C6CC55D8-D0AB-DD69-3CC1-466147C82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0950" y="4724400"/>
            <a:ext cx="1935163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tr-TR"/>
              <a:t>Stack of Dishes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1">
            <a:extLst>
              <a:ext uri="{FF2B5EF4-FFF2-40B4-BE49-F238E27FC236}">
                <a16:creationId xmlns:a16="http://schemas.microsoft.com/office/drawing/2014/main" id="{6D249D03-31F0-306F-F6DC-BC4CF4E77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tr-TR" sz="800"/>
          </a:p>
        </p:txBody>
      </p:sp>
      <p:sp>
        <p:nvSpPr>
          <p:cNvPr id="12291" name="Text Box 2">
            <a:extLst>
              <a:ext uri="{FF2B5EF4-FFF2-40B4-BE49-F238E27FC236}">
                <a16:creationId xmlns:a16="http://schemas.microsoft.com/office/drawing/2014/main" id="{7B5D21CD-D6A2-BEA1-0513-B9DD06AB1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74467700-B236-4F1D-BB89-AC0BD249DF6E}" type="slidenum">
              <a:rPr lang="en-US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tr-TR" sz="800"/>
          </a:p>
        </p:txBody>
      </p:sp>
      <p:sp>
        <p:nvSpPr>
          <p:cNvPr id="12292" name="Text Box 3">
            <a:extLst>
              <a:ext uri="{FF2B5EF4-FFF2-40B4-BE49-F238E27FC236}">
                <a16:creationId xmlns:a16="http://schemas.microsoft.com/office/drawing/2014/main" id="{507CC010-7E57-BAF7-A868-7AFE0EC87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tr-TR" sz="3200" b="1"/>
              <a:t>ADT Stack Operations</a:t>
            </a:r>
          </a:p>
        </p:txBody>
      </p:sp>
      <p:sp>
        <p:nvSpPr>
          <p:cNvPr id="12293" name="Text Box 4">
            <a:extLst>
              <a:ext uri="{FF2B5EF4-FFF2-40B4-BE49-F238E27FC236}">
                <a16:creationId xmlns:a16="http://schemas.microsoft.com/office/drawing/2014/main" id="{317D2DAE-58EC-8E9A-4016-CF69BDF95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219200"/>
            <a:ext cx="3938588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34963" indent="-334963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en-US" altLang="tr-TR"/>
              <a:t>Create an empty stack</a:t>
            </a:r>
          </a:p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en-US" altLang="tr-TR"/>
              <a:t>Destroy a stack</a:t>
            </a:r>
          </a:p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en-US" altLang="tr-TR"/>
              <a:t>Determine whether a stack is empty</a:t>
            </a:r>
          </a:p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en-US" altLang="tr-TR"/>
              <a:t>Add a new item -- </a:t>
            </a:r>
            <a:r>
              <a:rPr lang="en-US" altLang="tr-TR" b="1"/>
              <a:t>push</a:t>
            </a:r>
          </a:p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en-US" altLang="tr-TR"/>
              <a:t>Remove the item that was added most recently  -- </a:t>
            </a:r>
            <a:r>
              <a:rPr lang="en-US" altLang="tr-TR" b="1"/>
              <a:t>pop</a:t>
            </a:r>
          </a:p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en-US" altLang="tr-TR"/>
              <a:t>Retrieve the item that was added most recently</a:t>
            </a:r>
          </a:p>
        </p:txBody>
      </p:sp>
      <p:sp>
        <p:nvSpPr>
          <p:cNvPr id="12294" name="Line 5">
            <a:extLst>
              <a:ext uri="{FF2B5EF4-FFF2-40B4-BE49-F238E27FC236}">
                <a16:creationId xmlns:a16="http://schemas.microsoft.com/office/drawing/2014/main" id="{598A2EB1-0707-C36A-3194-B9FB4CA8382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3975" y="2135188"/>
            <a:ext cx="1588" cy="3465512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5" name="Line 6">
            <a:extLst>
              <a:ext uri="{FF2B5EF4-FFF2-40B4-BE49-F238E27FC236}">
                <a16:creationId xmlns:a16="http://schemas.microsoft.com/office/drawing/2014/main" id="{283CBFB7-7FFF-F65C-0A36-BE0801BC4E6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3975" y="5600700"/>
            <a:ext cx="1998663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6" name="Line 7">
            <a:extLst>
              <a:ext uri="{FF2B5EF4-FFF2-40B4-BE49-F238E27FC236}">
                <a16:creationId xmlns:a16="http://schemas.microsoft.com/office/drawing/2014/main" id="{875C2D64-1014-3BA6-65C1-23DBA3456C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32638" y="2127250"/>
            <a:ext cx="1587" cy="34813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7" name="Line 8">
            <a:extLst>
              <a:ext uri="{FF2B5EF4-FFF2-40B4-BE49-F238E27FC236}">
                <a16:creationId xmlns:a16="http://schemas.microsoft.com/office/drawing/2014/main" id="{A39BCE79-E4B7-77E4-DD61-CA3E50D260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3975" y="4784725"/>
            <a:ext cx="1998663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8" name="Line 9">
            <a:extLst>
              <a:ext uri="{FF2B5EF4-FFF2-40B4-BE49-F238E27FC236}">
                <a16:creationId xmlns:a16="http://schemas.microsoft.com/office/drawing/2014/main" id="{C03DB312-FDEF-8521-8BFC-CC9D8732DBB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3975" y="3970338"/>
            <a:ext cx="1998663" cy="15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9" name="Line 10">
            <a:extLst>
              <a:ext uri="{FF2B5EF4-FFF2-40B4-BE49-F238E27FC236}">
                <a16:creationId xmlns:a16="http://schemas.microsoft.com/office/drawing/2014/main" id="{7DCD46CC-64E9-D500-31C6-A0C6C2CE45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3975" y="3154363"/>
            <a:ext cx="1998663" cy="15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0" name="Line 11">
            <a:extLst>
              <a:ext uri="{FF2B5EF4-FFF2-40B4-BE49-F238E27FC236}">
                <a16:creationId xmlns:a16="http://schemas.microsoft.com/office/drawing/2014/main" id="{0DA65CAA-BF04-BDEE-7477-53172723353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3975" y="5192713"/>
            <a:ext cx="1998663" cy="15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1" name="Line 12">
            <a:extLst>
              <a:ext uri="{FF2B5EF4-FFF2-40B4-BE49-F238E27FC236}">
                <a16:creationId xmlns:a16="http://schemas.microsoft.com/office/drawing/2014/main" id="{0BE12379-4D33-591E-C6B6-22D0ADC8735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3975" y="4378325"/>
            <a:ext cx="1998663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2" name="Line 13">
            <a:extLst>
              <a:ext uri="{FF2B5EF4-FFF2-40B4-BE49-F238E27FC236}">
                <a16:creationId xmlns:a16="http://schemas.microsoft.com/office/drawing/2014/main" id="{DA196453-24A4-2738-4265-FE3AC782602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3975" y="3562350"/>
            <a:ext cx="1998663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03" name="Freeform 14">
            <a:extLst>
              <a:ext uri="{FF2B5EF4-FFF2-40B4-BE49-F238E27FC236}">
                <a16:creationId xmlns:a16="http://schemas.microsoft.com/office/drawing/2014/main" id="{9D8BF64A-CB50-408B-6509-CA4C5FAD1C03}"/>
              </a:ext>
            </a:extLst>
          </p:cNvPr>
          <p:cNvSpPr>
            <a:spLocks/>
          </p:cNvSpPr>
          <p:nvPr/>
        </p:nvSpPr>
        <p:spPr bwMode="auto">
          <a:xfrm>
            <a:off x="5497513" y="1524000"/>
            <a:ext cx="544512" cy="1222375"/>
          </a:xfrm>
          <a:custGeom>
            <a:avLst/>
            <a:gdLst>
              <a:gd name="T0" fmla="*/ 0 w 540"/>
              <a:gd name="T1" fmla="*/ 0 h 1080"/>
              <a:gd name="T2" fmla="*/ 2147483646 w 540"/>
              <a:gd name="T3" fmla="*/ 2147483646 h 1080"/>
              <a:gd name="T4" fmla="*/ 2147483646 w 540"/>
              <a:gd name="T5" fmla="*/ 2147483646 h 10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40" h="1080">
                <a:moveTo>
                  <a:pt x="0" y="0"/>
                </a:moveTo>
                <a:cubicBezTo>
                  <a:pt x="135" y="90"/>
                  <a:pt x="270" y="180"/>
                  <a:pt x="360" y="360"/>
                </a:cubicBezTo>
                <a:cubicBezTo>
                  <a:pt x="450" y="540"/>
                  <a:pt x="510" y="960"/>
                  <a:pt x="540" y="1080"/>
                </a:cubicBezTo>
              </a:path>
            </a:pathLst>
          </a:custGeom>
          <a:noFill/>
          <a:ln w="381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4" name="Freeform 15">
            <a:extLst>
              <a:ext uri="{FF2B5EF4-FFF2-40B4-BE49-F238E27FC236}">
                <a16:creationId xmlns:a16="http://schemas.microsoft.com/office/drawing/2014/main" id="{B1657E3C-0BAF-22CC-266A-26278072CE9A}"/>
              </a:ext>
            </a:extLst>
          </p:cNvPr>
          <p:cNvSpPr>
            <a:spLocks/>
          </p:cNvSpPr>
          <p:nvPr/>
        </p:nvSpPr>
        <p:spPr bwMode="auto">
          <a:xfrm>
            <a:off x="6223000" y="1524000"/>
            <a:ext cx="423863" cy="1222375"/>
          </a:xfrm>
          <a:custGeom>
            <a:avLst/>
            <a:gdLst>
              <a:gd name="T0" fmla="*/ 2147483646 w 420"/>
              <a:gd name="T1" fmla="*/ 2147483646 h 1080"/>
              <a:gd name="T2" fmla="*/ 2147483646 w 420"/>
              <a:gd name="T3" fmla="*/ 2147483646 h 1080"/>
              <a:gd name="T4" fmla="*/ 2147483646 w 420"/>
              <a:gd name="T5" fmla="*/ 0 h 10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20" h="1080">
                <a:moveTo>
                  <a:pt x="60" y="1080"/>
                </a:moveTo>
                <a:cubicBezTo>
                  <a:pt x="30" y="810"/>
                  <a:pt x="0" y="540"/>
                  <a:pt x="60" y="360"/>
                </a:cubicBezTo>
                <a:cubicBezTo>
                  <a:pt x="120" y="180"/>
                  <a:pt x="270" y="90"/>
                  <a:pt x="420" y="0"/>
                </a:cubicBezTo>
              </a:path>
            </a:pathLst>
          </a:custGeom>
          <a:noFill/>
          <a:ln w="3816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5" name="Text Box 16">
            <a:extLst>
              <a:ext uri="{FF2B5EF4-FFF2-40B4-BE49-F238E27FC236}">
                <a16:creationId xmlns:a16="http://schemas.microsoft.com/office/drawing/2014/main" id="{45C33C69-B059-709F-174E-FB5A2CCA0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3138" y="1600200"/>
            <a:ext cx="914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eaLnBrk="1" hangingPunct="1">
              <a:spcBef>
                <a:spcPts val="1500"/>
              </a:spcBef>
              <a:buClrTx/>
              <a:buFontTx/>
              <a:buNone/>
            </a:pPr>
            <a:r>
              <a:rPr lang="en-US" altLang="tr-TR" b="1"/>
              <a:t>push</a:t>
            </a:r>
          </a:p>
        </p:txBody>
      </p:sp>
      <p:sp>
        <p:nvSpPr>
          <p:cNvPr id="12306" name="Text Box 17">
            <a:extLst>
              <a:ext uri="{FF2B5EF4-FFF2-40B4-BE49-F238E27FC236}">
                <a16:creationId xmlns:a16="http://schemas.microsoft.com/office/drawing/2014/main" id="{44933E2D-6D18-0F48-FFD7-02D5BDA53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2088" y="1600200"/>
            <a:ext cx="9842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eaLnBrk="1" hangingPunct="1">
              <a:spcBef>
                <a:spcPts val="1500"/>
              </a:spcBef>
              <a:buClrTx/>
              <a:buFontTx/>
              <a:buNone/>
            </a:pPr>
            <a:r>
              <a:rPr lang="en-US" altLang="tr-TR" b="1"/>
              <a:t>pop</a:t>
            </a:r>
          </a:p>
        </p:txBody>
      </p:sp>
      <p:sp>
        <p:nvSpPr>
          <p:cNvPr id="12307" name="Text Box 18">
            <a:extLst>
              <a:ext uri="{FF2B5EF4-FFF2-40B4-BE49-F238E27FC236}">
                <a16:creationId xmlns:a16="http://schemas.microsoft.com/office/drawing/2014/main" id="{E37752C4-0136-FEE9-F4A8-F7EFBED73E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2988" y="5715000"/>
            <a:ext cx="2743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ts val="2000"/>
              </a:spcBef>
              <a:buClrTx/>
              <a:buFontTx/>
              <a:buNone/>
            </a:pPr>
            <a:r>
              <a:rPr lang="en-US" altLang="tr-TR" sz="3200" b="1"/>
              <a:t>Stack</a:t>
            </a:r>
          </a:p>
        </p:txBody>
      </p:sp>
      <p:sp>
        <p:nvSpPr>
          <p:cNvPr id="12308" name="Text Box 19">
            <a:extLst>
              <a:ext uri="{FF2B5EF4-FFF2-40B4-BE49-F238E27FC236}">
                <a16:creationId xmlns:a16="http://schemas.microsoft.com/office/drawing/2014/main" id="{10FB41A2-FD87-3709-5ABD-4A29F96F8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25" y="3124200"/>
            <a:ext cx="11239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tr-TR" b="1"/>
              <a:t>top</a:t>
            </a:r>
          </a:p>
        </p:txBody>
      </p:sp>
      <p:sp>
        <p:nvSpPr>
          <p:cNvPr id="12309" name="Line 20">
            <a:extLst>
              <a:ext uri="{FF2B5EF4-FFF2-40B4-BE49-F238E27FC236}">
                <a16:creationId xmlns:a16="http://schemas.microsoft.com/office/drawing/2014/main" id="{D05E9CD4-8069-A119-C1E1-2E25D3B1CB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96125" y="3352800"/>
            <a:ext cx="508000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1">
            <a:extLst>
              <a:ext uri="{FF2B5EF4-FFF2-40B4-BE49-F238E27FC236}">
                <a16:creationId xmlns:a16="http://schemas.microsoft.com/office/drawing/2014/main" id="{D67F5375-0CCF-EF1A-54B1-AEADC8A88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tr-TR" sz="800"/>
          </a:p>
        </p:txBody>
      </p:sp>
      <p:sp>
        <p:nvSpPr>
          <p:cNvPr id="14339" name="Text Box 2">
            <a:extLst>
              <a:ext uri="{FF2B5EF4-FFF2-40B4-BE49-F238E27FC236}">
                <a16:creationId xmlns:a16="http://schemas.microsoft.com/office/drawing/2014/main" id="{C50818C6-9D82-21E7-9B86-5FD853AF8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D1F320D-E790-41B8-8A3E-F3167C565262}" type="slidenum">
              <a:rPr lang="en-US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tr-TR" sz="800"/>
          </a:p>
        </p:txBody>
      </p:sp>
      <p:sp>
        <p:nvSpPr>
          <p:cNvPr id="14340" name="Text Box 3">
            <a:extLst>
              <a:ext uri="{FF2B5EF4-FFF2-40B4-BE49-F238E27FC236}">
                <a16:creationId xmlns:a16="http://schemas.microsoft.com/office/drawing/2014/main" id="{3D9BA440-933B-7F08-FACD-5B33B6C16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tr-TR" sz="3200" b="1"/>
              <a:t>ADT Stack Operations(cont.)</a:t>
            </a:r>
          </a:p>
        </p:txBody>
      </p:sp>
      <p:sp>
        <p:nvSpPr>
          <p:cNvPr id="14341" name="Text Box 4">
            <a:extLst>
              <a:ext uri="{FF2B5EF4-FFF2-40B4-BE49-F238E27FC236}">
                <a16:creationId xmlns:a16="http://schemas.microsoft.com/office/drawing/2014/main" id="{7B482164-DB1A-A695-01A4-132EF2A2A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219200"/>
            <a:ext cx="8580438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34963" indent="-334963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 marL="735013" indent="-277813"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en-US" altLang="tr-TR" b="1"/>
              <a:t>Stack</a:t>
            </a:r>
            <a:r>
              <a:rPr lang="en-US" altLang="tr-TR"/>
              <a:t>()</a:t>
            </a:r>
          </a:p>
          <a:p>
            <a:pPr lvl="1" eaLnBrk="1" hangingPunct="1">
              <a:buFont typeface="Times New Roman" panose="02020603050405020304" pitchFamily="18" charset="0"/>
              <a:buChar char="–"/>
            </a:pPr>
            <a:r>
              <a:rPr lang="en-US" altLang="tr-TR"/>
              <a:t>creates a an empty stack</a:t>
            </a:r>
          </a:p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en-US" altLang="tr-TR" b="1"/>
              <a:t>~Stack</a:t>
            </a:r>
            <a:r>
              <a:rPr lang="en-US" altLang="tr-TR"/>
              <a:t>()</a:t>
            </a:r>
          </a:p>
          <a:p>
            <a:pPr lvl="1" eaLnBrk="1" hangingPunct="1">
              <a:buFont typeface="Times New Roman" panose="02020603050405020304" pitchFamily="18" charset="0"/>
              <a:buChar char="–"/>
            </a:pPr>
            <a:r>
              <a:rPr lang="en-US" altLang="tr-TR"/>
              <a:t>destroys a stack</a:t>
            </a:r>
          </a:p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en-US" altLang="tr-TR" b="1"/>
              <a:t>isEmpty</a:t>
            </a:r>
            <a:r>
              <a:rPr lang="en-US" altLang="tr-TR"/>
              <a:t>():boolean</a:t>
            </a:r>
          </a:p>
          <a:p>
            <a:pPr lvl="1" eaLnBrk="1" hangingPunct="1">
              <a:buFont typeface="Times New Roman" panose="02020603050405020304" pitchFamily="18" charset="0"/>
              <a:buChar char="–"/>
            </a:pPr>
            <a:r>
              <a:rPr lang="en-US" altLang="tr-TR"/>
              <a:t>determines whether a stack is empty or not</a:t>
            </a:r>
          </a:p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en-US" altLang="tr-TR" b="1"/>
              <a:t>push</a:t>
            </a:r>
            <a:r>
              <a:rPr lang="en-US" altLang="tr-TR"/>
              <a:t>(in newItem:StackItemType)</a:t>
            </a:r>
          </a:p>
          <a:p>
            <a:pPr lvl="1" eaLnBrk="1" hangingPunct="1">
              <a:buFont typeface="Times New Roman" panose="02020603050405020304" pitchFamily="18" charset="0"/>
              <a:buChar char="–"/>
            </a:pPr>
            <a:r>
              <a:rPr lang="en-US" altLang="tr-TR"/>
              <a:t>Adds newItem to the top of a stack</a:t>
            </a:r>
          </a:p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en-US" altLang="tr-TR" b="1"/>
              <a:t>pop</a:t>
            </a:r>
            <a:r>
              <a:rPr lang="en-US" altLang="tr-TR"/>
              <a:t>() throw StackException</a:t>
            </a:r>
          </a:p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en-US" altLang="tr-TR" b="1"/>
              <a:t>topAndPop</a:t>
            </a:r>
            <a:r>
              <a:rPr lang="en-US" altLang="tr-TR"/>
              <a:t>(out stackTop:StackItemType)</a:t>
            </a:r>
          </a:p>
          <a:p>
            <a:pPr lvl="1" eaLnBrk="1" hangingPunct="1">
              <a:buFont typeface="Times New Roman" panose="02020603050405020304" pitchFamily="18" charset="0"/>
              <a:buChar char="–"/>
            </a:pPr>
            <a:r>
              <a:rPr lang="en-US" altLang="tr-TR"/>
              <a:t>Removes the top of a stack (ie. removes the item that was added most recently</a:t>
            </a:r>
          </a:p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en-US" altLang="tr-TR" b="1"/>
              <a:t>getTop</a:t>
            </a:r>
            <a:r>
              <a:rPr lang="en-US" altLang="tr-TR"/>
              <a:t>(out  stackTop:StackItemType)</a:t>
            </a:r>
          </a:p>
          <a:p>
            <a:pPr lvl="1" eaLnBrk="1" hangingPunct="1">
              <a:buFont typeface="Times New Roman" panose="02020603050405020304" pitchFamily="18" charset="0"/>
              <a:buChar char="–"/>
            </a:pPr>
            <a:r>
              <a:rPr lang="en-US" altLang="tr-TR"/>
              <a:t>Retrieves the top of stack into stackTop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1">
            <a:extLst>
              <a:ext uri="{FF2B5EF4-FFF2-40B4-BE49-F238E27FC236}">
                <a16:creationId xmlns:a16="http://schemas.microsoft.com/office/drawing/2014/main" id="{29BC6B79-E926-EF02-9CAA-E0B3BF266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tr-TR" sz="800"/>
          </a:p>
        </p:txBody>
      </p:sp>
      <p:sp>
        <p:nvSpPr>
          <p:cNvPr id="16387" name="Text Box 2">
            <a:extLst>
              <a:ext uri="{FF2B5EF4-FFF2-40B4-BE49-F238E27FC236}">
                <a16:creationId xmlns:a16="http://schemas.microsoft.com/office/drawing/2014/main" id="{F1BF5028-BDCF-66BA-2EB7-BE07C1EC4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70159A54-3A34-4771-BB95-2AD12B98018D}" type="slidenum">
              <a:rPr lang="en-US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tr-TR" sz="800"/>
          </a:p>
        </p:txBody>
      </p:sp>
      <p:sp>
        <p:nvSpPr>
          <p:cNvPr id="16388" name="Text Box 3">
            <a:extLst>
              <a:ext uri="{FF2B5EF4-FFF2-40B4-BE49-F238E27FC236}">
                <a16:creationId xmlns:a16="http://schemas.microsoft.com/office/drawing/2014/main" id="{9500DBF2-08FA-7F54-2698-45111226F8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tr-TR" sz="3200" b="1"/>
              <a:t>Implementations of the ADT Stack</a:t>
            </a:r>
          </a:p>
        </p:txBody>
      </p:sp>
      <p:sp>
        <p:nvSpPr>
          <p:cNvPr id="16389" name="Text Box 4">
            <a:extLst>
              <a:ext uri="{FF2B5EF4-FFF2-40B4-BE49-F238E27FC236}">
                <a16:creationId xmlns:a16="http://schemas.microsoft.com/office/drawing/2014/main" id="{82768056-82E5-6684-11BB-D1371B5DDE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219200"/>
            <a:ext cx="8580438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34963" indent="-334963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 marL="735013" indent="-277813"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eaLnBrk="1" hangingPunct="1">
              <a:buFont typeface="Times New Roman" panose="02020603050405020304" pitchFamily="18" charset="0"/>
              <a:buChar char="•"/>
            </a:pPr>
            <a:r>
              <a:rPr lang="en-US" altLang="tr-TR" dirty="0"/>
              <a:t>The ADT stack can be implemented using </a:t>
            </a:r>
          </a:p>
          <a:p>
            <a:pPr marL="1085850" indent="-277813" eaLnBrk="1" hangingPunct="1">
              <a:buFont typeface="Times New Roman" panose="02020603050405020304" pitchFamily="18" charset="0"/>
              <a:buChar char="•"/>
              <a:tabLst>
                <a:tab pos="334963" algn="l"/>
                <a:tab pos="792163" algn="l"/>
                <a:tab pos="971550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</a:pPr>
            <a:r>
              <a:rPr lang="en-US" altLang="tr-TR" b="1" dirty="0"/>
              <a:t>Array based:</a:t>
            </a:r>
          </a:p>
          <a:p>
            <a:pPr marL="1085850" lvl="1" eaLnBrk="1" hangingPunct="1">
              <a:spcBef>
                <a:spcPts val="600"/>
              </a:spcBef>
              <a:buFont typeface="Times New Roman" panose="02020603050405020304" pitchFamily="18" charset="0"/>
              <a:buChar char="–"/>
              <a:tabLst>
                <a:tab pos="334963" algn="l"/>
                <a:tab pos="792163" algn="l"/>
                <a:tab pos="971550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</a:pPr>
            <a:r>
              <a:rPr lang="en-US" altLang="tr-TR" sz="2400" dirty="0"/>
              <a:t>Fixed size (cannot grow and shrink dynamically)</a:t>
            </a:r>
          </a:p>
          <a:p>
            <a:pPr marL="1085850" indent="-277813" eaLnBrk="1" hangingPunct="1">
              <a:buFont typeface="Times New Roman" panose="02020603050405020304" pitchFamily="18" charset="0"/>
              <a:buChar char="•"/>
              <a:tabLst>
                <a:tab pos="334963" algn="l"/>
                <a:tab pos="792163" algn="l"/>
                <a:tab pos="971550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</a:pPr>
            <a:r>
              <a:rPr lang="en-US" altLang="tr-TR" b="1" dirty="0"/>
              <a:t>Using a customized linked-list:</a:t>
            </a:r>
          </a:p>
          <a:p>
            <a:pPr marL="1085850" lvl="1" eaLnBrk="1" hangingPunct="1">
              <a:spcBef>
                <a:spcPts val="600"/>
              </a:spcBef>
              <a:buFont typeface="Times New Roman" panose="02020603050405020304" pitchFamily="18" charset="0"/>
              <a:buChar char="–"/>
              <a:tabLst>
                <a:tab pos="334963" algn="l"/>
                <a:tab pos="792163" algn="l"/>
                <a:tab pos="971550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</a:pPr>
            <a:r>
              <a:rPr lang="en-US" altLang="tr-TR" sz="2400" dirty="0"/>
              <a:t>The size can match perfectly to the contained data</a:t>
            </a:r>
          </a:p>
          <a:p>
            <a:pPr marL="1085850" lvl="1" eaLnBrk="1" hangingPunct="1">
              <a:spcBef>
                <a:spcPts val="600"/>
              </a:spcBef>
              <a:buFont typeface="Times New Roman" panose="02020603050405020304" pitchFamily="18" charset="0"/>
              <a:buChar char="–"/>
              <a:tabLst>
                <a:tab pos="334963" algn="l"/>
                <a:tab pos="792163" algn="l"/>
                <a:tab pos="971550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</a:pPr>
            <a:r>
              <a:rPr lang="en-US" altLang="tr-TR" sz="2400" dirty="0"/>
              <a:t>Push and pop can be a bit slower than above</a:t>
            </a:r>
          </a:p>
          <a:p>
            <a:pPr eaLnBrk="1" hangingPunct="1">
              <a:buClrTx/>
              <a:buFontTx/>
              <a:buNone/>
            </a:pPr>
            <a:endParaRPr lang="en-US" altLang="tr-TR" dirty="0"/>
          </a:p>
          <a:p>
            <a:pPr eaLnBrk="1" hangingPunct="1">
              <a:buClrTx/>
              <a:buFontTx/>
              <a:buNone/>
            </a:pPr>
            <a:endParaRPr lang="en-US" altLang="tr-TR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1">
            <a:extLst>
              <a:ext uri="{FF2B5EF4-FFF2-40B4-BE49-F238E27FC236}">
                <a16:creationId xmlns:a16="http://schemas.microsoft.com/office/drawing/2014/main" id="{A594F72F-94E6-6B93-788B-2906901BD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tr-TR" sz="800"/>
          </a:p>
        </p:txBody>
      </p:sp>
      <p:sp>
        <p:nvSpPr>
          <p:cNvPr id="18435" name="Text Box 2">
            <a:extLst>
              <a:ext uri="{FF2B5EF4-FFF2-40B4-BE49-F238E27FC236}">
                <a16:creationId xmlns:a16="http://schemas.microsoft.com/office/drawing/2014/main" id="{CE06E1D0-630D-92FC-1A91-B0B1EDF5D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16A61CF-7536-42AF-9D77-746D6C603101}" type="slidenum">
              <a:rPr lang="en-US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tr-TR" sz="800"/>
          </a:p>
        </p:txBody>
      </p:sp>
      <p:sp>
        <p:nvSpPr>
          <p:cNvPr id="18436" name="Text Box 3">
            <a:extLst>
              <a:ext uri="{FF2B5EF4-FFF2-40B4-BE49-F238E27FC236}">
                <a16:creationId xmlns:a16="http://schemas.microsoft.com/office/drawing/2014/main" id="{5C4E95AE-3B55-51A0-9DA6-55924D142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52400"/>
            <a:ext cx="865028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tr-TR" sz="3200" b="1"/>
              <a:t>Implementations of the ADT Stack (cont.)</a:t>
            </a:r>
          </a:p>
        </p:txBody>
      </p:sp>
      <p:pic>
        <p:nvPicPr>
          <p:cNvPr id="18437" name="Picture 4">
            <a:extLst>
              <a:ext uri="{FF2B5EF4-FFF2-40B4-BE49-F238E27FC236}">
                <a16:creationId xmlns:a16="http://schemas.microsoft.com/office/drawing/2014/main" id="{3228D963-B85F-0EC6-3BEE-38C37B3D5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19200"/>
            <a:ext cx="7456488" cy="479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8" name="Text Box 5">
            <a:extLst>
              <a:ext uri="{FF2B5EF4-FFF2-40B4-BE49-F238E27FC236}">
                <a16:creationId xmlns:a16="http://schemas.microsoft.com/office/drawing/2014/main" id="{88A80971-589A-5A49-5948-6CBAA68F4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752600"/>
            <a:ext cx="3048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eaLnBrk="1" hangingPunct="1">
              <a:spcBef>
                <a:spcPts val="875"/>
              </a:spcBef>
              <a:buClrTx/>
              <a:buFontTx/>
              <a:buNone/>
            </a:pPr>
            <a:r>
              <a:rPr lang="en-US" altLang="tr-TR" sz="14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8439" name="Text Box 6">
            <a:extLst>
              <a:ext uri="{FF2B5EF4-FFF2-40B4-BE49-F238E27FC236}">
                <a16:creationId xmlns:a16="http://schemas.microsoft.com/office/drawing/2014/main" id="{5E0375C0-BEE6-79A5-FD1A-290224CCB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286000"/>
            <a:ext cx="3048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eaLnBrk="1" hangingPunct="1">
              <a:spcBef>
                <a:spcPts val="875"/>
              </a:spcBef>
              <a:buClrTx/>
              <a:buFontTx/>
              <a:buNone/>
            </a:pPr>
            <a:r>
              <a:rPr lang="en-US" altLang="tr-TR" sz="14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8440" name="Text Box 7">
            <a:extLst>
              <a:ext uri="{FF2B5EF4-FFF2-40B4-BE49-F238E27FC236}">
                <a16:creationId xmlns:a16="http://schemas.microsoft.com/office/drawing/2014/main" id="{021F2256-76AB-0CAA-32E4-7D5A29F24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819400"/>
            <a:ext cx="3048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eaLnBrk="1" hangingPunct="1">
              <a:spcBef>
                <a:spcPts val="875"/>
              </a:spcBef>
              <a:buClrTx/>
              <a:buFontTx/>
              <a:buNone/>
            </a:pPr>
            <a:r>
              <a:rPr lang="en-US" altLang="tr-TR" sz="14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8441" name="Text Box 4">
            <a:extLst>
              <a:ext uri="{FF2B5EF4-FFF2-40B4-BE49-F238E27FC236}">
                <a16:creationId xmlns:a16="http://schemas.microsoft.com/office/drawing/2014/main" id="{C72A1AFB-45D0-AFA4-C818-5594E681EE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5025" y="5951538"/>
            <a:ext cx="25606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34963" indent="-334963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 marL="735013" indent="-277813"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tr-TR" sz="1800"/>
              <a:t>(pointer-based)</a:t>
            </a:r>
          </a:p>
        </p:txBody>
      </p:sp>
      <p:sp>
        <p:nvSpPr>
          <p:cNvPr id="18442" name="Text Box 4">
            <a:extLst>
              <a:ext uri="{FF2B5EF4-FFF2-40B4-BE49-F238E27FC236}">
                <a16:creationId xmlns:a16="http://schemas.microsoft.com/office/drawing/2014/main" id="{066E6027-07A1-FE56-1B48-A897E3B2D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050" y="3495675"/>
            <a:ext cx="2560638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34963" indent="-334963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 marL="735013" indent="-277813"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4963" algn="l"/>
                <a:tab pos="792163" algn="l"/>
                <a:tab pos="1249363" algn="l"/>
                <a:tab pos="1706563" algn="l"/>
                <a:tab pos="2163763" algn="l"/>
                <a:tab pos="2620963" algn="l"/>
                <a:tab pos="3078163" algn="l"/>
                <a:tab pos="3535363" algn="l"/>
                <a:tab pos="3992563" algn="l"/>
                <a:tab pos="4449763" algn="l"/>
                <a:tab pos="4906963" algn="l"/>
                <a:tab pos="5364163" algn="l"/>
                <a:tab pos="5821363" algn="l"/>
                <a:tab pos="6278563" algn="l"/>
                <a:tab pos="6735763" algn="l"/>
                <a:tab pos="7192963" algn="l"/>
                <a:tab pos="7650163" algn="l"/>
                <a:tab pos="8107363" algn="l"/>
                <a:tab pos="8564563" algn="l"/>
                <a:tab pos="9021763" algn="l"/>
                <a:tab pos="947896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tr-TR" sz="1800"/>
              <a:t>(reuse existing List.h)</a:t>
            </a:r>
          </a:p>
        </p:txBody>
      </p:sp>
      <p:sp>
        <p:nvSpPr>
          <p:cNvPr id="18443" name="Rectangle 1">
            <a:extLst>
              <a:ext uri="{FF2B5EF4-FFF2-40B4-BE49-F238E27FC236}">
                <a16:creationId xmlns:a16="http://schemas.microsoft.com/office/drawing/2014/main" id="{4B0F9E20-5B14-34DF-22A3-476C50A16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5663" y="1219200"/>
            <a:ext cx="2740025" cy="3289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>
            <a:extLst>
              <a:ext uri="{FF2B5EF4-FFF2-40B4-BE49-F238E27FC236}">
                <a16:creationId xmlns:a16="http://schemas.microsoft.com/office/drawing/2014/main" id="{AFE17661-548F-0544-FB26-9A75FB2BF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6477000"/>
            <a:ext cx="1905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tr-TR" sz="800"/>
          </a:p>
        </p:txBody>
      </p:sp>
      <p:sp>
        <p:nvSpPr>
          <p:cNvPr id="67587" name="Text Box 2">
            <a:extLst>
              <a:ext uri="{FF2B5EF4-FFF2-40B4-BE49-F238E27FC236}">
                <a16:creationId xmlns:a16="http://schemas.microsoft.com/office/drawing/2014/main" id="{9A04D64A-705B-C62C-0AF6-41CBE2170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4213" y="6477000"/>
            <a:ext cx="1905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F1A26BFA-3F16-4EB1-851D-B3E6D0AB23DC}" type="slidenum">
              <a:rPr lang="en-US" altLang="tr-TR" sz="800"/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tr-TR" sz="800"/>
          </a:p>
        </p:txBody>
      </p:sp>
      <p:sp>
        <p:nvSpPr>
          <p:cNvPr id="67588" name="Text Box 3">
            <a:extLst>
              <a:ext uri="{FF2B5EF4-FFF2-40B4-BE49-F238E27FC236}">
                <a16:creationId xmlns:a16="http://schemas.microsoft.com/office/drawing/2014/main" id="{E876342A-5A6C-2DE6-1B63-AABF108EB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76200"/>
            <a:ext cx="865028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tr-TR" sz="3200" b="1"/>
              <a:t>A Simple Stack Application -- </a:t>
            </a:r>
            <a:br>
              <a:rPr lang="en-US" altLang="tr-TR" sz="3200" b="1"/>
            </a:br>
            <a:r>
              <a:rPr lang="en-US" altLang="tr-TR" sz="3200" b="1"/>
              <a:t>Undo sequence in a text editor</a:t>
            </a:r>
          </a:p>
        </p:txBody>
      </p:sp>
      <p:sp>
        <p:nvSpPr>
          <p:cNvPr id="67589" name="Text Box 4">
            <a:extLst>
              <a:ext uri="{FF2B5EF4-FFF2-40B4-BE49-F238E27FC236}">
                <a16:creationId xmlns:a16="http://schemas.microsoft.com/office/drawing/2014/main" id="{BC26CDCF-6012-2FE3-F4A8-A535376C9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219200"/>
            <a:ext cx="8650288" cy="535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34963"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6463" algn="l"/>
                <a:tab pos="1820863" algn="l"/>
                <a:tab pos="2735263" algn="l"/>
                <a:tab pos="3649663" algn="l"/>
                <a:tab pos="4564063" algn="l"/>
                <a:tab pos="5478463" algn="l"/>
                <a:tab pos="6392863" algn="l"/>
                <a:tab pos="7307263" algn="l"/>
                <a:tab pos="8221663" algn="l"/>
                <a:tab pos="9136063" algn="l"/>
                <a:tab pos="10050463" algn="l"/>
                <a:tab pos="10052050" algn="l"/>
                <a:tab pos="10509250" algn="l"/>
                <a:tab pos="10510838" algn="l"/>
                <a:tab pos="10512425" algn="l"/>
                <a:tab pos="1051401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1pPr>
            <a:lvl2pPr>
              <a:spcBef>
                <a:spcPts val="4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6463" algn="l"/>
                <a:tab pos="1820863" algn="l"/>
                <a:tab pos="2735263" algn="l"/>
                <a:tab pos="3649663" algn="l"/>
                <a:tab pos="4564063" algn="l"/>
                <a:tab pos="5478463" algn="l"/>
                <a:tab pos="6392863" algn="l"/>
                <a:tab pos="7307263" algn="l"/>
                <a:tab pos="8221663" algn="l"/>
                <a:tab pos="9136063" algn="l"/>
                <a:tab pos="10050463" algn="l"/>
                <a:tab pos="10052050" algn="l"/>
                <a:tab pos="10509250" algn="l"/>
                <a:tab pos="10510838" algn="l"/>
                <a:tab pos="10512425" algn="l"/>
                <a:tab pos="10514013" algn="l"/>
              </a:tabLst>
              <a:defRPr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2pPr>
            <a:lvl3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6463" algn="l"/>
                <a:tab pos="1820863" algn="l"/>
                <a:tab pos="2735263" algn="l"/>
                <a:tab pos="3649663" algn="l"/>
                <a:tab pos="4564063" algn="l"/>
                <a:tab pos="5478463" algn="l"/>
                <a:tab pos="6392863" algn="l"/>
                <a:tab pos="7307263" algn="l"/>
                <a:tab pos="8221663" algn="l"/>
                <a:tab pos="9136063" algn="l"/>
                <a:tab pos="10050463" algn="l"/>
                <a:tab pos="10052050" algn="l"/>
                <a:tab pos="10509250" algn="l"/>
                <a:tab pos="10510838" algn="l"/>
                <a:tab pos="10512425" algn="l"/>
                <a:tab pos="10514013" algn="l"/>
              </a:tabLst>
              <a:defRPr sz="16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3pPr>
            <a:lvl4pPr>
              <a:spcBef>
                <a:spcPts val="3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6463" algn="l"/>
                <a:tab pos="1820863" algn="l"/>
                <a:tab pos="2735263" algn="l"/>
                <a:tab pos="3649663" algn="l"/>
                <a:tab pos="4564063" algn="l"/>
                <a:tab pos="5478463" algn="l"/>
                <a:tab pos="6392863" algn="l"/>
                <a:tab pos="7307263" algn="l"/>
                <a:tab pos="8221663" algn="l"/>
                <a:tab pos="9136063" algn="l"/>
                <a:tab pos="10050463" algn="l"/>
                <a:tab pos="10052050" algn="l"/>
                <a:tab pos="10509250" algn="l"/>
                <a:tab pos="10510838" algn="l"/>
                <a:tab pos="10512425" algn="l"/>
                <a:tab pos="10514013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6463" algn="l"/>
                <a:tab pos="1820863" algn="l"/>
                <a:tab pos="2735263" algn="l"/>
                <a:tab pos="3649663" algn="l"/>
                <a:tab pos="4564063" algn="l"/>
                <a:tab pos="5478463" algn="l"/>
                <a:tab pos="6392863" algn="l"/>
                <a:tab pos="7307263" algn="l"/>
                <a:tab pos="8221663" algn="l"/>
                <a:tab pos="9136063" algn="l"/>
                <a:tab pos="10050463" algn="l"/>
                <a:tab pos="10052050" algn="l"/>
                <a:tab pos="10509250" algn="l"/>
                <a:tab pos="10510838" algn="l"/>
                <a:tab pos="10512425" algn="l"/>
                <a:tab pos="10514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5pPr>
            <a:lvl6pPr marL="25146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6463" algn="l"/>
                <a:tab pos="1820863" algn="l"/>
                <a:tab pos="2735263" algn="l"/>
                <a:tab pos="3649663" algn="l"/>
                <a:tab pos="4564063" algn="l"/>
                <a:tab pos="5478463" algn="l"/>
                <a:tab pos="6392863" algn="l"/>
                <a:tab pos="7307263" algn="l"/>
                <a:tab pos="8221663" algn="l"/>
                <a:tab pos="9136063" algn="l"/>
                <a:tab pos="10050463" algn="l"/>
                <a:tab pos="10052050" algn="l"/>
                <a:tab pos="10509250" algn="l"/>
                <a:tab pos="10510838" algn="l"/>
                <a:tab pos="10512425" algn="l"/>
                <a:tab pos="10514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6pPr>
            <a:lvl7pPr marL="2971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6463" algn="l"/>
                <a:tab pos="1820863" algn="l"/>
                <a:tab pos="2735263" algn="l"/>
                <a:tab pos="3649663" algn="l"/>
                <a:tab pos="4564063" algn="l"/>
                <a:tab pos="5478463" algn="l"/>
                <a:tab pos="6392863" algn="l"/>
                <a:tab pos="7307263" algn="l"/>
                <a:tab pos="8221663" algn="l"/>
                <a:tab pos="9136063" algn="l"/>
                <a:tab pos="10050463" algn="l"/>
                <a:tab pos="10052050" algn="l"/>
                <a:tab pos="10509250" algn="l"/>
                <a:tab pos="10510838" algn="l"/>
                <a:tab pos="10512425" algn="l"/>
                <a:tab pos="10514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7pPr>
            <a:lvl8pPr marL="3429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6463" algn="l"/>
                <a:tab pos="1820863" algn="l"/>
                <a:tab pos="2735263" algn="l"/>
                <a:tab pos="3649663" algn="l"/>
                <a:tab pos="4564063" algn="l"/>
                <a:tab pos="5478463" algn="l"/>
                <a:tab pos="6392863" algn="l"/>
                <a:tab pos="7307263" algn="l"/>
                <a:tab pos="8221663" algn="l"/>
                <a:tab pos="9136063" algn="l"/>
                <a:tab pos="10050463" algn="l"/>
                <a:tab pos="10052050" algn="l"/>
                <a:tab pos="10509250" algn="l"/>
                <a:tab pos="10510838" algn="l"/>
                <a:tab pos="10512425" algn="l"/>
                <a:tab pos="10514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8pPr>
            <a:lvl9pPr marL="3886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42900" algn="l"/>
                <a:tab pos="906463" algn="l"/>
                <a:tab pos="1820863" algn="l"/>
                <a:tab pos="2735263" algn="l"/>
                <a:tab pos="3649663" algn="l"/>
                <a:tab pos="4564063" algn="l"/>
                <a:tab pos="5478463" algn="l"/>
                <a:tab pos="6392863" algn="l"/>
                <a:tab pos="7307263" algn="l"/>
                <a:tab pos="8221663" algn="l"/>
                <a:tab pos="9136063" algn="l"/>
                <a:tab pos="10050463" algn="l"/>
                <a:tab pos="10052050" algn="l"/>
                <a:tab pos="10509250" algn="l"/>
                <a:tab pos="10510838" algn="l"/>
                <a:tab pos="10512425" algn="l"/>
                <a:tab pos="10514013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roid Sans Fallback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tr-TR" b="1"/>
              <a:t>Problem:</a:t>
            </a:r>
            <a:r>
              <a:rPr lang="en-US" altLang="tr-TR"/>
              <a:t>      abcd</a:t>
            </a:r>
            <a:r>
              <a:rPr lang="en-US" altLang="tr-TR">
                <a:latin typeface="Symbol" panose="05050102010706020507" pitchFamily="18" charset="2"/>
              </a:rPr>
              <a:t></a:t>
            </a:r>
            <a:r>
              <a:rPr lang="en-US" altLang="tr-TR"/>
              <a:t> </a:t>
            </a:r>
            <a:r>
              <a:rPr lang="en-US" altLang="tr-TR">
                <a:latin typeface="Symbol" panose="05050102010706020507" pitchFamily="18" charset="2"/>
              </a:rPr>
              <a:t></a:t>
            </a:r>
            <a:r>
              <a:rPr lang="en-US" altLang="tr-TR"/>
              <a:t>fg </a:t>
            </a:r>
            <a:r>
              <a:rPr lang="en-US" altLang="tr-TR">
                <a:latin typeface="Symbol" panose="05050102010706020507" pitchFamily="18" charset="2"/>
              </a:rPr>
              <a:t></a:t>
            </a:r>
            <a:r>
              <a:rPr lang="en-US" altLang="tr-TR"/>
              <a:t>        </a:t>
            </a:r>
            <a:r>
              <a:rPr lang="en-US" altLang="tr-TR">
                <a:latin typeface="Wingdings" panose="05000000000000000000" pitchFamily="2" charset="2"/>
              </a:rPr>
              <a:t></a:t>
            </a:r>
            <a:r>
              <a:rPr lang="en-US" altLang="tr-TR"/>
              <a:t>	abf</a:t>
            </a:r>
          </a:p>
          <a:p>
            <a:pPr eaLnBrk="1" hangingPunct="1">
              <a:lnSpc>
                <a:spcPct val="90000"/>
              </a:lnSpc>
              <a:spcBef>
                <a:spcPts val="225"/>
              </a:spcBef>
              <a:buClrTx/>
              <a:buFontTx/>
              <a:buNone/>
            </a:pPr>
            <a:endParaRPr lang="en-US" altLang="tr-TR" sz="900"/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tr-TR"/>
              <a:t>// Reads an input line. Enter a character or a backspace character (</a:t>
            </a:r>
            <a:r>
              <a:rPr lang="en-US" altLang="tr-TR">
                <a:latin typeface="Symbol" panose="05050102010706020507" pitchFamily="18" charset="2"/>
              </a:rPr>
              <a:t></a:t>
            </a:r>
            <a:r>
              <a:rPr lang="en-US" altLang="tr-TR"/>
              <a:t>)</a:t>
            </a:r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tr-TR"/>
              <a:t>readAndCorrect(out aStack:Stack) {</a:t>
            </a:r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endParaRPr lang="en-US" altLang="tr-TR"/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endParaRPr lang="en-US" altLang="tr-TR"/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endParaRPr lang="en-US" altLang="tr-TR"/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endParaRPr lang="en-US" altLang="tr-TR"/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tr-TR"/>
              <a:t>?????????????????????????????</a:t>
            </a:r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endParaRPr lang="en-US" altLang="tr-TR"/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endParaRPr lang="en-US" altLang="tr-TR"/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endParaRPr lang="en-US" altLang="tr-TR"/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endParaRPr lang="en-US" altLang="tr-TR"/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tr-TR"/>
              <a:t>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Prefix, Postfix, Infix Notation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941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Infix  Notation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To add A, B, we write</a:t>
            </a:r>
          </a:p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			A+B</a:t>
            </a:r>
          </a:p>
          <a:p>
            <a:pPr eaLnBrk="1" hangingPunct="1"/>
            <a:r>
              <a:rPr lang="en-US" altLang="en-US"/>
              <a:t>To multiply A, B, we write</a:t>
            </a:r>
          </a:p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			A*B</a:t>
            </a:r>
          </a:p>
          <a:p>
            <a:pPr eaLnBrk="1" hangingPunct="1"/>
            <a:r>
              <a:rPr lang="en-US" altLang="en-US"/>
              <a:t>The operators ('+' and '*') go in between the operands ('A' and 'B')</a:t>
            </a:r>
          </a:p>
          <a:p>
            <a:pPr eaLnBrk="1" hangingPunct="1"/>
            <a:r>
              <a:rPr lang="en-US" altLang="en-US"/>
              <a:t>This is </a:t>
            </a:r>
            <a:r>
              <a:rPr lang="en-US" altLang="en-US" i="1"/>
              <a:t>"Infix"</a:t>
            </a:r>
            <a:r>
              <a:rPr lang="en-US" altLang="en-US"/>
              <a:t> notation.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Prefix Notation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Instead of saying "A plus B", we could say "add A,B " and write</a:t>
            </a:r>
          </a:p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			+ A B</a:t>
            </a:r>
          </a:p>
          <a:p>
            <a:pPr eaLnBrk="1" hangingPunct="1"/>
            <a:r>
              <a:rPr lang="en-US" altLang="en-US"/>
              <a:t>"Multiply A,B" would be written</a:t>
            </a:r>
          </a:p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			* A B</a:t>
            </a:r>
          </a:p>
          <a:p>
            <a:pPr eaLnBrk="1" hangingPunct="1"/>
            <a:r>
              <a:rPr lang="en-US" altLang="en-US"/>
              <a:t>This is </a:t>
            </a:r>
            <a:r>
              <a:rPr lang="en-US" altLang="en-US" i="1"/>
              <a:t>Prefix</a:t>
            </a:r>
            <a:r>
              <a:rPr lang="en-US" altLang="en-US"/>
              <a:t> notation.</a:t>
            </a:r>
          </a:p>
          <a:p>
            <a:pPr eaLnBrk="1" hangingPunct="1">
              <a:buFont typeface="Monotype Sorts" pitchFamily="32" charset="2"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Postfix Notation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Another alternative is to put the operators after the operands as in</a:t>
            </a:r>
          </a:p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			A B +</a:t>
            </a:r>
          </a:p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and</a:t>
            </a:r>
          </a:p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			A B *</a:t>
            </a:r>
          </a:p>
          <a:p>
            <a:pPr eaLnBrk="1" hangingPunct="1"/>
            <a:r>
              <a:rPr lang="en-US" altLang="en-US"/>
              <a:t>This is </a:t>
            </a:r>
            <a:r>
              <a:rPr lang="en-US" altLang="en-US" i="1"/>
              <a:t>Postfix</a:t>
            </a:r>
            <a:r>
              <a:rPr lang="en-US" altLang="en-US"/>
              <a:t> notation.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terms infix, prefix, and postfix tell us whether the operators go between, before, or after the operands.</a:t>
            </a:r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1984375" y="3886200"/>
            <a:ext cx="5257800" cy="2297113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4800">
              <a:solidFill>
                <a:schemeClr val="accent2"/>
              </a:solidFill>
            </a:endParaRPr>
          </a:p>
          <a:p>
            <a:pPr algn="ctr"/>
            <a:r>
              <a:rPr lang="en-US" altLang="en-US" sz="4800">
                <a:solidFill>
                  <a:schemeClr val="accent2"/>
                </a:solidFill>
              </a:rPr>
              <a:t>Pre</a:t>
            </a:r>
            <a:r>
              <a:rPr lang="en-US" altLang="en-US" sz="4800"/>
              <a:t> </a:t>
            </a:r>
            <a:r>
              <a:rPr lang="en-US" altLang="en-US" sz="4800">
                <a:solidFill>
                  <a:schemeClr val="bg2"/>
                </a:solidFill>
              </a:rPr>
              <a:t>A</a:t>
            </a:r>
            <a:r>
              <a:rPr lang="en-US" altLang="en-US" sz="4800"/>
              <a:t> </a:t>
            </a:r>
            <a:r>
              <a:rPr lang="en-US" altLang="en-US" sz="4800">
                <a:solidFill>
                  <a:schemeClr val="accent2"/>
                </a:solidFill>
              </a:rPr>
              <a:t>In</a:t>
            </a:r>
            <a:r>
              <a:rPr lang="en-US" altLang="en-US" sz="4800"/>
              <a:t> </a:t>
            </a:r>
            <a:r>
              <a:rPr lang="en-US" altLang="en-US" sz="4800">
                <a:solidFill>
                  <a:schemeClr val="bg2"/>
                </a:solidFill>
              </a:rPr>
              <a:t>B</a:t>
            </a:r>
            <a:r>
              <a:rPr lang="en-US" altLang="en-US" sz="4800"/>
              <a:t> </a:t>
            </a:r>
            <a:r>
              <a:rPr lang="en-US" altLang="en-US" sz="4800">
                <a:solidFill>
                  <a:schemeClr val="accent2"/>
                </a:solidFill>
              </a:rPr>
              <a:t>Post</a:t>
            </a:r>
          </a:p>
          <a:p>
            <a:pPr algn="ctr"/>
            <a:endParaRPr lang="en-US" altLang="en-US" sz="4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  <p:bldP spid="717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Parentheses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Evaluate 2+3*5.</a:t>
            </a:r>
          </a:p>
          <a:p>
            <a:pPr eaLnBrk="1" hangingPunct="1"/>
            <a:r>
              <a:rPr lang="en-US" altLang="en-US"/>
              <a:t>+ First: </a:t>
            </a:r>
          </a:p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		(2+3)*5 = 5*5 = 25</a:t>
            </a:r>
          </a:p>
          <a:p>
            <a:pPr eaLnBrk="1" hangingPunct="1"/>
            <a:r>
              <a:rPr lang="en-US" altLang="en-US"/>
              <a:t>* First: </a:t>
            </a:r>
          </a:p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		2+(3*5) = 2+15 = 17</a:t>
            </a:r>
          </a:p>
          <a:p>
            <a:pPr eaLnBrk="1" hangingPunct="1"/>
            <a:r>
              <a:rPr lang="en-US" altLang="en-US"/>
              <a:t>Infix notation requires Parentheses.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 about Prefix Notation?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 + 2 * 3 5 =</a:t>
            </a:r>
          </a:p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		   = + 2 </a:t>
            </a:r>
            <a:r>
              <a:rPr lang="en-US" altLang="en-US" u="sng"/>
              <a:t>* 3 5</a:t>
            </a:r>
            <a:r>
              <a:rPr lang="en-US" altLang="en-US"/>
              <a:t> </a:t>
            </a:r>
          </a:p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		   = </a:t>
            </a:r>
            <a:r>
              <a:rPr lang="en-US" altLang="en-US" u="sng"/>
              <a:t>+ 2 15</a:t>
            </a:r>
            <a:r>
              <a:rPr lang="en-US" altLang="en-US"/>
              <a:t> = 17</a:t>
            </a:r>
          </a:p>
          <a:p>
            <a:pPr eaLnBrk="1" hangingPunct="1"/>
            <a:r>
              <a:rPr lang="en-US" altLang="en-US"/>
              <a:t> * + 2 3 5 =</a:t>
            </a:r>
          </a:p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		   = * </a:t>
            </a:r>
            <a:r>
              <a:rPr lang="en-US" altLang="en-US" u="sng"/>
              <a:t>+ 2 3</a:t>
            </a:r>
            <a:r>
              <a:rPr lang="en-US" altLang="en-US"/>
              <a:t> 5</a:t>
            </a:r>
          </a:p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		   = </a:t>
            </a:r>
            <a:r>
              <a:rPr lang="en-US" altLang="en-US" u="sng"/>
              <a:t>* 5 5</a:t>
            </a:r>
            <a:r>
              <a:rPr lang="en-US" altLang="en-US"/>
              <a:t>  = 25</a:t>
            </a:r>
          </a:p>
          <a:p>
            <a:pPr eaLnBrk="1" hangingPunct="1"/>
            <a:r>
              <a:rPr lang="en-US" altLang="en-US"/>
              <a:t>No parentheses needed!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Postfix Notation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 2 3 5 * + =</a:t>
            </a:r>
          </a:p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		   = 2 </a:t>
            </a:r>
            <a:r>
              <a:rPr lang="en-US" altLang="en-US" u="sng"/>
              <a:t>3 5 *</a:t>
            </a:r>
            <a:r>
              <a:rPr lang="en-US" altLang="en-US"/>
              <a:t> + </a:t>
            </a:r>
          </a:p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		   = </a:t>
            </a:r>
            <a:r>
              <a:rPr lang="en-US" altLang="en-US" u="sng"/>
              <a:t>2 15 +</a:t>
            </a:r>
            <a:r>
              <a:rPr lang="en-US" altLang="en-US"/>
              <a:t> = 17</a:t>
            </a:r>
          </a:p>
          <a:p>
            <a:pPr eaLnBrk="1" hangingPunct="1"/>
            <a:r>
              <a:rPr lang="en-US" altLang="en-US"/>
              <a:t> 2 3 + 5 * =</a:t>
            </a:r>
          </a:p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		   = </a:t>
            </a:r>
            <a:r>
              <a:rPr lang="en-US" altLang="en-US" u="sng"/>
              <a:t>2 3 +</a:t>
            </a:r>
            <a:r>
              <a:rPr lang="en-US" altLang="en-US"/>
              <a:t> 5 *</a:t>
            </a:r>
          </a:p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		   = </a:t>
            </a:r>
            <a:r>
              <a:rPr lang="en-US" altLang="en-US" u="sng"/>
              <a:t>5 5 *</a:t>
            </a:r>
            <a:r>
              <a:rPr lang="en-US" altLang="en-US"/>
              <a:t> = 25</a:t>
            </a:r>
          </a:p>
          <a:p>
            <a:pPr eaLnBrk="1" hangingPunct="1"/>
            <a:r>
              <a:rPr lang="en-US" altLang="en-US"/>
              <a:t>No parentheses needed here either!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Infix to Prefix Conversion 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Move each operator to the left of its operands &amp; remove the parentheses:</a:t>
            </a:r>
          </a:p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		( ( A + B) * ( C + D ) )</a:t>
            </a:r>
            <a:endParaRPr lang="en-US" altLang="en-US" u="sng"/>
          </a:p>
          <a:p>
            <a:pPr algn="ctr" eaLnBrk="1" hangingPunct="1">
              <a:buFont typeface="Monotype Sorts" pitchFamily="32" charset="2"/>
              <a:buNone/>
            </a:pPr>
            <a:endParaRPr lang="en-US" altLang="en-US"/>
          </a:p>
        </p:txBody>
      </p:sp>
      <p:sp>
        <p:nvSpPr>
          <p:cNvPr id="10244" name="Text Box 18"/>
          <p:cNvSpPr txBox="1">
            <a:spLocks noChangeArrowheads="1"/>
          </p:cNvSpPr>
          <p:nvPr/>
        </p:nvSpPr>
        <p:spPr bwMode="auto">
          <a:xfrm>
            <a:off x="3505200" y="3657600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 </a:t>
            </a:r>
          </a:p>
        </p:txBody>
      </p:sp>
      <p:sp>
        <p:nvSpPr>
          <p:cNvPr id="10245" name="Text Box 19"/>
          <p:cNvSpPr txBox="1">
            <a:spLocks noChangeArrowheads="1"/>
          </p:cNvSpPr>
          <p:nvPr/>
        </p:nvSpPr>
        <p:spPr bwMode="auto">
          <a:xfrm>
            <a:off x="2667000" y="38100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cxnSp>
        <p:nvCxnSpPr>
          <p:cNvPr id="12308" name="AutoShape 20"/>
          <p:cNvCxnSpPr>
            <a:cxnSpLocks noChangeShapeType="1"/>
          </p:cNvCxnSpPr>
          <p:nvPr/>
        </p:nvCxnSpPr>
        <p:spPr bwMode="auto">
          <a:xfrm rot="16200000" flipV="1">
            <a:off x="2844007" y="2691606"/>
            <a:ext cx="76200" cy="788987"/>
          </a:xfrm>
          <a:prstGeom prst="curvedConnector4">
            <a:avLst>
              <a:gd name="adj1" fmla="val -1010421"/>
              <a:gd name="adj2" fmla="val 111264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Infix to Prefix Conversion 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Move each operator to the left of its operands &amp; remove the parentheses:</a:t>
            </a:r>
          </a:p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		( + A  B  * ( C + D ) )</a:t>
            </a:r>
            <a:endParaRPr lang="en-US" altLang="en-US" u="sng"/>
          </a:p>
          <a:p>
            <a:pPr algn="ctr" eaLnBrk="1" hangingPunct="1">
              <a:buFont typeface="Monotype Sorts" pitchFamily="32" charset="2"/>
              <a:buNone/>
            </a:pPr>
            <a:endParaRPr lang="en-US" altLang="en-US"/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4343400" y="36576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 </a:t>
            </a:r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2635250" y="38862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 </a:t>
            </a:r>
          </a:p>
        </p:txBody>
      </p:sp>
      <p:cxnSp>
        <p:nvCxnSpPr>
          <p:cNvPr id="26630" name="AutoShape 6"/>
          <p:cNvCxnSpPr>
            <a:cxnSpLocks noChangeShapeType="1"/>
          </p:cNvCxnSpPr>
          <p:nvPr/>
        </p:nvCxnSpPr>
        <p:spPr bwMode="auto">
          <a:xfrm rot="5400000">
            <a:off x="3017044" y="2240756"/>
            <a:ext cx="1588" cy="1616075"/>
          </a:xfrm>
          <a:prstGeom prst="curvedConnector4">
            <a:avLst>
              <a:gd name="adj1" fmla="val 66799995"/>
              <a:gd name="adj2" fmla="val 104417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Infix to Prefix Conversion 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Move each operator to the left of its operands &amp; remove the parentheses:</a:t>
            </a:r>
          </a:p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	       * + A  B  ( C + D ) </a:t>
            </a:r>
            <a:endParaRPr lang="en-US" altLang="en-US" u="sng"/>
          </a:p>
          <a:p>
            <a:pPr algn="ctr" eaLnBrk="1" hangingPunct="1">
              <a:buFont typeface="Monotype Sorts" pitchFamily="32" charset="2"/>
              <a:buNone/>
            </a:pPr>
            <a:endParaRPr lang="en-US" altLang="en-US"/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4997450" y="36576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 </a:t>
            </a: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4235450" y="38862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 </a:t>
            </a:r>
          </a:p>
        </p:txBody>
      </p:sp>
      <p:cxnSp>
        <p:nvCxnSpPr>
          <p:cNvPr id="28678" name="AutoShape 6"/>
          <p:cNvCxnSpPr>
            <a:cxnSpLocks noChangeShapeType="1"/>
          </p:cNvCxnSpPr>
          <p:nvPr/>
        </p:nvCxnSpPr>
        <p:spPr bwMode="auto">
          <a:xfrm rot="5400000">
            <a:off x="3839369" y="2790031"/>
            <a:ext cx="1588" cy="669925"/>
          </a:xfrm>
          <a:prstGeom prst="curvedConnector4">
            <a:avLst>
              <a:gd name="adj1" fmla="val 52599995"/>
              <a:gd name="adj2" fmla="val 118954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Infix to Prefix Conversion 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Move each operator to the left of its operands &amp; remove the parentheses:</a:t>
            </a:r>
          </a:p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	       * + A  B  + C   D</a:t>
            </a:r>
          </a:p>
          <a:p>
            <a:pPr eaLnBrk="1" hangingPunct="1">
              <a:buFont typeface="Monotype Sorts" pitchFamily="32" charset="2"/>
              <a:buNone/>
            </a:pPr>
            <a:endParaRPr lang="en-US" altLang="en-US"/>
          </a:p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Order of operands does not change!</a:t>
            </a:r>
            <a:endParaRPr lang="en-US" altLang="en-US" u="sng"/>
          </a:p>
          <a:p>
            <a:pPr algn="ctr" eaLnBrk="1" hangingPunct="1">
              <a:buFont typeface="Monotype Sorts" pitchFamily="32" charset="2"/>
              <a:buNone/>
            </a:pPr>
            <a:endParaRPr lang="en-US" altLang="en-US"/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4997450" y="36576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 </a:t>
            </a:r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4235450" y="38862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 </a:t>
            </a:r>
          </a:p>
        </p:txBody>
      </p:sp>
    </p:spTree>
  </p:cSld>
  <p:clrMapOvr>
    <a:masterClrMapping/>
  </p:clrMapOvr>
  <p:transition>
    <p:dissolv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Infix to Postfix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( ( ( A + B ) * C ) - ( ( D + E ) / F ) )</a:t>
            </a:r>
          </a:p>
          <a:p>
            <a:pPr eaLnBrk="1" hangingPunct="1">
              <a:buFont typeface="Monotype Sorts" pitchFamily="32" charset="2"/>
              <a:buNone/>
            </a:pPr>
            <a:endParaRPr lang="en-US" altLang="en-US"/>
          </a:p>
          <a:p>
            <a:pPr eaLnBrk="1" hangingPunct="1">
              <a:buFont typeface="Monotype Sorts" pitchFamily="32" charset="2"/>
              <a:buNone/>
            </a:pPr>
            <a:endParaRPr lang="en-US" altLang="en-US"/>
          </a:p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          A  B + C *  D  E + F / -</a:t>
            </a:r>
          </a:p>
          <a:p>
            <a:pPr eaLnBrk="1" hangingPunct="1"/>
            <a:r>
              <a:rPr lang="en-US" altLang="en-US"/>
              <a:t>Operand order does not change!</a:t>
            </a:r>
          </a:p>
          <a:p>
            <a:pPr eaLnBrk="1" hangingPunct="1"/>
            <a:r>
              <a:rPr lang="en-US" altLang="en-US"/>
              <a:t>Operators are in order of evaluation!</a:t>
            </a: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2286000" y="2667000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 </a:t>
            </a:r>
          </a:p>
        </p:txBody>
      </p:sp>
      <p:sp>
        <p:nvSpPr>
          <p:cNvPr id="14341" name="Text Box 6"/>
          <p:cNvSpPr txBox="1">
            <a:spLocks noChangeArrowheads="1"/>
          </p:cNvSpPr>
          <p:nvPr/>
        </p:nvSpPr>
        <p:spPr bwMode="auto">
          <a:xfrm>
            <a:off x="3276600" y="2667000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 </a:t>
            </a:r>
          </a:p>
        </p:txBody>
      </p:sp>
      <p:sp>
        <p:nvSpPr>
          <p:cNvPr id="14342" name="Text Box 7"/>
          <p:cNvSpPr txBox="1">
            <a:spLocks noChangeArrowheads="1"/>
          </p:cNvSpPr>
          <p:nvPr/>
        </p:nvSpPr>
        <p:spPr bwMode="auto">
          <a:xfrm>
            <a:off x="3962400" y="2667000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 </a:t>
            </a:r>
          </a:p>
        </p:txBody>
      </p:sp>
      <p:sp>
        <p:nvSpPr>
          <p:cNvPr id="14343" name="Text Box 8"/>
          <p:cNvSpPr txBox="1">
            <a:spLocks noChangeArrowheads="1"/>
          </p:cNvSpPr>
          <p:nvPr/>
        </p:nvSpPr>
        <p:spPr bwMode="auto">
          <a:xfrm>
            <a:off x="4267200" y="2667000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 </a:t>
            </a:r>
          </a:p>
        </p:txBody>
      </p:sp>
      <p:sp>
        <p:nvSpPr>
          <p:cNvPr id="14344" name="Text Box 9"/>
          <p:cNvSpPr txBox="1">
            <a:spLocks noChangeArrowheads="1"/>
          </p:cNvSpPr>
          <p:nvPr/>
        </p:nvSpPr>
        <p:spPr bwMode="auto">
          <a:xfrm>
            <a:off x="5486400" y="26670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  </a:t>
            </a:r>
          </a:p>
        </p:txBody>
      </p:sp>
      <p:sp>
        <p:nvSpPr>
          <p:cNvPr id="14345" name="Text Box 10"/>
          <p:cNvSpPr txBox="1">
            <a:spLocks noChangeArrowheads="1"/>
          </p:cNvSpPr>
          <p:nvPr/>
        </p:nvSpPr>
        <p:spPr bwMode="auto">
          <a:xfrm>
            <a:off x="6172200" y="2667000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 </a:t>
            </a:r>
          </a:p>
        </p:txBody>
      </p:sp>
      <p:sp>
        <p:nvSpPr>
          <p:cNvPr id="14346" name="Text Box 11"/>
          <p:cNvSpPr txBox="1">
            <a:spLocks noChangeArrowheads="1"/>
          </p:cNvSpPr>
          <p:nvPr/>
        </p:nvSpPr>
        <p:spPr bwMode="auto">
          <a:xfrm>
            <a:off x="7162800" y="2667000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 </a:t>
            </a:r>
          </a:p>
        </p:txBody>
      </p:sp>
      <p:sp>
        <p:nvSpPr>
          <p:cNvPr id="14347" name="Text Box 12"/>
          <p:cNvSpPr txBox="1">
            <a:spLocks noChangeArrowheads="1"/>
          </p:cNvSpPr>
          <p:nvPr/>
        </p:nvSpPr>
        <p:spPr bwMode="auto">
          <a:xfrm>
            <a:off x="7391400" y="2667000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 </a:t>
            </a:r>
          </a:p>
        </p:txBody>
      </p:sp>
      <p:cxnSp>
        <p:nvCxnSpPr>
          <p:cNvPr id="36877" name="AutoShape 13"/>
          <p:cNvCxnSpPr>
            <a:cxnSpLocks noChangeShapeType="1"/>
          </p:cNvCxnSpPr>
          <p:nvPr/>
        </p:nvCxnSpPr>
        <p:spPr bwMode="auto">
          <a:xfrm rot="16200000" flipH="1">
            <a:off x="2263775" y="1698625"/>
            <a:ext cx="1588" cy="719138"/>
          </a:xfrm>
          <a:prstGeom prst="curvedConnector3">
            <a:avLst>
              <a:gd name="adj1" fmla="val 14400000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8" name="AutoShape 14"/>
          <p:cNvCxnSpPr>
            <a:cxnSpLocks noChangeShapeType="1"/>
          </p:cNvCxnSpPr>
          <p:nvPr/>
        </p:nvCxnSpPr>
        <p:spPr bwMode="auto">
          <a:xfrm rot="16200000" flipH="1">
            <a:off x="3085306" y="1715294"/>
            <a:ext cx="1588" cy="685800"/>
          </a:xfrm>
          <a:prstGeom prst="curvedConnector3">
            <a:avLst>
              <a:gd name="adj1" fmla="val 14400000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9" name="AutoShape 15"/>
          <p:cNvCxnSpPr>
            <a:cxnSpLocks noChangeShapeType="1"/>
          </p:cNvCxnSpPr>
          <p:nvPr/>
        </p:nvCxnSpPr>
        <p:spPr bwMode="auto">
          <a:xfrm rot="16200000" flipH="1">
            <a:off x="4892675" y="1736725"/>
            <a:ext cx="1588" cy="642938"/>
          </a:xfrm>
          <a:prstGeom prst="curvedConnector3">
            <a:avLst>
              <a:gd name="adj1" fmla="val 14400000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80" name="Text Box 16"/>
          <p:cNvSpPr txBox="1">
            <a:spLocks noChangeArrowheads="1"/>
          </p:cNvSpPr>
          <p:nvPr/>
        </p:nvSpPr>
        <p:spPr bwMode="auto">
          <a:xfrm>
            <a:off x="6437313" y="2667000"/>
            <a:ext cx="26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/>
              <a:t> </a:t>
            </a:r>
          </a:p>
        </p:txBody>
      </p:sp>
      <p:cxnSp>
        <p:nvCxnSpPr>
          <p:cNvPr id="36881" name="AutoShape 17"/>
          <p:cNvCxnSpPr>
            <a:cxnSpLocks noChangeShapeType="1"/>
          </p:cNvCxnSpPr>
          <p:nvPr/>
        </p:nvCxnSpPr>
        <p:spPr bwMode="auto">
          <a:xfrm rot="16200000" flipH="1">
            <a:off x="5656263" y="1695450"/>
            <a:ext cx="1588" cy="725487"/>
          </a:xfrm>
          <a:prstGeom prst="curvedConnector3">
            <a:avLst>
              <a:gd name="adj1" fmla="val 14400000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82" name="AutoShape 18"/>
          <p:cNvCxnSpPr>
            <a:cxnSpLocks noChangeShapeType="1"/>
          </p:cNvCxnSpPr>
          <p:nvPr/>
        </p:nvCxnSpPr>
        <p:spPr bwMode="auto">
          <a:xfrm rot="16200000" flipH="1">
            <a:off x="5066506" y="496094"/>
            <a:ext cx="1588" cy="3124200"/>
          </a:xfrm>
          <a:prstGeom prst="curvedConnector3">
            <a:avLst>
              <a:gd name="adj1" fmla="val 38399995"/>
            </a:avLst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6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  <p:bldP spid="3688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Stacks: Infix to Postfix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( ( ( A + B ) * ( C - E ) ) / ( F + G ) )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stack: &lt;empty&gt;</a:t>
            </a:r>
          </a:p>
          <a:p>
            <a:pPr eaLnBrk="1" hangingPunct="1"/>
            <a:r>
              <a:rPr lang="en-US" altLang="en-US"/>
              <a:t>output: []</a:t>
            </a:r>
          </a:p>
        </p:txBody>
      </p:sp>
      <p:sp>
        <p:nvSpPr>
          <p:cNvPr id="38916" name="AutoShape 4"/>
          <p:cNvSpPr>
            <a:spLocks noChangeArrowheads="1"/>
          </p:cNvSpPr>
          <p:nvPr/>
        </p:nvSpPr>
        <p:spPr bwMode="auto">
          <a:xfrm>
            <a:off x="800100" y="2133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/>
      <p:bldP spid="389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Stacks: Infix to Postfix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( ( A + B ) * ( C - E ) ) / ( F + G ) )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stack: (</a:t>
            </a:r>
          </a:p>
          <a:p>
            <a:pPr eaLnBrk="1" hangingPunct="1"/>
            <a:r>
              <a:rPr lang="en-US" altLang="en-US"/>
              <a:t>output: []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800100" y="2133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Stacks: Infix to Postfix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( A + B ) * ( C - E ) ) / ( F + G ) )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stack: ( (</a:t>
            </a:r>
          </a:p>
          <a:p>
            <a:pPr eaLnBrk="1" hangingPunct="1"/>
            <a:r>
              <a:rPr lang="en-US" altLang="en-US"/>
              <a:t>output: []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800100" y="2133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Stacks: Infix to Postfix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A + B ) * ( C - E ) ) / ( F + G ) )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stack: ( ( (</a:t>
            </a:r>
          </a:p>
          <a:p>
            <a:pPr eaLnBrk="1" hangingPunct="1"/>
            <a:r>
              <a:rPr lang="en-US" altLang="en-US"/>
              <a:t>output: []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800100" y="2133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Stacks: Infix to Postfix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+ B ) * ( C - E ) ) / ( F + G ) )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stack: ( ( (</a:t>
            </a:r>
          </a:p>
          <a:p>
            <a:pPr eaLnBrk="1" hangingPunct="1"/>
            <a:r>
              <a:rPr lang="en-US" altLang="en-US"/>
              <a:t>output: [A]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800100" y="2133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Stacks: Infix to Postfix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B ) * ( C - E ) ) / ( F + G ) )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stack: ( ( ( +</a:t>
            </a:r>
          </a:p>
          <a:p>
            <a:pPr eaLnBrk="1" hangingPunct="1"/>
            <a:r>
              <a:rPr lang="en-US" altLang="en-US"/>
              <a:t>output: [A]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800100" y="2133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Stacks: Infix to Postfix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) * ( C - E ) ) / ( F + G ) )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stack: ( ( ( +</a:t>
            </a:r>
          </a:p>
          <a:p>
            <a:pPr eaLnBrk="1" hangingPunct="1"/>
            <a:r>
              <a:rPr lang="en-US" altLang="en-US"/>
              <a:t>output: [A B]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800100" y="2133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Stacks: Infix to Postfix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* ( C - E ) ) / ( F + G ) )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stack: ( (  </a:t>
            </a:r>
          </a:p>
          <a:p>
            <a:pPr eaLnBrk="1" hangingPunct="1"/>
            <a:r>
              <a:rPr lang="en-US" altLang="en-US"/>
              <a:t>output: [A B + ]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800100" y="2133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Stacks: Infix to Postfix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( C - E ) ) / ( F + G ) )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stack: ( ( * </a:t>
            </a:r>
          </a:p>
          <a:p>
            <a:pPr eaLnBrk="1" hangingPunct="1"/>
            <a:r>
              <a:rPr lang="en-US" altLang="en-US"/>
              <a:t>output: [A B + ]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800100" y="2133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Stacks: Infix to Postfix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C - E ) ) / ( F + G ) )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stack: ( ( * (</a:t>
            </a:r>
          </a:p>
          <a:p>
            <a:pPr eaLnBrk="1" hangingPunct="1"/>
            <a:r>
              <a:rPr lang="en-US" altLang="en-US"/>
              <a:t>output: [A B + ]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800100" y="2133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Stacks: Infix to Postfix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- E ) ) / ( F + G ) )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stack: ( ( * (</a:t>
            </a:r>
          </a:p>
          <a:p>
            <a:pPr eaLnBrk="1" hangingPunct="1"/>
            <a:r>
              <a:rPr lang="en-US" altLang="en-US"/>
              <a:t>output: [A B + C ]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800100" y="2133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Stacks: Infix to Postfix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E ) ) / ( F + G ) )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stack: ( ( * ( -</a:t>
            </a:r>
          </a:p>
          <a:p>
            <a:pPr eaLnBrk="1" hangingPunct="1"/>
            <a:r>
              <a:rPr lang="en-US" altLang="en-US"/>
              <a:t>output: [A B + C ]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800100" y="2133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Stacks: Infix to Postfix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) ) / ( F + G ) )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stack: ( ( * ( -</a:t>
            </a:r>
          </a:p>
          <a:p>
            <a:pPr eaLnBrk="1" hangingPunct="1"/>
            <a:r>
              <a:rPr lang="en-US" altLang="en-US"/>
              <a:t>output: [A B + C E ]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800100" y="2133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Stacks: Infix to Postfix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) / ( F + G ) )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stack: ( ( *</a:t>
            </a:r>
          </a:p>
          <a:p>
            <a:pPr eaLnBrk="1" hangingPunct="1"/>
            <a:r>
              <a:rPr lang="en-US" altLang="en-US"/>
              <a:t>output: [A B + C E - ]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800100" y="2133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Stacks: Infix to Postfix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/ ( F + G ) )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stack: ( </a:t>
            </a:r>
          </a:p>
          <a:p>
            <a:pPr eaLnBrk="1" hangingPunct="1"/>
            <a:r>
              <a:rPr lang="en-US" altLang="en-US"/>
              <a:t>output: [A B + C E - * ]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800100" y="2133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Stacks: Infix to Postfix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( F + G ) )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stack: ( /</a:t>
            </a:r>
          </a:p>
          <a:p>
            <a:pPr eaLnBrk="1" hangingPunct="1"/>
            <a:r>
              <a:rPr lang="en-US" altLang="en-US"/>
              <a:t>output: [A B + C E - * ]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800100" y="2133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Stacks: Infix to Postfix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F + G ) )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stack: ( / (</a:t>
            </a:r>
          </a:p>
          <a:p>
            <a:pPr eaLnBrk="1" hangingPunct="1"/>
            <a:r>
              <a:rPr lang="en-US" altLang="en-US"/>
              <a:t>output: [A B + C E - * ]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800100" y="2133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Stacks: Infix to Postfix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+ G ) )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stack: ( / (</a:t>
            </a:r>
          </a:p>
          <a:p>
            <a:pPr eaLnBrk="1" hangingPunct="1"/>
            <a:r>
              <a:rPr lang="en-US" altLang="en-US"/>
              <a:t>output: [A B + C E - * F ]</a:t>
            </a: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800100" y="2133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Stacks: Infix to Postfix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 G ) )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stack: ( / ( +</a:t>
            </a:r>
          </a:p>
          <a:p>
            <a:pPr eaLnBrk="1" hangingPunct="1"/>
            <a:r>
              <a:rPr lang="en-US" altLang="en-US"/>
              <a:t>output: [A B + C E - * F ]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800100" y="2133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Stacks: Infix to Postfix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) )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stack: ( / ( +</a:t>
            </a:r>
          </a:p>
          <a:p>
            <a:pPr eaLnBrk="1" hangingPunct="1"/>
            <a:r>
              <a:rPr lang="en-US" altLang="en-US"/>
              <a:t>output: [A B + C E - * F G ]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800100" y="2133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Stacks: Infix to Postfix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</a:pPr>
            <a:r>
              <a:rPr lang="en-US" altLang="en-US"/>
              <a:t>	)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stack: ( /</a:t>
            </a:r>
          </a:p>
          <a:p>
            <a:pPr eaLnBrk="1" hangingPunct="1"/>
            <a:r>
              <a:rPr lang="en-US" altLang="en-US"/>
              <a:t>output: [A B + C E - * F G + ]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800100" y="2133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Stacks: Infix to Postfix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32" charset="2"/>
              <a:buNone/>
            </a:pPr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stack: &lt;empty&gt;</a:t>
            </a:r>
          </a:p>
          <a:p>
            <a:pPr eaLnBrk="1" hangingPunct="1"/>
            <a:r>
              <a:rPr lang="en-US" altLang="en-US"/>
              <a:t>output: [A B + C E - * F G + / ]</a:t>
            </a: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800100" y="2133600"/>
            <a:ext cx="381000" cy="3810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674</TotalTime>
  <Words>1686</Words>
  <Application>Microsoft Office PowerPoint</Application>
  <PresentationFormat>On-screen Show (4:3)</PresentationFormat>
  <Paragraphs>321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</vt:lpstr>
      <vt:lpstr>Calibri</vt:lpstr>
      <vt:lpstr>Droid Sans Fallback</vt:lpstr>
      <vt:lpstr>Monotype Sorts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Prefix, Postfix, Infix Notation</vt:lpstr>
      <vt:lpstr>Infix  Notation</vt:lpstr>
      <vt:lpstr>Prefix Notation</vt:lpstr>
      <vt:lpstr>Postfix Notation</vt:lpstr>
      <vt:lpstr>PowerPoint Presentation</vt:lpstr>
      <vt:lpstr>Parentheses</vt:lpstr>
      <vt:lpstr>What about Prefix Notation?</vt:lpstr>
      <vt:lpstr>Postfix Notation</vt:lpstr>
      <vt:lpstr>Infix to Prefix Conversion </vt:lpstr>
      <vt:lpstr>Infix to Prefix Conversion </vt:lpstr>
      <vt:lpstr>Infix to Prefix Conversion </vt:lpstr>
      <vt:lpstr>Infix to Prefix Conversion </vt:lpstr>
      <vt:lpstr>Infix to Postfix</vt:lpstr>
      <vt:lpstr>Stacks: Infix to Postfix</vt:lpstr>
      <vt:lpstr>Stacks: Infix to Postfix</vt:lpstr>
      <vt:lpstr>Stacks: Infix to Postfix</vt:lpstr>
      <vt:lpstr>Stacks: Infix to Postfix</vt:lpstr>
      <vt:lpstr>Stacks: Infix to Postfix</vt:lpstr>
      <vt:lpstr>Stacks: Infix to Postfix</vt:lpstr>
      <vt:lpstr>Stacks: Infix to Postfix</vt:lpstr>
      <vt:lpstr>Stacks: Infix to Postfix</vt:lpstr>
      <vt:lpstr>Stacks: Infix to Postfix</vt:lpstr>
      <vt:lpstr>Stacks: Infix to Postfix</vt:lpstr>
      <vt:lpstr>Stacks: Infix to Postfix</vt:lpstr>
      <vt:lpstr>Stacks: Infix to Postfix</vt:lpstr>
      <vt:lpstr>Stacks: Infix to Postfix</vt:lpstr>
      <vt:lpstr>Stacks: Infix to Postfix</vt:lpstr>
      <vt:lpstr>Stacks: Infix to Postfix</vt:lpstr>
      <vt:lpstr>Stacks: Infix to Postfix</vt:lpstr>
      <vt:lpstr>Stacks: Infix to Postfix</vt:lpstr>
      <vt:lpstr>Stacks: Infix to Postfix</vt:lpstr>
      <vt:lpstr>Stacks: Infix to Postfix</vt:lpstr>
      <vt:lpstr>Stacks: Infix to Postfix</vt:lpstr>
      <vt:lpstr>Stacks: Infix to Postfix</vt:lpstr>
      <vt:lpstr>Stacks: Infix to Postfix</vt:lpstr>
    </vt:vector>
  </TitlesOfParts>
  <Company>Graceland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Prefix, Postfix, Infix Notation</dc:title>
  <dc:creator>Mohsin Abbas</dc:creator>
  <cp:lastModifiedBy>Junaid .</cp:lastModifiedBy>
  <cp:revision>23</cp:revision>
  <dcterms:created xsi:type="dcterms:W3CDTF">2010-02-23T21:36:49Z</dcterms:created>
  <dcterms:modified xsi:type="dcterms:W3CDTF">2026-03-08T16:23:33Z</dcterms:modified>
</cp:coreProperties>
</file>