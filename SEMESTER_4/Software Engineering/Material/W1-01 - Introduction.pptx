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23" r:id="rId1"/>
  </p:sldMasterIdLst>
  <p:notesMasterIdLst>
    <p:notesMasterId r:id="rId27"/>
  </p:notesMasterIdLst>
  <p:handoutMasterIdLst>
    <p:handoutMasterId r:id="rId28"/>
  </p:handoutMasterIdLst>
  <p:sldIdLst>
    <p:sldId id="256" r:id="rId2"/>
    <p:sldId id="316" r:id="rId3"/>
    <p:sldId id="257" r:id="rId4"/>
    <p:sldId id="258" r:id="rId5"/>
    <p:sldId id="332" r:id="rId6"/>
    <p:sldId id="310" r:id="rId7"/>
    <p:sldId id="325" r:id="rId8"/>
    <p:sldId id="314" r:id="rId9"/>
    <p:sldId id="261" r:id="rId10"/>
    <p:sldId id="333" r:id="rId11"/>
    <p:sldId id="309" r:id="rId12"/>
    <p:sldId id="292" r:id="rId13"/>
    <p:sldId id="293" r:id="rId14"/>
    <p:sldId id="326" r:id="rId15"/>
    <p:sldId id="295" r:id="rId16"/>
    <p:sldId id="296" r:id="rId17"/>
    <p:sldId id="299" r:id="rId18"/>
    <p:sldId id="334" r:id="rId19"/>
    <p:sldId id="308" r:id="rId20"/>
    <p:sldId id="307" r:id="rId21"/>
    <p:sldId id="336" r:id="rId22"/>
    <p:sldId id="337" r:id="rId23"/>
    <p:sldId id="338" r:id="rId24"/>
    <p:sldId id="339" r:id="rId25"/>
    <p:sldId id="335" r:id="rId26"/>
  </p:sldIdLst>
  <p:sldSz cx="9144000" cy="6858000" type="screen4x3"/>
  <p:notesSz cx="9296400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94" autoAdjust="0"/>
    <p:restoredTop sz="94364" autoAdjust="0"/>
  </p:normalViewPr>
  <p:slideViewPr>
    <p:cSldViewPr>
      <p:cViewPr varScale="1">
        <p:scale>
          <a:sx n="85" d="100"/>
          <a:sy n="85" d="100"/>
        </p:scale>
        <p:origin x="124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0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07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5FA72-1517-436C-89BB-4A91F4C4868E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3"/>
            <a:ext cx="4029282" cy="350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3"/>
            <a:ext cx="4029282" cy="350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4C220-CA68-4057-9EB1-9118232CF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89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27A62E0A-EBD3-48BD-911D-BA55EA318C0D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44B4D39A-D25D-480D-AB96-A08967E408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623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B4D39A-D25D-480D-AB96-A08967E4082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19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39520" y="3331158"/>
            <a:ext cx="6817360" cy="295507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860" tIns="44633" rIns="90860" bIns="44633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747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011488" y="611188"/>
            <a:ext cx="3273425" cy="245427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AF7908-CEF1-4C18-83FB-7BAF366850EF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A5AE0D-353C-4AC8-9449-69705DA3A7A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42E268-9FF9-487F-BEA0-90F5DE495349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B26A46-ABFB-4D8C-922C-87893AB1DD4D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6259D8-7B11-4556-B89D-CF5053D970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ACB0A0-9B07-497D-9C93-1883FFF0F81E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DE9686-7BB6-4720-BDEC-9ACAC58927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7A7738-F439-4E35-AEC4-833E12495611}" type="datetime1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8114E-08A7-4929-BB19-B9B9E884E5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19A2FB-7B26-46CE-ADEA-A59CA2A2575C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6DFD43-7B17-4839-B016-410BF59C22F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C82770-9E91-4F1A-BB28-9148CE8B0615}" type="datetime1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086910-7AD0-4284-9154-4A6C3219C38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531D8B-F1E8-4219-AAE3-C6C5BA09DC99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81E411-4FA8-448A-B4B3-8202B5DDED2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B77B6F-3DF0-415B-8270-B9518A7F9B85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8A4FC4-C37C-4675-8ABA-1AE94FFC39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E3BE31-8469-4828-9ECC-154AC73732DE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4DBE2E-AB2C-450C-9F80-22E0A2787DE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613930-2FB1-451D-9156-EBB6E7DD1753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A0B48F-275F-4B11-9A36-0F3DBAD0582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536C83C-9B22-46ED-8EA8-C6416137BC54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AC40421-925F-4082-BA86-2260C7B648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4" r:id="rId1"/>
    <p:sldLayoutId id="2147484125" r:id="rId2"/>
    <p:sldLayoutId id="2147484126" r:id="rId3"/>
    <p:sldLayoutId id="2147484127" r:id="rId4"/>
    <p:sldLayoutId id="2147484128" r:id="rId5"/>
    <p:sldLayoutId id="2147484129" r:id="rId6"/>
    <p:sldLayoutId id="2147484130" r:id="rId7"/>
    <p:sldLayoutId id="2147484131" r:id="rId8"/>
    <p:sldLayoutId id="2147484132" r:id="rId9"/>
    <p:sldLayoutId id="2147484133" r:id="rId10"/>
    <p:sldLayoutId id="2147484134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1828800"/>
            <a:ext cx="8763000" cy="1524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600" dirty="0">
                <a:solidFill>
                  <a:srgbClr val="C00000"/>
                </a:solidFill>
                <a:cs typeface="Times New Roman" pitchFamily="18" charset="0"/>
              </a:rPr>
              <a:t>SE203 –</a:t>
            </a:r>
            <a:r>
              <a:rPr lang="en-US" sz="3600" cap="none" dirty="0">
                <a:solidFill>
                  <a:srgbClr val="C00000"/>
                </a:solidFill>
                <a:cs typeface="Times New Roman" pitchFamily="18" charset="0"/>
              </a:rPr>
              <a:t>Software Engineering </a:t>
            </a:r>
            <a:br>
              <a:rPr lang="en-US" sz="3600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3600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5105400" cy="1905000"/>
          </a:xfrm>
        </p:spPr>
        <p:txBody>
          <a:bodyPr>
            <a:normAutofit/>
          </a:bodyPr>
          <a:lstStyle/>
          <a:p>
            <a:pPr marL="63500" algn="ctr" eaLnBrk="1" hangingPunct="1"/>
            <a:endParaRPr lang="en-US" sz="20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63500" algn="ctr" eaLnBrk="1" hangingPunct="1"/>
            <a:r>
              <a:rPr lang="en-US" sz="3200" b="1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Introduction</a:t>
            </a:r>
            <a:endParaRPr lang="en-US" sz="32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63500" algn="ctr"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Course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800" dirty="0"/>
          </a:p>
          <a:p>
            <a:pPr algn="just"/>
            <a:r>
              <a:rPr lang="en-US" dirty="0"/>
              <a:t>This course introduces the different software process models by illustrating its phases and principles of software engineering. </a:t>
            </a:r>
          </a:p>
          <a:p>
            <a:pPr algn="just"/>
            <a:r>
              <a:rPr lang="en-US" dirty="0"/>
              <a:t>Topics include: </a:t>
            </a:r>
          </a:p>
          <a:p>
            <a:pPr lvl="1" algn="just"/>
            <a:r>
              <a:rPr lang="en-US" sz="1800" dirty="0"/>
              <a:t>Overview of Software Engineering; </a:t>
            </a:r>
          </a:p>
          <a:p>
            <a:pPr lvl="1" algn="just"/>
            <a:r>
              <a:rPr lang="en-US" sz="1800" dirty="0"/>
              <a:t>Software Process Models; </a:t>
            </a:r>
          </a:p>
          <a:p>
            <a:pPr lvl="1" algn="just"/>
            <a:r>
              <a:rPr lang="en-US" sz="1800" dirty="0"/>
              <a:t>Requirement Engineering Concepts; </a:t>
            </a:r>
          </a:p>
          <a:p>
            <a:pPr lvl="1" algn="just"/>
            <a:r>
              <a:rPr lang="en-US" sz="1800" dirty="0"/>
              <a:t>Software Design; </a:t>
            </a:r>
          </a:p>
          <a:p>
            <a:pPr lvl="1" algn="just"/>
            <a:r>
              <a:rPr lang="en-US" sz="1800" dirty="0"/>
              <a:t>Design Modeling; </a:t>
            </a:r>
          </a:p>
          <a:p>
            <a:pPr lvl="1" algn="just"/>
            <a:r>
              <a:rPr lang="en-US" sz="1800" dirty="0"/>
              <a:t>Software Quality Engineering; </a:t>
            </a:r>
          </a:p>
          <a:p>
            <a:pPr lvl="1" algn="just"/>
            <a:r>
              <a:rPr lang="en-US" sz="1800" dirty="0"/>
              <a:t>Software Project Management; </a:t>
            </a:r>
          </a:p>
          <a:p>
            <a:pPr lvl="1" algn="just"/>
            <a:r>
              <a:rPr lang="en-US" sz="1800" dirty="0"/>
              <a:t>Software Maintenance and Software Evolution.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/>
          <a:lstStyle/>
          <a:p>
            <a:fld id="{C7E6D990-F06E-4D1F-B4C2-9CEA3544EBF5}" type="datetime1">
              <a:rPr lang="en-US" smtClean="0">
                <a:latin typeface="+mj-lt"/>
              </a:rPr>
              <a:t>2/23/2026</a:t>
            </a:fld>
            <a:endParaRPr lang="en-US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/>
          <a:p>
            <a:fld id="{4CECA143-544A-4A15-A433-D0FA028FC3E0}" type="slidenum">
              <a:rPr lang="en-US" sz="1200">
                <a:latin typeface="+mj-lt"/>
              </a:rPr>
              <a:pPr/>
              <a:t>2</a:t>
            </a:fld>
            <a:endParaRPr lang="en-US" sz="12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814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2192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What is Software?</a:t>
            </a:r>
          </a:p>
        </p:txBody>
      </p:sp>
      <p:sp>
        <p:nvSpPr>
          <p:cNvPr id="9219" name="Rectangle 5"/>
          <p:cNvSpPr>
            <a:spLocks noGrp="1" noChangeArrowheads="1"/>
          </p:cNvSpPr>
          <p:nvPr>
            <p:ph idx="1"/>
          </p:nvPr>
        </p:nvSpPr>
        <p:spPr>
          <a:xfrm>
            <a:off x="509666" y="1600200"/>
            <a:ext cx="8177134" cy="4876800"/>
          </a:xfrm>
        </p:spPr>
        <p:txBody>
          <a:bodyPr/>
          <a:lstStyle/>
          <a:p>
            <a:pPr eaLnBrk="1" hangingPunct="1"/>
            <a:endParaRPr lang="en-US" sz="2400" dirty="0">
              <a:latin typeface="Arial 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en-US" dirty="0">
                <a:latin typeface="Arial "/>
              </a:rPr>
              <a:t>Software is a set of items or objects that form a “configuration” that includes 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 "/>
              </a:rPr>
              <a:t>programs 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 "/>
              </a:rPr>
              <a:t>documents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Arial "/>
              </a:rPr>
              <a:t>data ... </a:t>
            </a:r>
          </a:p>
          <a:p>
            <a:pPr eaLnBrk="1" hangingPunct="1">
              <a:buFont typeface="Georgia" pitchFamily="18" charset="0"/>
              <a:buNone/>
            </a:pPr>
            <a:endParaRPr lang="en-US" sz="2200" dirty="0">
              <a:latin typeface="Arial 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32466E3-8B18-435E-825B-5DB0BD97FDAD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29600" cy="1371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What is Software?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828800"/>
            <a:ext cx="8458200" cy="4745038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Clr>
                <a:schemeClr val="accent3"/>
              </a:buClr>
              <a:buFont typeface="Georgia"/>
              <a:buNone/>
              <a:defRPr/>
            </a:pPr>
            <a:r>
              <a:rPr lang="en-US" sz="2800" dirty="0">
                <a:cs typeface="Times New Roman" pitchFamily="18" charset="0"/>
              </a:rPr>
              <a:t>We can define it as:</a:t>
            </a:r>
          </a:p>
          <a:p>
            <a:pPr marL="480060" indent="-342900" algn="just">
              <a:defRPr/>
            </a:pPr>
            <a:r>
              <a:rPr lang="en-US" sz="2600" dirty="0">
                <a:solidFill>
                  <a:schemeClr val="tx1"/>
                </a:solidFill>
                <a:cs typeface="Times New Roman" pitchFamily="18" charset="0"/>
              </a:rPr>
              <a:t>Program (Computer Programs) that when executed provide </a:t>
            </a:r>
            <a:endParaRPr lang="en-US" sz="2600" dirty="0">
              <a:cs typeface="Times New Roman" pitchFamily="18" charset="0"/>
            </a:endParaRPr>
          </a:p>
          <a:p>
            <a:pPr marL="754380" lvl="1" indent="-342900" algn="just">
              <a:defRPr/>
            </a:pPr>
            <a:r>
              <a:rPr lang="en-US" dirty="0">
                <a:cs typeface="Times New Roman" pitchFamily="18" charset="0"/>
              </a:rPr>
              <a:t>D</a:t>
            </a: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esired features</a:t>
            </a:r>
          </a:p>
          <a:p>
            <a:pPr marL="754380" lvl="1" indent="-342900" algn="just">
              <a:defRPr/>
            </a:pP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Functions and </a:t>
            </a:r>
          </a:p>
          <a:p>
            <a:pPr marL="754380" lvl="1" indent="-342900" algn="just">
              <a:defRPr/>
            </a:pPr>
            <a:r>
              <a:rPr lang="en-US" dirty="0">
                <a:solidFill>
                  <a:schemeClr val="tx1"/>
                </a:solidFill>
                <a:cs typeface="Times New Roman" pitchFamily="18" charset="0"/>
              </a:rPr>
              <a:t>Performance.</a:t>
            </a:r>
          </a:p>
          <a:p>
            <a:pPr marL="480060" indent="-342900" algn="just">
              <a:defRPr/>
            </a:pPr>
            <a:r>
              <a:rPr lang="en-US" sz="2600" dirty="0">
                <a:solidFill>
                  <a:schemeClr val="tx1"/>
                </a:solidFill>
                <a:cs typeface="Times New Roman" pitchFamily="18" charset="0"/>
              </a:rPr>
              <a:t>The data on which the program operates is also considered as  a part of the software.</a:t>
            </a:r>
          </a:p>
          <a:p>
            <a:pPr marL="480060" indent="-342900" algn="just">
              <a:defRPr/>
            </a:pPr>
            <a:r>
              <a:rPr lang="en-US" sz="2600" dirty="0">
                <a:solidFill>
                  <a:schemeClr val="tx1"/>
                </a:solidFill>
                <a:cs typeface="Times New Roman" pitchFamily="18" charset="0"/>
              </a:rPr>
              <a:t>Documents that describe the use of the Programs</a:t>
            </a:r>
            <a:r>
              <a:rPr lang="en-US" sz="2600" i="1" dirty="0">
                <a:cs typeface="Times New Roman" pitchFamily="18" charset="0"/>
              </a:rPr>
              <a:t>.</a:t>
            </a:r>
          </a:p>
          <a:p>
            <a:pPr marL="658368" lvl="1" indent="-246888" algn="just" eaLnBrk="1" fontAlgn="auto" hangingPunct="1">
              <a:spcAft>
                <a:spcPts val="0"/>
              </a:spcAft>
              <a:buFont typeface="Georgia"/>
              <a:buNone/>
              <a:defRPr/>
            </a:pPr>
            <a:endParaRPr lang="en-US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D812F4-A8E5-412E-A30B-AE413713E149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99AAD-597B-D228-A729-9BF7783DA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Software?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82B17-2894-F064-B2CB-CEB479CDA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dirty="0"/>
              <a:t>Software is engineered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Software doesn’t wear out</a:t>
            </a:r>
          </a:p>
          <a:p>
            <a:pPr>
              <a:lnSpc>
                <a:spcPct val="150000"/>
              </a:lnSpc>
            </a:pPr>
            <a:r>
              <a:rPr lang="en-US" altLang="en-US" dirty="0"/>
              <a:t>Software is complex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04186-F0E5-CDFF-97AF-BC046EB12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42E268-9FF9-487F-BEA0-90F5DE495349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498D2-7162-5DB5-BBAB-D01DC9203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51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3820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Role of Software </a:t>
            </a:r>
          </a:p>
        </p:txBody>
      </p:sp>
      <p:sp>
        <p:nvSpPr>
          <p:cNvPr id="14339" name="Rectangle 5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82000" cy="4724400"/>
          </a:xfrm>
        </p:spPr>
        <p:txBody>
          <a:bodyPr>
            <a:normAutofit fontScale="92500"/>
          </a:bodyPr>
          <a:lstStyle/>
          <a:p>
            <a:pPr algn="just" eaLnBrk="1" hangingPunct="1">
              <a:buFont typeface="Georgia" pitchFamily="18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A person might be involved with software more than 100 times, often without even realizing that.</a:t>
            </a:r>
          </a:p>
          <a:p>
            <a:pPr algn="just" eaLnBrk="1" hangingPunct="1">
              <a:buFont typeface="Georgia" pitchFamily="18" charset="0"/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 eaLnBrk="1" hangingPunct="1">
              <a:buFont typeface="Georgia" pitchFamily="18" charset="0"/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We might use a computer 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To check email or weather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Kitchen appliances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Traffic signals are now computer controlled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Mostly we  use credit cards in a computerized gasoline pumps.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Our bank system is highly computerized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Use of telephones, fax, e-mail or internet, all of these requires Software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Hotel arrangements will be handled by computers and software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Airplane &amp; Air traffic control is highly computerized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Medical Instruments and diagnostic procedures are now computerized</a:t>
            </a:r>
          </a:p>
          <a:p>
            <a:pPr algn="just" eaLnBrk="1" hangingPunct="1"/>
            <a:endParaRPr lang="en-US" sz="2200" dirty="0">
              <a:latin typeface="+mj-lt"/>
              <a:cs typeface="Times New Roman" pitchFamily="18" charset="0"/>
            </a:endParaRPr>
          </a:p>
          <a:p>
            <a:pPr eaLnBrk="1" hangingPunct="1">
              <a:buFont typeface="Georgia" pitchFamily="18" charset="0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8793BD-7685-4601-B466-1A5400B8EF4D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 algn="just">
              <a:buNone/>
            </a:pPr>
            <a:r>
              <a:rPr lang="en-US" sz="3200" dirty="0"/>
              <a:t>What is the difference between Software and hardware?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F63D2BB-6353-4CFF-910F-B39EB66ABB18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1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Attributes of Good Software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>
                <a:latin typeface="+mj-lt"/>
                <a:cs typeface="Times New Roman" pitchFamily="18" charset="0"/>
              </a:rPr>
              <a:t>Should deliver the required functionality and performance to the user.</a:t>
            </a:r>
          </a:p>
          <a:p>
            <a:pPr eaLnBrk="1" hangingPunct="1"/>
            <a:r>
              <a:rPr lang="en-US" sz="2200" dirty="0">
                <a:latin typeface="+mj-lt"/>
                <a:cs typeface="Times New Roman" pitchFamily="18" charset="0"/>
              </a:rPr>
              <a:t>It is reliable</a:t>
            </a:r>
          </a:p>
          <a:p>
            <a:pPr eaLnBrk="1" hangingPunct="1"/>
            <a:r>
              <a:rPr lang="en-US" sz="2200" dirty="0">
                <a:latin typeface="+mj-lt"/>
                <a:cs typeface="Times New Roman" pitchFamily="18" charset="0"/>
              </a:rPr>
              <a:t>It has good user-interface</a:t>
            </a:r>
          </a:p>
          <a:p>
            <a:pPr eaLnBrk="1" hangingPunct="1"/>
            <a:r>
              <a:rPr lang="en-US" sz="2200" dirty="0">
                <a:latin typeface="+mj-lt"/>
                <a:cs typeface="Times New Roman" pitchFamily="18" charset="0"/>
              </a:rPr>
              <a:t>Should be maintainable and reusable</a:t>
            </a:r>
          </a:p>
          <a:p>
            <a:pPr eaLnBrk="1" hangingPunct="1">
              <a:buFont typeface="Georgia" pitchFamily="18" charset="0"/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79B10A-9A4B-4F9C-AB1E-071B0C233ED5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077200" cy="10668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Categories of Computer Software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229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Times New Roman" pitchFamily="18" charset="0"/>
              </a:rPr>
              <a:t>System Software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+mj-lt"/>
                <a:cs typeface="Times New Roman" pitchFamily="18" charset="0"/>
              </a:rPr>
              <a:t>Application Software</a:t>
            </a:r>
            <a:endParaRPr lang="en-US" sz="2400" dirty="0">
              <a:latin typeface="+mj-lt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Times New Roman" pitchFamily="18" charset="0"/>
              </a:rPr>
              <a:t>Engineering/Scientific Software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+mj-lt"/>
                <a:cs typeface="Times New Roman" pitchFamily="18" charset="0"/>
              </a:rPr>
              <a:t>Embedded</a:t>
            </a:r>
            <a:r>
              <a:rPr lang="en-US" sz="2400" dirty="0">
                <a:latin typeface="+mj-lt"/>
                <a:cs typeface="Times New Roman" pitchFamily="18" charset="0"/>
              </a:rPr>
              <a:t> Software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+mj-lt"/>
                <a:cs typeface="Times New Roman" pitchFamily="18" charset="0"/>
              </a:rPr>
              <a:t>Web </a:t>
            </a:r>
            <a:r>
              <a:rPr lang="en-US" dirty="0">
                <a:latin typeface="+mj-lt"/>
                <a:cs typeface="Times New Roman" pitchFamily="18" charset="0"/>
              </a:rPr>
              <a:t>Applications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Computer Programming tools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+mj-lt"/>
                <a:cs typeface="Times New Roman" pitchFamily="18" charset="0"/>
              </a:rPr>
              <a:t>Artificial Intelligence Software</a:t>
            </a:r>
            <a:endParaRPr lang="en-US" sz="2400" dirty="0">
              <a:latin typeface="+mj-lt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Georgia" pitchFamily="18" charset="0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17480C-B10D-4994-A370-5DDB79710B7E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315C-9FF8-8BA9-EFBB-608A4422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Software--- New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1F632-CC54-96ED-1C89-ED8590654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/>
            <a:r>
              <a:rPr lang="en-US" altLang="en-US" dirty="0">
                <a:solidFill>
                  <a:srgbClr val="C00000"/>
                </a:solidFill>
              </a:rPr>
              <a:t>Ubiquitous computing</a:t>
            </a:r>
            <a:r>
              <a:rPr lang="en-US" altLang="en-US" dirty="0"/>
              <a:t>—wireless networks</a:t>
            </a:r>
          </a:p>
          <a:p>
            <a:pPr marL="285750" indent="-285750"/>
            <a:r>
              <a:rPr lang="en-US" altLang="en-US" dirty="0">
                <a:solidFill>
                  <a:srgbClr val="C00000"/>
                </a:solidFill>
              </a:rPr>
              <a:t>Net sourcing</a:t>
            </a:r>
            <a:r>
              <a:rPr lang="en-US" altLang="en-US" dirty="0"/>
              <a:t>—the Web as a computing engine</a:t>
            </a:r>
          </a:p>
          <a:p>
            <a:pPr marL="285750" indent="-285750"/>
            <a:r>
              <a:rPr lang="en-US" altLang="en-US" dirty="0">
                <a:solidFill>
                  <a:srgbClr val="C00000"/>
                </a:solidFill>
              </a:rPr>
              <a:t>Open source</a:t>
            </a:r>
            <a:r>
              <a:rPr lang="en-US" altLang="en-US" dirty="0"/>
              <a:t>—”free” source code open to the computing community (a blessing, but also a potential curse!)</a:t>
            </a:r>
          </a:p>
          <a:p>
            <a:pPr marL="285750" indent="-285750"/>
            <a:r>
              <a:rPr lang="en-US" altLang="en-US" dirty="0"/>
              <a:t>Also … (see Chapter 32)</a:t>
            </a:r>
          </a:p>
          <a:p>
            <a:pPr marL="685800" lvl="1" indent="-228600"/>
            <a:r>
              <a:rPr lang="en-US" altLang="en-US" dirty="0">
                <a:solidFill>
                  <a:srgbClr val="C00000"/>
                </a:solidFill>
              </a:rPr>
              <a:t>Data mining</a:t>
            </a:r>
          </a:p>
          <a:p>
            <a:pPr marL="685800" lvl="1" indent="-228600"/>
            <a:r>
              <a:rPr lang="en-US" altLang="en-US" dirty="0">
                <a:solidFill>
                  <a:srgbClr val="C00000"/>
                </a:solidFill>
              </a:rPr>
              <a:t>Grid computing</a:t>
            </a:r>
          </a:p>
          <a:p>
            <a:pPr marL="685800" lvl="1" indent="-228600"/>
            <a:r>
              <a:rPr lang="en-US" altLang="en-US" dirty="0">
                <a:solidFill>
                  <a:srgbClr val="C00000"/>
                </a:solidFill>
              </a:rPr>
              <a:t>Cognitive machines</a:t>
            </a:r>
          </a:p>
          <a:p>
            <a:pPr marL="685800" lvl="1" indent="-228600"/>
            <a:r>
              <a:rPr lang="en-US" altLang="en-US" dirty="0">
                <a:solidFill>
                  <a:srgbClr val="C00000"/>
                </a:solidFill>
              </a:rPr>
              <a:t>Software for nanotechnologies</a:t>
            </a:r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3B0B4-D140-9E18-CF99-07C514F95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42E268-9FF9-487F-BEA0-90F5DE495349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882A1-4033-B2B1-E2E0-DBC2FB7B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82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4400" dirty="0">
                <a:solidFill>
                  <a:srgbClr val="C00000"/>
                </a:solidFill>
                <a:ea typeface="ＭＳ Ｐゴシック" pitchFamily="34" charset="-128"/>
                <a:cs typeface="Times New Roman" pitchFamily="18" charset="0"/>
              </a:rPr>
              <a:t>Software Products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897438"/>
          </a:xfrm>
        </p:spPr>
        <p:txBody>
          <a:bodyPr>
            <a:normAutofit/>
          </a:bodyPr>
          <a:lstStyle/>
          <a:p>
            <a:pPr marL="365760" indent="-256032" algn="just" eaLnBrk="1" fontAlgn="auto" hangingPunct="1">
              <a:spcAft>
                <a:spcPts val="0"/>
              </a:spcAft>
              <a:buClr>
                <a:schemeClr val="accent3"/>
              </a:buClr>
              <a:buFont typeface="Georgia" pitchFamily="18" charset="0"/>
              <a:buNone/>
              <a:defRPr/>
            </a:pPr>
            <a:r>
              <a:rPr lang="en-US" sz="2200" b="1" dirty="0">
                <a:latin typeface="+mj-lt"/>
                <a:ea typeface="ＭＳ Ｐゴシック" pitchFamily="34" charset="-128"/>
                <a:cs typeface="Times New Roman" pitchFamily="18" charset="0"/>
              </a:rPr>
              <a:t>Generic products</a:t>
            </a:r>
          </a:p>
          <a:p>
            <a:pPr marL="754380" lvl="1" indent="-342900" algn="just">
              <a:defRPr/>
            </a:pPr>
            <a:r>
              <a:rPr lang="en-US" sz="2200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Stand-alone systems that are marketed and sold to </a:t>
            </a:r>
            <a:r>
              <a:rPr lang="en-US" sz="2200" b="1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any customer 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who wishes to buy them.</a:t>
            </a:r>
          </a:p>
          <a:p>
            <a:pPr marL="754380" lvl="1" indent="-342900" algn="just">
              <a:defRPr/>
            </a:pPr>
            <a:r>
              <a:rPr lang="en-US" sz="2200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Examples – PC software such as editing, graphics programs, project management tools, databases and drawing packages.</a:t>
            </a:r>
          </a:p>
          <a:p>
            <a:pPr marL="658368" lvl="1" indent="-246888" algn="just" eaLnBrk="1" fontAlgn="auto" hangingPunct="1">
              <a:spcAft>
                <a:spcPts val="0"/>
              </a:spcAft>
              <a:buFont typeface="Georgia" pitchFamily="18" charset="0"/>
              <a:buNone/>
              <a:defRPr/>
            </a:pPr>
            <a:endParaRPr lang="en-US" sz="2200" dirty="0">
              <a:solidFill>
                <a:schemeClr val="tx1"/>
              </a:solidFill>
              <a:latin typeface="+mj-lt"/>
              <a:ea typeface="ＭＳ Ｐゴシック" pitchFamily="34" charset="-128"/>
              <a:cs typeface="Times New Roman" pitchFamily="18" charset="0"/>
            </a:endParaRPr>
          </a:p>
          <a:p>
            <a:pPr marL="365760" indent="-256032" algn="just" eaLnBrk="1" fontAlgn="auto" hangingPunct="1">
              <a:spcAft>
                <a:spcPts val="0"/>
              </a:spcAft>
              <a:buClr>
                <a:schemeClr val="accent3"/>
              </a:buClr>
              <a:buFont typeface="Georgia" pitchFamily="18" charset="0"/>
              <a:buNone/>
              <a:defRPr/>
            </a:pPr>
            <a:r>
              <a:rPr lang="en-US" sz="2200" b="1" dirty="0">
                <a:latin typeface="+mj-lt"/>
                <a:ea typeface="ＭＳ Ｐゴシック" pitchFamily="34" charset="-128"/>
                <a:cs typeface="Times New Roman" pitchFamily="18" charset="0"/>
              </a:rPr>
              <a:t>Customized products</a:t>
            </a:r>
          </a:p>
          <a:p>
            <a:pPr marL="754380" lvl="1" indent="-342900" algn="just">
              <a:defRPr/>
            </a:pPr>
            <a:r>
              <a:rPr lang="en-US" sz="2200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Software that is commissioned by </a:t>
            </a:r>
            <a:r>
              <a:rPr lang="en-US" sz="2200" b="1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a specific customer 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to meet their own needs. </a:t>
            </a:r>
          </a:p>
          <a:p>
            <a:pPr marL="754380" lvl="1" indent="-342900" algn="just">
              <a:defRPr/>
            </a:pPr>
            <a:r>
              <a:rPr lang="en-US" sz="2200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Examples–systems written to support a particular business process and air traffic control software.</a:t>
            </a:r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C96DBCA4-15E5-49F7-898A-EB5BC48845B4}" type="slidenum">
              <a:rPr lang="en-US" sz="1200" smtClean="0">
                <a:solidFill>
                  <a:srgbClr val="FFFFFF"/>
                </a:solidFill>
                <a:latin typeface="Segoe UI Symbol" pitchFamily="34" charset="0"/>
                <a:ea typeface="Segoe UI Symbol" pitchFamily="34" charset="0"/>
              </a:rPr>
              <a:pPr eaLnBrk="1" hangingPunct="1"/>
              <a:t>11</a:t>
            </a:fld>
            <a:endParaRPr lang="en-US" sz="1200" dirty="0">
              <a:solidFill>
                <a:srgbClr val="FFFFFF"/>
              </a:solidFill>
              <a:latin typeface="Segoe UI Symbol" pitchFamily="34" charset="0"/>
              <a:ea typeface="Segoe UI Symbol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4DF556-43FC-418E-B694-0E315AF84F9B}" type="datetime1">
              <a:rPr lang="en-US" smtClean="0">
                <a:latin typeface="+mj-lt"/>
              </a:rPr>
              <a:t>2/23/2026</a:t>
            </a:fld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10668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Software Crises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21238"/>
          </a:xfrm>
        </p:spPr>
        <p:txBody>
          <a:bodyPr/>
          <a:lstStyle/>
          <a:p>
            <a:pPr algn="just" eaLnBrk="1" hangingPunct="1"/>
            <a:endParaRPr lang="en-US" sz="2200" dirty="0">
              <a:latin typeface="+mj-lt"/>
              <a:cs typeface="Times New Roman" pitchFamily="18" charset="0"/>
            </a:endParaRP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In the early 60s, software suffered from a  problem, which we call the </a:t>
            </a:r>
            <a:r>
              <a:rPr lang="en-US" sz="2200" i="1" dirty="0">
                <a:latin typeface="+mj-lt"/>
                <a:cs typeface="Times New Roman" pitchFamily="18" charset="0"/>
              </a:rPr>
              <a:t>Software Crisis</a:t>
            </a:r>
          </a:p>
          <a:p>
            <a:pPr algn="just" eaLnBrk="1" hangingPunct="1">
              <a:buFont typeface="Georgia" pitchFamily="18" charset="0"/>
              <a:buNone/>
            </a:pPr>
            <a:endParaRPr lang="en-US" sz="2200" i="1" dirty="0">
              <a:latin typeface="+mj-lt"/>
              <a:cs typeface="Times New Roman" pitchFamily="18" charset="0"/>
            </a:endParaRP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The techniques that were used to develop small software were not applicable for large software systems.</a:t>
            </a:r>
          </a:p>
          <a:p>
            <a:pPr algn="just" eaLnBrk="1" hangingPunct="1">
              <a:buFont typeface="Georgia" pitchFamily="18" charset="0"/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In most of the cases the software that was built using the old tools and techniques was not complete</a:t>
            </a:r>
            <a:r>
              <a:rPr lang="en-US" sz="2200" dirty="0">
                <a:latin typeface="+mj-lt"/>
              </a:rPr>
              <a:t>.</a:t>
            </a:r>
          </a:p>
          <a:p>
            <a:pPr algn="just" eaLnBrk="1" hangingPunct="1">
              <a:buFont typeface="Georgia" pitchFamily="18" charset="0"/>
              <a:buNone/>
            </a:pPr>
            <a:endParaRPr lang="en-US" sz="2200" dirty="0"/>
          </a:p>
          <a:p>
            <a:pPr eaLnBrk="1" hangingPunct="1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874C70-D039-48AD-8BF7-CD2B0D651439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12954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Software Crises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3638"/>
          </a:xfrm>
        </p:spPr>
        <p:txBody>
          <a:bodyPr/>
          <a:lstStyle/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Most of the time it was delivered too late.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Most of the projects were over-budgeted.</a:t>
            </a:r>
          </a:p>
          <a:p>
            <a:pPr algn="just" eaLnBrk="1" hangingPunct="1"/>
            <a:r>
              <a:rPr lang="en-US" sz="2200" dirty="0">
                <a:latin typeface="+mj-lt"/>
                <a:cs typeface="Times New Roman" pitchFamily="18" charset="0"/>
              </a:rPr>
              <a:t>And, in most of the cases, systems built using these techniques were not reliable.</a:t>
            </a:r>
          </a:p>
          <a:p>
            <a:pPr lvl="1" algn="just" eaLnBrk="1" hangingPunct="1"/>
            <a:r>
              <a:rPr lang="en-US" sz="2200" b="1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A conference was held in 1960 in which the term “software crisis” was introduced</a:t>
            </a:r>
          </a:p>
          <a:p>
            <a:pPr algn="just" eaLnBrk="1" hangingPunct="1">
              <a:buFont typeface="Georgia" pitchFamily="18" charset="0"/>
              <a:buNone/>
            </a:pPr>
            <a:r>
              <a:rPr lang="en-US" sz="2200" b="1" dirty="0">
                <a:latin typeface="+mj-lt"/>
                <a:cs typeface="Times New Roman" pitchFamily="18" charset="0"/>
              </a:rPr>
              <a:t>Conclusion:</a:t>
            </a:r>
          </a:p>
          <a:p>
            <a:pPr lvl="1" algn="just" eaLnBrk="1" hangingPunct="1"/>
            <a:r>
              <a:rPr lang="en-US" sz="22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Software engineering is the result of the software crisis when people realized that it was not possible to construct complex software using the techniques applicable in 1960s.</a:t>
            </a:r>
          </a:p>
          <a:p>
            <a:pPr lvl="1" algn="just" eaLnBrk="1" hangingPunct="1"/>
            <a:r>
              <a:rPr lang="en-US" sz="22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 An important result of this was that people realized that just coding was not enough; we also need to apply engineering principles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1" eaLnBrk="1" hangingPunct="1">
              <a:buFont typeface="Georgia" pitchFamily="18" charset="0"/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buFont typeface="Georgia" pitchFamily="18" charset="0"/>
              <a:buNone/>
            </a:pPr>
            <a:endParaRPr lang="en-US" sz="2400" dirty="0"/>
          </a:p>
          <a:p>
            <a:pPr eaLnBrk="1" hangingPunct="1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B36861-E0CA-4DBD-A97F-B0ADFA0A82F4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What is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algn="just"/>
            <a:r>
              <a:rPr lang="en-US" dirty="0"/>
              <a:t>The process of productive use of scientific knowledge is called Engineering.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process of utilizing knowledge and principles to design, build, and analyze objects.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649D47E-C5F5-47CD-BF30-035981DDE7FF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59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Software Engineering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Georgia" pitchFamily="18" charset="0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buFont typeface="Georgia" pitchFamily="18" charset="0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buFont typeface="Georgia" pitchFamily="18" charset="0"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buFont typeface="Georgia" pitchFamily="18" charset="0"/>
              <a:buNone/>
            </a:pPr>
            <a:r>
              <a:rPr lang="en-US" sz="2400" dirty="0">
                <a:latin typeface="+mj-lt"/>
                <a:cs typeface="Times New Roman" pitchFamily="18" charset="0"/>
              </a:rPr>
              <a:t>The science concerned with putting computer science</a:t>
            </a:r>
          </a:p>
          <a:p>
            <a:pPr algn="just" eaLnBrk="1" hangingPunct="1">
              <a:buFont typeface="Georgia" pitchFamily="18" charset="0"/>
              <a:buNone/>
            </a:pPr>
            <a:r>
              <a:rPr lang="en-US" sz="2400" dirty="0">
                <a:latin typeface="+mj-lt"/>
                <a:cs typeface="Times New Roman" pitchFamily="18" charset="0"/>
              </a:rPr>
              <a:t>knowledge to practical use.</a:t>
            </a:r>
          </a:p>
          <a:p>
            <a:pPr eaLnBrk="1" hangingPunct="1">
              <a:buFontTx/>
              <a:buNone/>
            </a:pPr>
            <a:endParaRPr lang="en-US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834D24-DFA4-4A42-9F75-BCEC1031B5F1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4582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  <a:cs typeface="Times New Roman" pitchFamily="18" charset="0"/>
              </a:rPr>
              <a:t>Software Engineering - IEEE</a:t>
            </a:r>
            <a:endParaRPr lang="en-US" sz="2800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458200" cy="4724400"/>
          </a:xfrm>
        </p:spPr>
        <p:txBody>
          <a:bodyPr/>
          <a:lstStyle/>
          <a:p>
            <a:pPr lvl="1" eaLnBrk="1" hangingPunct="1">
              <a:buFont typeface="Georgia" pitchFamily="18" charset="0"/>
              <a:buNone/>
            </a:pPr>
            <a:endParaRPr lang="en-US" i="1" dirty="0">
              <a:solidFill>
                <a:schemeClr val="tx1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lvl="1" eaLnBrk="1" hangingPunct="1">
              <a:buFont typeface="Georgia" pitchFamily="18" charset="0"/>
              <a:buNone/>
            </a:pPr>
            <a:endParaRPr lang="en-US" sz="2200" i="1" dirty="0">
              <a:solidFill>
                <a:schemeClr val="tx1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600" dirty="0">
                <a:solidFill>
                  <a:schemeClr val="tx1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The application of a systematic, disciplined, quantifiable approach to the development, operation, and maintenance of software; that is, the application of engineering to software. 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58E6D8-6565-4BBD-A3C0-804AF4D1BD2F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>
                <a:solidFill>
                  <a:srgbClr val="C00000"/>
                </a:solidFill>
                <a:cs typeface="Times New Roman" pitchFamily="18" charset="0"/>
              </a:rPr>
              <a:t>Computer Science vs. Software Engineering</a:t>
            </a:r>
            <a:endParaRPr lang="en-US" sz="3600" dirty="0">
              <a:solidFill>
                <a:srgbClr val="C00000"/>
              </a:solidFill>
              <a:cs typeface="Times New Roman" pitchFamily="18" charset="0"/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600200"/>
          </a:xfrm>
        </p:spPr>
        <p:txBody>
          <a:bodyPr/>
          <a:lstStyle/>
          <a:p>
            <a:pPr eaLnBrk="1" hangingPunct="1">
              <a:buFont typeface="Georgia" pitchFamily="18" charset="0"/>
              <a:buNone/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	</a:t>
            </a:r>
          </a:p>
          <a:p>
            <a:pPr algn="just" eaLnBrk="1" hangingPunct="1">
              <a:buFont typeface="Georgia" pitchFamily="18" charset="0"/>
              <a:buNone/>
            </a:pPr>
            <a:r>
              <a:rPr lang="en-GB" sz="2400" dirty="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	</a:t>
            </a:r>
            <a:r>
              <a:rPr lang="en-GB" sz="2200" dirty="0">
                <a:solidFill>
                  <a:srgbClr val="000000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Computer science focuses on theory and fundamentals; software engineering is concerned with the practicalities of developing and delivering useful software.</a:t>
            </a:r>
          </a:p>
          <a:p>
            <a:pPr algn="just" eaLnBrk="1" hangingPunct="1">
              <a:buFont typeface="Georgia" pitchFamily="18" charset="0"/>
              <a:buNone/>
            </a:pPr>
            <a:endParaRPr lang="en-GB" sz="2200" dirty="0">
              <a:solidFill>
                <a:srgbClr val="000000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algn="just" eaLnBrk="1" hangingPunct="1">
              <a:buFont typeface="Georgia" pitchFamily="18" charset="0"/>
              <a:buNone/>
            </a:pPr>
            <a:endParaRPr lang="en-US" dirty="0"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457200" y="3124200"/>
            <a:ext cx="8229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>
              <a:defRPr/>
            </a:pPr>
            <a:r>
              <a:rPr lang="en-US" sz="2800" spc="-100" dirty="0">
                <a:solidFill>
                  <a:srgbClr val="C00000"/>
                </a:solidFill>
                <a:latin typeface="+mj-lt"/>
                <a:ea typeface="+mj-ea"/>
                <a:cs typeface="Times New Roman" pitchFamily="18" charset="0"/>
              </a:rPr>
              <a:t>System engineering vs. Software Engineering</a:t>
            </a:r>
            <a:endParaRPr lang="en-US" sz="3200" dirty="0">
              <a:solidFill>
                <a:srgbClr val="C00000"/>
              </a:solidFill>
              <a:ea typeface="+mj-ea"/>
              <a:cs typeface="Times New Roman" pitchFamily="18" charset="0"/>
            </a:endParaRPr>
          </a:p>
        </p:txBody>
      </p:sp>
      <p:sp>
        <p:nvSpPr>
          <p:cNvPr id="21509" name="Content Placeholder 2"/>
          <p:cNvSpPr txBox="1">
            <a:spLocks/>
          </p:cNvSpPr>
          <p:nvPr/>
        </p:nvSpPr>
        <p:spPr bwMode="auto">
          <a:xfrm>
            <a:off x="609600" y="4038600"/>
            <a:ext cx="79248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/>
            <a:r>
              <a:rPr lang="en-GB" sz="2200" dirty="0">
                <a:solidFill>
                  <a:srgbClr val="000000"/>
                </a:solidFill>
                <a:latin typeface="+mj-lt"/>
                <a:ea typeface="ＭＳ Ｐゴシック" pitchFamily="34" charset="-128"/>
                <a:cs typeface="Times New Roman" pitchFamily="18" charset="0"/>
              </a:rPr>
              <a:t>System engineering is concerned with all aspects of computer-based systems development including hardware, software and process engineering. Software engineering is part of this.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34846D1-259E-4A4E-88BF-1172C9B58B7E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50E8B-ACA5-C4A4-7E13-678E5124C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Legacy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802BA-D3A0-9968-5432-EEF28B7D4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sz="2800" i="1" dirty="0"/>
              <a:t>Why must it change?</a:t>
            </a:r>
          </a:p>
          <a:p>
            <a:pPr lvl="2">
              <a:spcBef>
                <a:spcPts val="200"/>
              </a:spcBef>
            </a:pPr>
            <a:r>
              <a:rPr lang="en-US" altLang="en-US" sz="2400" dirty="0"/>
              <a:t>software must be </a:t>
            </a:r>
            <a:r>
              <a:rPr lang="en-US" altLang="en-US" sz="2400" dirty="0">
                <a:solidFill>
                  <a:srgbClr val="C00000"/>
                </a:solidFill>
              </a:rPr>
              <a:t>adapted</a:t>
            </a:r>
            <a:r>
              <a:rPr lang="en-US" altLang="en-US" sz="2400" dirty="0"/>
              <a:t> to meet the needs of new computing environments or technology.</a:t>
            </a:r>
          </a:p>
          <a:p>
            <a:pPr lvl="2">
              <a:spcBef>
                <a:spcPts val="200"/>
              </a:spcBef>
            </a:pPr>
            <a:r>
              <a:rPr lang="en-US" altLang="en-US" sz="2400" dirty="0"/>
              <a:t>software must be </a:t>
            </a:r>
            <a:r>
              <a:rPr lang="en-US" altLang="en-US" sz="2400" dirty="0">
                <a:solidFill>
                  <a:srgbClr val="C00000"/>
                </a:solidFill>
              </a:rPr>
              <a:t>enhanced </a:t>
            </a:r>
            <a:r>
              <a:rPr lang="en-US" altLang="en-US" sz="2400" dirty="0"/>
              <a:t>to implement new business requirements.</a:t>
            </a:r>
          </a:p>
          <a:p>
            <a:pPr lvl="2"/>
            <a:r>
              <a:rPr lang="en-US" altLang="en-US" sz="2400" dirty="0"/>
              <a:t>software must be </a:t>
            </a:r>
            <a:r>
              <a:rPr lang="en-US" altLang="en-US" sz="2400" dirty="0">
                <a:solidFill>
                  <a:srgbClr val="C00000"/>
                </a:solidFill>
              </a:rPr>
              <a:t>extended to make it interoperable </a:t>
            </a:r>
            <a:r>
              <a:rPr lang="en-US" altLang="en-US" sz="2400" dirty="0"/>
              <a:t>with other more modern systems or databases.</a:t>
            </a:r>
          </a:p>
          <a:p>
            <a:pPr lvl="2"/>
            <a:r>
              <a:rPr lang="en-US" altLang="en-US" sz="2400" dirty="0"/>
              <a:t>software must be </a:t>
            </a:r>
            <a:r>
              <a:rPr lang="en-US" altLang="en-US" sz="2400" dirty="0">
                <a:solidFill>
                  <a:srgbClr val="C00000"/>
                </a:solidFill>
              </a:rPr>
              <a:t>re-architected</a:t>
            </a:r>
            <a:r>
              <a:rPr lang="en-US" altLang="en-US" sz="2400" dirty="0"/>
              <a:t> to make it viable within a network environment</a:t>
            </a:r>
            <a:r>
              <a:rPr lang="en-US" altLang="en-US" b="1" dirty="0">
                <a:effectLst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1D7CD-437E-5745-882D-855E47520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42E268-9FF9-487F-BEA0-90F5DE495349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8914D-3A0E-4E89-F0CB-4516ECC9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85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153400" cy="106680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C00000"/>
                </a:solidFill>
                <a:cs typeface="Times New Roman" pitchFamily="18" charset="0"/>
              </a:rPr>
              <a:t>Software Costs</a:t>
            </a:r>
          </a:p>
        </p:txBody>
      </p:sp>
      <p:sp>
        <p:nvSpPr>
          <p:cNvPr id="2253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GB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GB" sz="2200" dirty="0">
                <a:latin typeface="+mj-lt"/>
                <a:cs typeface="Times New Roman" pitchFamily="18" charset="0"/>
              </a:rPr>
              <a:t>Software costs often dominate computer system costs. The costs of software on a PC are often greater than the hardware cost.</a:t>
            </a:r>
          </a:p>
          <a:p>
            <a:pPr marL="0" indent="0" algn="just">
              <a:buNone/>
            </a:pPr>
            <a:endParaRPr lang="en-GB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GB" sz="2200" dirty="0">
                <a:latin typeface="+mj-lt"/>
                <a:cs typeface="Times New Roman" pitchFamily="18" charset="0"/>
              </a:rPr>
              <a:t>Software costs more to maintain than it does to develop. For systems with a long life, maintenance costs may be several times development costs.</a:t>
            </a:r>
          </a:p>
          <a:p>
            <a:pPr marL="0" indent="0" algn="just">
              <a:buNone/>
            </a:pPr>
            <a:endParaRPr lang="en-GB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GB" sz="2200" dirty="0">
                <a:latin typeface="+mj-lt"/>
                <a:cs typeface="Times New Roman" pitchFamily="18" charset="0"/>
              </a:rPr>
              <a:t>Software engineering is concerned with cost-effective software development</a:t>
            </a:r>
            <a:r>
              <a:rPr lang="en-GB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694BC2D-4E78-4DC4-AC84-F76B86D62051}" type="datetime1">
              <a:rPr lang="en-US" smtClean="0">
                <a:latin typeface="+mj-lt"/>
              </a:rPr>
              <a:t>2/23/2026</a:t>
            </a:fld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z="1200" smtClean="0">
                <a:latin typeface="+mj-lt"/>
              </a:rPr>
              <a:pPr>
                <a:defRPr/>
              </a:pPr>
              <a:t>19</a:t>
            </a:fld>
            <a:endParaRPr lang="en-US" sz="1200" dirty="0">
              <a:latin typeface="+mj-lt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8763000" cy="106680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C00000"/>
                </a:solidFill>
                <a:cs typeface="Times New Roman" pitchFamily="18" charset="0"/>
              </a:rPr>
              <a:t>What are the costs of software engineering?</a:t>
            </a:r>
          </a:p>
        </p:txBody>
      </p:sp>
      <p:sp>
        <p:nvSpPr>
          <p:cNvPr id="2355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GB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GB" sz="2200" dirty="0">
                <a:latin typeface="+mj-lt"/>
                <a:cs typeface="Times New Roman" pitchFamily="18" charset="0"/>
              </a:rPr>
              <a:t>Roughly </a:t>
            </a:r>
            <a:r>
              <a:rPr lang="en-GB" sz="2200" b="1" dirty="0">
                <a:latin typeface="+mj-lt"/>
                <a:cs typeface="Times New Roman" pitchFamily="18" charset="0"/>
              </a:rPr>
              <a:t>60% </a:t>
            </a:r>
            <a:r>
              <a:rPr lang="en-GB" sz="2200" dirty="0">
                <a:latin typeface="+mj-lt"/>
                <a:cs typeface="Times New Roman" pitchFamily="18" charset="0"/>
              </a:rPr>
              <a:t>of costs are development costs, </a:t>
            </a:r>
            <a:r>
              <a:rPr lang="en-GB" sz="2200" b="1" dirty="0">
                <a:latin typeface="+mj-lt"/>
                <a:cs typeface="Times New Roman" pitchFamily="18" charset="0"/>
              </a:rPr>
              <a:t>40% </a:t>
            </a:r>
            <a:r>
              <a:rPr lang="en-GB" sz="2200" dirty="0">
                <a:latin typeface="+mj-lt"/>
                <a:cs typeface="Times New Roman" pitchFamily="18" charset="0"/>
              </a:rPr>
              <a:t>are testing costs. For custom software, evolution costs often exceed development costs.</a:t>
            </a:r>
          </a:p>
          <a:p>
            <a:pPr algn="just">
              <a:buFont typeface="Georgia" pitchFamily="18" charset="0"/>
              <a:buNone/>
            </a:pPr>
            <a:endParaRPr lang="en-GB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GB" sz="2200" dirty="0">
                <a:latin typeface="+mj-lt"/>
                <a:cs typeface="Times New Roman" pitchFamily="18" charset="0"/>
              </a:rPr>
              <a:t>Costs vary depending on the type of system being developed and the requirements of system attributes such as performance and system reliability.</a:t>
            </a:r>
          </a:p>
          <a:p>
            <a:pPr algn="just">
              <a:buFont typeface="Georgia" pitchFamily="18" charset="0"/>
              <a:buNone/>
            </a:pPr>
            <a:endParaRPr lang="en-GB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GB" sz="2200" dirty="0">
                <a:latin typeface="+mj-lt"/>
                <a:cs typeface="Times New Roman" pitchFamily="18" charset="0"/>
              </a:rPr>
              <a:t>Distribution of costs depends on the development model that is used.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DF3F386-45FC-43C0-8028-326A67D2187E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C3E22-7289-4019-B573-FAD7DB73A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Friendster (2002 – 2011)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E04A6-2592-4D18-909B-E3D7F1790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was it?</a:t>
            </a:r>
            <a:br>
              <a:rPr lang="en-US" dirty="0"/>
            </a:br>
            <a:r>
              <a:rPr lang="en-US" dirty="0"/>
              <a:t>An early social networking website (before Facebook) where people made profiles, added friends, and joined communities.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went wrong?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site became </a:t>
            </a:r>
            <a:r>
              <a:rPr lang="en-US" b="1" dirty="0"/>
              <a:t>very slow</a:t>
            </a:r>
            <a:r>
              <a:rPr lang="en-US" dirty="0"/>
              <a:t> because its </a:t>
            </a:r>
            <a:r>
              <a:rPr lang="en-US" b="1" dirty="0"/>
              <a:t>backend database was not scalable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As users increased, the system began to </a:t>
            </a:r>
            <a:r>
              <a:rPr lang="en-US" b="1" dirty="0"/>
              <a:t>crash frequently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development team couldn’t fix the engineering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  <a:br>
              <a:rPr lang="en-US" dirty="0"/>
            </a:br>
            <a:r>
              <a:rPr lang="en-US" dirty="0"/>
              <a:t>Users got frustrated and moved to </a:t>
            </a:r>
            <a:r>
              <a:rPr lang="en-US" dirty="0" err="1"/>
              <a:t>MySpace</a:t>
            </a:r>
            <a:r>
              <a:rPr lang="en-US" dirty="0"/>
              <a:t>, and later to Facebook. Friendster shut down in 2011.</a:t>
            </a:r>
          </a:p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8EF82-83D6-4389-BD1B-14230BA52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42E268-9FF9-487F-BEA0-90F5DE495349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02A43-E9DE-47C8-8BDF-7BD98C9FF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B25DB-F823-4143-94A8-0774AF12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53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A1C6E-8EE6-4C89-B594-D68EE1EBD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BlackBerry OS (1999 – 2013)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FD532-6886-4A44-BEEA-98EED7253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was it?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mobile operating system</a:t>
            </a:r>
            <a:r>
              <a:rPr lang="en-US" dirty="0"/>
              <a:t> for BlackBerry phones, very popular with business users because of its strong email and security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went wrong?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When smartphones (iPhone and Android) arrived, people wanted </a:t>
            </a:r>
            <a:r>
              <a:rPr lang="en-US" b="1" dirty="0"/>
              <a:t>touchscreens and modern apps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BlackBerry OS was based on older technology and </a:t>
            </a:r>
            <a:r>
              <a:rPr lang="en-US" b="1" dirty="0"/>
              <a:t>making apps for it was difficult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engineering team failed to </a:t>
            </a:r>
            <a:r>
              <a:rPr lang="en-US" b="1" dirty="0"/>
              <a:t>modernize or update</a:t>
            </a:r>
            <a:r>
              <a:rPr lang="en-US" dirty="0"/>
              <a:t> it in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  <a:br>
              <a:rPr lang="en-US" dirty="0"/>
            </a:br>
            <a:r>
              <a:rPr lang="en-US" dirty="0"/>
              <a:t>Developers stopped building apps, users switched to Android/iOS, and BlackBerry OS died by 2013.</a:t>
            </a: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FB95D-8730-4973-9233-6B2CFB42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42E268-9FF9-487F-BEA0-90F5DE495349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A5273-0715-49BE-9163-B013E28D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3917F-D002-4F2E-8B7A-3D4AA4710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93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2AE9B-445B-46E6-A5DC-479C3AE20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3. Nokia’s Symbian OS (1997 – 2014)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38759-ACF5-4896-9C18-45A5F5ED1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was it?</a:t>
            </a:r>
            <a:br>
              <a:rPr lang="en-US" dirty="0"/>
            </a:br>
            <a:r>
              <a:rPr lang="en-US" dirty="0"/>
              <a:t>Nokia’s own </a:t>
            </a:r>
            <a:r>
              <a:rPr lang="en-US" b="1" dirty="0"/>
              <a:t>mobile operating system</a:t>
            </a:r>
            <a:r>
              <a:rPr lang="en-US" dirty="0"/>
              <a:t>, used in its feature phones and early smartphones. In the 2000s, Nokia was the world’s number one phone brand.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went wrong?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Symbian’s </a:t>
            </a:r>
            <a:r>
              <a:rPr lang="en-US" b="1" dirty="0"/>
              <a:t>codebase was very complex</a:t>
            </a:r>
            <a:r>
              <a:rPr lang="en-US" dirty="0"/>
              <a:t>, so updates and maintenance were very slow.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When iPhone and Android came, they introduced </a:t>
            </a:r>
            <a:r>
              <a:rPr lang="en-US" b="1" dirty="0"/>
              <a:t>app stores and modern UI</a:t>
            </a:r>
            <a:r>
              <a:rPr lang="en-US" dirty="0"/>
              <a:t>, which Symbian lacked.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Developers had </a:t>
            </a:r>
            <a:r>
              <a:rPr lang="en-US" b="1" dirty="0"/>
              <a:t>poor tools and support</a:t>
            </a:r>
            <a:r>
              <a:rPr lang="en-US" dirty="0"/>
              <a:t> on Symbian, so new apps stopped coming.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Result:</a:t>
            </a:r>
            <a:br>
              <a:rPr lang="en-US" dirty="0"/>
            </a:br>
            <a:r>
              <a:rPr lang="en-US" dirty="0"/>
              <a:t>Symbian looked outdated, users switched to Android/iPhone, and Nokia officially ended Symbian in 2014.</a:t>
            </a: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11375-D2AC-47F8-B513-053D7B9B6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42E268-9FF9-487F-BEA0-90F5DE495349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3905A-6D03-4C68-BD01-471BECEA9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133E4-A08B-4C82-850E-0CB7A49E2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16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9A44-EF71-4012-8351-E6FFEE4F0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Successful Software Stories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BF9A6-A7EF-4EBA-BFE0-AD234E2E6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Google Search</a:t>
            </a:r>
          </a:p>
          <a:p>
            <a:pPr marL="0" indent="0">
              <a:buNone/>
            </a:pPr>
            <a:r>
              <a:rPr lang="en-US" b="1" dirty="0"/>
              <a:t>Why success? </a:t>
            </a:r>
          </a:p>
          <a:p>
            <a:pPr marL="0" indent="0">
              <a:buNone/>
            </a:pPr>
            <a:r>
              <a:rPr lang="en-US" dirty="0"/>
              <a:t>Highly scalable, extremely fast, constantly optimized algorithms, and strong </a:t>
            </a:r>
            <a:r>
              <a:rPr lang="en-US" dirty="0" err="1"/>
              <a:t>infrastructure.Continuous</a:t>
            </a:r>
            <a:r>
              <a:rPr lang="en-US" dirty="0"/>
              <a:t> innovation (PageRank → AI search).</a:t>
            </a:r>
          </a:p>
          <a:p>
            <a:pPr marL="0" indent="0">
              <a:buNone/>
            </a:pPr>
            <a:r>
              <a:rPr lang="en-US" b="1" dirty="0"/>
              <a:t>Facebook (Meta)</a:t>
            </a:r>
          </a:p>
          <a:p>
            <a:pPr marL="0" indent="0">
              <a:buNone/>
            </a:pPr>
            <a:r>
              <a:rPr lang="en-US" b="1" dirty="0"/>
              <a:t>Why success? </a:t>
            </a:r>
          </a:p>
          <a:p>
            <a:pPr marL="0" indent="0">
              <a:buNone/>
            </a:pPr>
            <a:r>
              <a:rPr lang="en-US" dirty="0"/>
              <a:t>Engineered to handle billions of users </a:t>
            </a:r>
            <a:r>
              <a:rPr lang="en-US" dirty="0" err="1"/>
              <a:t>smoothly.Strong</a:t>
            </a:r>
            <a:r>
              <a:rPr lang="en-US" dirty="0"/>
              <a:t> scalability + developer tools + continuous feature updates.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F4654-AF4B-4016-B190-23E5981D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42E268-9FF9-487F-BEA0-90F5DE495349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6FED2-0C89-41B5-A307-752319BCD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BDE50-969D-43A3-9974-9AE9DF8D4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62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4999-CEF3-4BA5-8123-838066EFE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70D98-C05C-48C3-B17F-BA49FBBC5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Analyse the following software and determine how successful or unsuccessful they are. Also, explain the reasons behind their success or failure.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Windows Vista 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WhatsApp 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Google+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Microsoft Office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Amazon (E-commerce Platform &amp; AWS)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Yahoo Messenger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Windows Phone OS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600D9-D4EC-46EA-8764-17A76D98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42E268-9FF9-487F-BEA0-90F5DE495349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87103-C50D-446F-8432-ED3E96601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1965E-142D-41E7-A2B8-9B4769EF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CA143-544A-4A15-A433-D0FA028FC3E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556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9471</TotalTime>
  <Words>1423</Words>
  <Application>Microsoft Office PowerPoint</Application>
  <PresentationFormat>On-screen Show (4:3)</PresentationFormat>
  <Paragraphs>231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 </vt:lpstr>
      <vt:lpstr>Calibri</vt:lpstr>
      <vt:lpstr>Georgia</vt:lpstr>
      <vt:lpstr>Segoe UI Symbol</vt:lpstr>
      <vt:lpstr>Times New Roman</vt:lpstr>
      <vt:lpstr>Wingdings</vt:lpstr>
      <vt:lpstr>Clarity</vt:lpstr>
      <vt:lpstr>     SE203 –Software Engineering  </vt:lpstr>
      <vt:lpstr>Course Objectives</vt:lpstr>
      <vt:lpstr>What is Software?</vt:lpstr>
      <vt:lpstr>What is Software?</vt:lpstr>
      <vt:lpstr>What is Software?</vt:lpstr>
      <vt:lpstr>Role of Software </vt:lpstr>
      <vt:lpstr>PowerPoint Presentation</vt:lpstr>
      <vt:lpstr>Attributes of Good Software</vt:lpstr>
      <vt:lpstr>Categories of Computer Software</vt:lpstr>
      <vt:lpstr>Software--- New Categories</vt:lpstr>
      <vt:lpstr>Software Products</vt:lpstr>
      <vt:lpstr>Software Crises</vt:lpstr>
      <vt:lpstr>Software Crises</vt:lpstr>
      <vt:lpstr>What is Engineering?</vt:lpstr>
      <vt:lpstr>Software Engineering</vt:lpstr>
      <vt:lpstr>Software Engineering - IEEE</vt:lpstr>
      <vt:lpstr>Computer Science vs. Software Engineering</vt:lpstr>
      <vt:lpstr>Legacy Software</vt:lpstr>
      <vt:lpstr>Software Costs</vt:lpstr>
      <vt:lpstr>What are the costs of software engineering?</vt:lpstr>
      <vt:lpstr> Friendster (2002 – 2011)</vt:lpstr>
      <vt:lpstr>2. BlackBerry OS (1999 – 2013)</vt:lpstr>
      <vt:lpstr>3. Nokia’s Symbian OS (1997 – 2014)</vt:lpstr>
      <vt:lpstr>Successful Software Stories</vt:lpstr>
      <vt:lpstr>Activity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sidra</dc:creator>
  <cp:lastModifiedBy>Ayesha Zaheer</cp:lastModifiedBy>
  <cp:revision>285</cp:revision>
  <dcterms:created xsi:type="dcterms:W3CDTF">2008-08-13T03:46:03Z</dcterms:created>
  <dcterms:modified xsi:type="dcterms:W3CDTF">2026-02-23T06:04:00Z</dcterms:modified>
</cp:coreProperties>
</file>