
<file path=[Content_Types].xml><?xml version="1.0" encoding="utf-8"?>
<Types xmlns="http://schemas.openxmlformats.org/package/2006/content-types">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media/image9.pdf" ContentType="application/pdf"/>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7"/>
  </p:notesMasterIdLst>
  <p:sldIdLst>
    <p:sldId id="256" r:id="rId3"/>
    <p:sldId id="356" r:id="rId4"/>
    <p:sldId id="357" r:id="rId5"/>
    <p:sldId id="359" r:id="rId6"/>
    <p:sldId id="360" r:id="rId7"/>
    <p:sldId id="361" r:id="rId8"/>
    <p:sldId id="352" r:id="rId9"/>
    <p:sldId id="353" r:id="rId10"/>
    <p:sldId id="354" r:id="rId11"/>
    <p:sldId id="365" r:id="rId12"/>
    <p:sldId id="366" r:id="rId13"/>
    <p:sldId id="309" r:id="rId14"/>
    <p:sldId id="310" r:id="rId15"/>
    <p:sldId id="311" r:id="rId16"/>
    <p:sldId id="312" r:id="rId18"/>
    <p:sldId id="313" r:id="rId19"/>
    <p:sldId id="314" r:id="rId20"/>
    <p:sldId id="315" r:id="rId21"/>
    <p:sldId id="316" r:id="rId22"/>
    <p:sldId id="317" r:id="rId23"/>
    <p:sldId id="318" r:id="rId24"/>
    <p:sldId id="364" r:id="rId25"/>
    <p:sldId id="320" r:id="rId26"/>
    <p:sldId id="321" r:id="rId27"/>
    <p:sldId id="322" r:id="rId28"/>
    <p:sldId id="323" r:id="rId29"/>
    <p:sldId id="324" r:id="rId30"/>
    <p:sldId id="325" r:id="rId31"/>
    <p:sldId id="326" r:id="rId32"/>
    <p:sldId id="327" r:id="rId33"/>
    <p:sldId id="328" r:id="rId34"/>
    <p:sldId id="329" r:id="rId35"/>
    <p:sldId id="330" r:id="rId36"/>
    <p:sldId id="331" r:id="rId37"/>
    <p:sldId id="332" r:id="rId38"/>
    <p:sldId id="333" r:id="rId39"/>
    <p:sldId id="334" r:id="rId40"/>
    <p:sldId id="335" r:id="rId41"/>
    <p:sldId id="336" r:id="rId42"/>
    <p:sldId id="337" r:id="rId43"/>
    <p:sldId id="261" r:id="rId44"/>
    <p:sldId id="262" r:id="rId45"/>
    <p:sldId id="341" r:id="rId46"/>
    <p:sldId id="340" r:id="rId47"/>
    <p:sldId id="339" r:id="rId48"/>
    <p:sldId id="338" r:id="rId49"/>
    <p:sldId id="342" r:id="rId50"/>
    <p:sldId id="343" r:id="rId51"/>
    <p:sldId id="344" r:id="rId52"/>
    <p:sldId id="345" r:id="rId53"/>
    <p:sldId id="346" r:id="rId54"/>
    <p:sldId id="271" r:id="rId55"/>
    <p:sldId id="272" r:id="rId56"/>
    <p:sldId id="350" r:id="rId57"/>
    <p:sldId id="347" r:id="rId58"/>
    <p:sldId id="348" r:id="rId59"/>
    <p:sldId id="349" r:id="rId60"/>
    <p:sldId id="351" r:id="rId61"/>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194" autoAdjust="0"/>
    <p:restoredTop sz="89680" autoAdjust="0"/>
  </p:normalViewPr>
  <p:slideViewPr>
    <p:cSldViewPr showGuides="1">
      <p:cViewPr varScale="1">
        <p:scale>
          <a:sx n="80" d="100"/>
          <a:sy n="80" d="100"/>
        </p:scale>
        <p:origin x="139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94"/>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4" Type="http://schemas.openxmlformats.org/officeDocument/2006/relationships/tableStyles" Target="tableStyles.xml"/><Relationship Id="rId63" Type="http://schemas.openxmlformats.org/officeDocument/2006/relationships/viewProps" Target="viewProps.xml"/><Relationship Id="rId62" Type="http://schemas.openxmlformats.org/officeDocument/2006/relationships/presProps" Target="presProps.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66A4089-EB80-4C00-96ED-EB51D01B424F}" type="doc">
      <dgm:prSet loTypeId="urn:microsoft.com/office/officeart/2005/8/layout/cycle2" loCatId="cycle" qsTypeId="urn:microsoft.com/office/officeart/2005/8/quickstyle/simple1" qsCatId="simple" csTypeId="urn:microsoft.com/office/officeart/2005/8/colors/colorful1#2" csCatId="colorful" phldr="1"/>
      <dgm:spPr/>
      <dgm:t>
        <a:bodyPr/>
        <a:lstStyle/>
        <a:p>
          <a:endParaRPr lang="en-US"/>
        </a:p>
      </dgm:t>
    </dgm:pt>
    <dgm:pt modelId="{5CB5BCFA-E402-4E40-963D-50B88D8C8CA4}">
      <dgm:prSet phldrT="[Text]" custT="1"/>
      <dgm:spPr/>
      <dgm:t>
        <a:bodyPr/>
        <a:lstStyle/>
        <a:p>
          <a:r>
            <a:rPr lang="en-US" sz="1800" b="1" dirty="0"/>
            <a:t>1 / 4</a:t>
          </a:r>
        </a:p>
        <a:p>
          <a:r>
            <a:rPr lang="en-US" sz="1800" dirty="0"/>
            <a:t>Listen to Customer</a:t>
          </a:r>
        </a:p>
      </dgm:t>
    </dgm:pt>
    <dgm:pt modelId="{3337E42A-ABD9-4A28-B61A-A77B58471EB3}" cxnId="{B11A7C3D-A541-41CF-A6D4-816F77D9499E}" type="parTrans">
      <dgm:prSet/>
      <dgm:spPr/>
      <dgm:t>
        <a:bodyPr/>
        <a:lstStyle/>
        <a:p>
          <a:endParaRPr lang="en-US" sz="1800"/>
        </a:p>
      </dgm:t>
    </dgm:pt>
    <dgm:pt modelId="{F8D54FD3-E944-4843-B5C9-682B5E40E819}" cxnId="{B11A7C3D-A541-41CF-A6D4-816F77D9499E}" type="sibTrans">
      <dgm:prSet custT="1"/>
      <dgm:spPr/>
      <dgm:t>
        <a:bodyPr/>
        <a:lstStyle/>
        <a:p>
          <a:endParaRPr lang="en-US" sz="1800"/>
        </a:p>
      </dgm:t>
    </dgm:pt>
    <dgm:pt modelId="{4760321F-CC14-4F98-805F-4B80B2694993}">
      <dgm:prSet phldrT="[Text]" custT="1"/>
      <dgm:spPr/>
      <dgm:t>
        <a:bodyPr/>
        <a:lstStyle/>
        <a:p>
          <a:r>
            <a:rPr lang="en-US" sz="1800" b="1" dirty="0"/>
            <a:t>2</a:t>
          </a:r>
        </a:p>
        <a:p>
          <a:r>
            <a:rPr lang="en-US" sz="1800" dirty="0"/>
            <a:t>Build / Revise prototypes</a:t>
          </a:r>
        </a:p>
      </dgm:t>
    </dgm:pt>
    <dgm:pt modelId="{C9F7B93F-980C-45A0-9B40-A8B1A8620952}" cxnId="{423B4813-A121-48F9-8DEC-9AC7414411F7}" type="parTrans">
      <dgm:prSet/>
      <dgm:spPr/>
      <dgm:t>
        <a:bodyPr/>
        <a:lstStyle/>
        <a:p>
          <a:endParaRPr lang="en-US" sz="1800"/>
        </a:p>
      </dgm:t>
    </dgm:pt>
    <dgm:pt modelId="{B898701E-7F79-4E1E-94A9-A801B7524686}" cxnId="{423B4813-A121-48F9-8DEC-9AC7414411F7}" type="sibTrans">
      <dgm:prSet custT="1"/>
      <dgm:spPr/>
      <dgm:t>
        <a:bodyPr/>
        <a:lstStyle/>
        <a:p>
          <a:endParaRPr lang="en-US" sz="1800"/>
        </a:p>
      </dgm:t>
    </dgm:pt>
    <dgm:pt modelId="{DCC57EA6-C532-4616-A799-D0DB48A91476}">
      <dgm:prSet phldrT="[Text]" custT="1"/>
      <dgm:spPr/>
      <dgm:t>
        <a:bodyPr/>
        <a:lstStyle/>
        <a:p>
          <a:r>
            <a:rPr lang="en-US" sz="1800" b="1" dirty="0"/>
            <a:t>3</a:t>
          </a:r>
        </a:p>
        <a:p>
          <a:r>
            <a:rPr lang="en-US" sz="1800" dirty="0"/>
            <a:t>Customer Test-Drives prototypes</a:t>
          </a:r>
        </a:p>
      </dgm:t>
    </dgm:pt>
    <dgm:pt modelId="{11BD3362-5361-47DE-B0F3-6A9D43DAEAEF}" cxnId="{7CD9418B-745F-4B3F-A65F-D767BEC94A62}" type="parTrans">
      <dgm:prSet/>
      <dgm:spPr/>
      <dgm:t>
        <a:bodyPr/>
        <a:lstStyle/>
        <a:p>
          <a:endParaRPr lang="en-US" sz="1800"/>
        </a:p>
      </dgm:t>
    </dgm:pt>
    <dgm:pt modelId="{5FF5B679-9B31-430A-AB7C-595231080B5B}" cxnId="{7CD9418B-745F-4B3F-A65F-D767BEC94A62}" type="sibTrans">
      <dgm:prSet custT="1"/>
      <dgm:spPr/>
      <dgm:t>
        <a:bodyPr/>
        <a:lstStyle/>
        <a:p>
          <a:endParaRPr lang="en-US" sz="1800"/>
        </a:p>
      </dgm:t>
    </dgm:pt>
    <dgm:pt modelId="{12561789-D27D-41CA-A03D-758B70A5976C}" type="pres">
      <dgm:prSet presAssocID="{566A4089-EB80-4C00-96ED-EB51D01B424F}" presName="cycle" presStyleCnt="0">
        <dgm:presLayoutVars>
          <dgm:dir/>
          <dgm:resizeHandles val="exact"/>
        </dgm:presLayoutVars>
      </dgm:prSet>
      <dgm:spPr/>
    </dgm:pt>
    <dgm:pt modelId="{FF5EE7E0-5D46-4BC3-B157-9314EF8FB781}" type="pres">
      <dgm:prSet presAssocID="{5CB5BCFA-E402-4E40-963D-50B88D8C8CA4}" presName="node" presStyleLbl="node1" presStyleIdx="0" presStyleCnt="3">
        <dgm:presLayoutVars>
          <dgm:bulletEnabled val="1"/>
        </dgm:presLayoutVars>
      </dgm:prSet>
      <dgm:spPr/>
    </dgm:pt>
    <dgm:pt modelId="{23ECFE79-0D2F-46EE-8635-98A17BBF6AAB}" type="pres">
      <dgm:prSet presAssocID="{F8D54FD3-E944-4843-B5C9-682B5E40E819}" presName="sibTrans" presStyleLbl="sibTrans2D1" presStyleIdx="0" presStyleCnt="3"/>
      <dgm:spPr/>
    </dgm:pt>
    <dgm:pt modelId="{48E9BB70-3465-406D-8845-4B6AE3BA7CFD}" type="pres">
      <dgm:prSet presAssocID="{F8D54FD3-E944-4843-B5C9-682B5E40E819}" presName="connectorText" presStyleLbl="sibTrans2D1" presStyleIdx="0" presStyleCnt="3"/>
      <dgm:spPr/>
    </dgm:pt>
    <dgm:pt modelId="{5375E26C-0C66-4582-8599-ECDF237398B3}" type="pres">
      <dgm:prSet presAssocID="{4760321F-CC14-4F98-805F-4B80B2694993}" presName="node" presStyleLbl="node1" presStyleIdx="1" presStyleCnt="3">
        <dgm:presLayoutVars>
          <dgm:bulletEnabled val="1"/>
        </dgm:presLayoutVars>
      </dgm:prSet>
      <dgm:spPr/>
    </dgm:pt>
    <dgm:pt modelId="{60CDF216-4C2E-437D-9D4E-4B452E1DFD41}" type="pres">
      <dgm:prSet presAssocID="{B898701E-7F79-4E1E-94A9-A801B7524686}" presName="sibTrans" presStyleLbl="sibTrans2D1" presStyleIdx="1" presStyleCnt="3"/>
      <dgm:spPr/>
    </dgm:pt>
    <dgm:pt modelId="{F2ACAA5E-E96C-4C54-8272-0ADAD12FB5A6}" type="pres">
      <dgm:prSet presAssocID="{B898701E-7F79-4E1E-94A9-A801B7524686}" presName="connectorText" presStyleLbl="sibTrans2D1" presStyleIdx="1" presStyleCnt="3"/>
      <dgm:spPr/>
    </dgm:pt>
    <dgm:pt modelId="{6215B8DE-CCA5-4B58-BC75-2CDB805870F0}" type="pres">
      <dgm:prSet presAssocID="{DCC57EA6-C532-4616-A799-D0DB48A91476}" presName="node" presStyleLbl="node1" presStyleIdx="2" presStyleCnt="3">
        <dgm:presLayoutVars>
          <dgm:bulletEnabled val="1"/>
        </dgm:presLayoutVars>
      </dgm:prSet>
      <dgm:spPr/>
    </dgm:pt>
    <dgm:pt modelId="{ACD3529C-CD4F-41AD-BBC8-CF9727AA57C4}" type="pres">
      <dgm:prSet presAssocID="{5FF5B679-9B31-430A-AB7C-595231080B5B}" presName="sibTrans" presStyleLbl="sibTrans2D1" presStyleIdx="2" presStyleCnt="3"/>
      <dgm:spPr/>
    </dgm:pt>
    <dgm:pt modelId="{63A4A43E-BDE3-4BC0-9367-74ED48FA699B}" type="pres">
      <dgm:prSet presAssocID="{5FF5B679-9B31-430A-AB7C-595231080B5B}" presName="connectorText" presStyleLbl="sibTrans2D1" presStyleIdx="2" presStyleCnt="3"/>
      <dgm:spPr/>
    </dgm:pt>
  </dgm:ptLst>
  <dgm:cxnLst>
    <dgm:cxn modelId="{423B4813-A121-48F9-8DEC-9AC7414411F7}" srcId="{566A4089-EB80-4C00-96ED-EB51D01B424F}" destId="{4760321F-CC14-4F98-805F-4B80B2694993}" srcOrd="1" destOrd="0" parTransId="{C9F7B93F-980C-45A0-9B40-A8B1A8620952}" sibTransId="{B898701E-7F79-4E1E-94A9-A801B7524686}"/>
    <dgm:cxn modelId="{AD6DD934-9AF2-4046-9BB3-055A6C22A1A5}" type="presOf" srcId="{5FF5B679-9B31-430A-AB7C-595231080B5B}" destId="{63A4A43E-BDE3-4BC0-9367-74ED48FA699B}" srcOrd="1" destOrd="0" presId="urn:microsoft.com/office/officeart/2005/8/layout/cycle2"/>
    <dgm:cxn modelId="{B11A7C3D-A541-41CF-A6D4-816F77D9499E}" srcId="{566A4089-EB80-4C00-96ED-EB51D01B424F}" destId="{5CB5BCFA-E402-4E40-963D-50B88D8C8CA4}" srcOrd="0" destOrd="0" parTransId="{3337E42A-ABD9-4A28-B61A-A77B58471EB3}" sibTransId="{F8D54FD3-E944-4843-B5C9-682B5E40E819}"/>
    <dgm:cxn modelId="{8CAE1A6D-22DB-4A2B-961C-8089E2C345F7}" type="presOf" srcId="{5FF5B679-9B31-430A-AB7C-595231080B5B}" destId="{ACD3529C-CD4F-41AD-BBC8-CF9727AA57C4}" srcOrd="0" destOrd="0" presId="urn:microsoft.com/office/officeart/2005/8/layout/cycle2"/>
    <dgm:cxn modelId="{CD5A3D55-B9C9-47F7-AA76-235785D8EED3}" type="presOf" srcId="{F8D54FD3-E944-4843-B5C9-682B5E40E819}" destId="{23ECFE79-0D2F-46EE-8635-98A17BBF6AAB}" srcOrd="0" destOrd="0" presId="urn:microsoft.com/office/officeart/2005/8/layout/cycle2"/>
    <dgm:cxn modelId="{90116281-B8E0-4627-A2CA-F332C6AD19B6}" type="presOf" srcId="{B898701E-7F79-4E1E-94A9-A801B7524686}" destId="{F2ACAA5E-E96C-4C54-8272-0ADAD12FB5A6}" srcOrd="1" destOrd="0" presId="urn:microsoft.com/office/officeart/2005/8/layout/cycle2"/>
    <dgm:cxn modelId="{7CD9418B-745F-4B3F-A65F-D767BEC94A62}" srcId="{566A4089-EB80-4C00-96ED-EB51D01B424F}" destId="{DCC57EA6-C532-4616-A799-D0DB48A91476}" srcOrd="2" destOrd="0" parTransId="{11BD3362-5361-47DE-B0F3-6A9D43DAEAEF}" sibTransId="{5FF5B679-9B31-430A-AB7C-595231080B5B}"/>
    <dgm:cxn modelId="{D2E82CB2-7083-43FD-B555-B92C1D554472}" type="presOf" srcId="{DCC57EA6-C532-4616-A799-D0DB48A91476}" destId="{6215B8DE-CCA5-4B58-BC75-2CDB805870F0}" srcOrd="0" destOrd="0" presId="urn:microsoft.com/office/officeart/2005/8/layout/cycle2"/>
    <dgm:cxn modelId="{290BB6C9-B952-4D30-8D70-5C6A116A8A0A}" type="presOf" srcId="{5CB5BCFA-E402-4E40-963D-50B88D8C8CA4}" destId="{FF5EE7E0-5D46-4BC3-B157-9314EF8FB781}" srcOrd="0" destOrd="0" presId="urn:microsoft.com/office/officeart/2005/8/layout/cycle2"/>
    <dgm:cxn modelId="{413EF1CD-BE53-4939-922A-D6EAB1DD3249}" type="presOf" srcId="{F8D54FD3-E944-4843-B5C9-682B5E40E819}" destId="{48E9BB70-3465-406D-8845-4B6AE3BA7CFD}" srcOrd="1" destOrd="0" presId="urn:microsoft.com/office/officeart/2005/8/layout/cycle2"/>
    <dgm:cxn modelId="{990AAAD9-F8A3-4EA1-AED8-12C2867B72C7}" type="presOf" srcId="{4760321F-CC14-4F98-805F-4B80B2694993}" destId="{5375E26C-0C66-4582-8599-ECDF237398B3}" srcOrd="0" destOrd="0" presId="urn:microsoft.com/office/officeart/2005/8/layout/cycle2"/>
    <dgm:cxn modelId="{EC1DBDEA-156A-4F61-B9BA-F2BE1FC68A39}" type="presOf" srcId="{566A4089-EB80-4C00-96ED-EB51D01B424F}" destId="{12561789-D27D-41CA-A03D-758B70A5976C}" srcOrd="0" destOrd="0" presId="urn:microsoft.com/office/officeart/2005/8/layout/cycle2"/>
    <dgm:cxn modelId="{969A6FEB-A352-4CAE-AC9E-90D770EB8517}" type="presOf" srcId="{B898701E-7F79-4E1E-94A9-A801B7524686}" destId="{60CDF216-4C2E-437D-9D4E-4B452E1DFD41}" srcOrd="0" destOrd="0" presId="urn:microsoft.com/office/officeart/2005/8/layout/cycle2"/>
    <dgm:cxn modelId="{5AB5F4D4-8AB9-459D-8346-BFFF9A0ADC22}" type="presParOf" srcId="{12561789-D27D-41CA-A03D-758B70A5976C}" destId="{FF5EE7E0-5D46-4BC3-B157-9314EF8FB781}" srcOrd="0" destOrd="0" presId="urn:microsoft.com/office/officeart/2005/8/layout/cycle2"/>
    <dgm:cxn modelId="{91237444-B575-411B-BE93-098840AE613E}" type="presParOf" srcId="{12561789-D27D-41CA-A03D-758B70A5976C}" destId="{23ECFE79-0D2F-46EE-8635-98A17BBF6AAB}" srcOrd="1" destOrd="0" presId="urn:microsoft.com/office/officeart/2005/8/layout/cycle2"/>
    <dgm:cxn modelId="{22F7B3A1-5DC8-4ABA-9960-05D7769C5928}" type="presParOf" srcId="{23ECFE79-0D2F-46EE-8635-98A17BBF6AAB}" destId="{48E9BB70-3465-406D-8845-4B6AE3BA7CFD}" srcOrd="0" destOrd="0" presId="urn:microsoft.com/office/officeart/2005/8/layout/cycle2"/>
    <dgm:cxn modelId="{BC0ABEC4-1AFA-48B0-AF33-82668EF302A5}" type="presParOf" srcId="{12561789-D27D-41CA-A03D-758B70A5976C}" destId="{5375E26C-0C66-4582-8599-ECDF237398B3}" srcOrd="2" destOrd="0" presId="urn:microsoft.com/office/officeart/2005/8/layout/cycle2"/>
    <dgm:cxn modelId="{15FA6305-00BB-44D3-91C8-B763250E3DC1}" type="presParOf" srcId="{12561789-D27D-41CA-A03D-758B70A5976C}" destId="{60CDF216-4C2E-437D-9D4E-4B452E1DFD41}" srcOrd="3" destOrd="0" presId="urn:microsoft.com/office/officeart/2005/8/layout/cycle2"/>
    <dgm:cxn modelId="{D3638642-3148-4CB3-AB20-9700B74FADDF}" type="presParOf" srcId="{60CDF216-4C2E-437D-9D4E-4B452E1DFD41}" destId="{F2ACAA5E-E96C-4C54-8272-0ADAD12FB5A6}" srcOrd="0" destOrd="0" presId="urn:microsoft.com/office/officeart/2005/8/layout/cycle2"/>
    <dgm:cxn modelId="{3560FBED-7D11-48A1-B5C0-2E0B61681564}" type="presParOf" srcId="{12561789-D27D-41CA-A03D-758B70A5976C}" destId="{6215B8DE-CCA5-4B58-BC75-2CDB805870F0}" srcOrd="4" destOrd="0" presId="urn:microsoft.com/office/officeart/2005/8/layout/cycle2"/>
    <dgm:cxn modelId="{23913FAF-E5CE-43EA-AD78-278D89AA8874}" type="presParOf" srcId="{12561789-D27D-41CA-A03D-758B70A5976C}" destId="{ACD3529C-CD4F-41AD-BBC8-CF9727AA57C4}" srcOrd="5" destOrd="0" presId="urn:microsoft.com/office/officeart/2005/8/layout/cycle2"/>
    <dgm:cxn modelId="{687821C2-0C05-4C11-B830-CA79E8D140B5}" type="presParOf" srcId="{ACD3529C-CD4F-41AD-BBC8-CF9727AA57C4}" destId="{63A4A43E-BDE3-4BC0-9367-74ED48FA699B}" srcOrd="0" destOrd="0" presId="urn:microsoft.com/office/officeart/2005/8/layout/cycle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5EE7E0-5D46-4BC3-B157-9314EF8FB781}">
      <dsp:nvSpPr>
        <dsp:cNvPr id="0" name=""/>
        <dsp:cNvSpPr/>
      </dsp:nvSpPr>
      <dsp:spPr>
        <a:xfrm>
          <a:off x="2521669" y="1085"/>
          <a:ext cx="2119461" cy="2119461"/>
        </a:xfrm>
        <a:prstGeom prst="ellipse">
          <a:avLst/>
        </a:prstGeom>
        <a:solidFill>
          <a:schemeClr val="accent2">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1 / 4</a:t>
          </a:r>
        </a:p>
        <a:p>
          <a:pPr marL="0" lvl="0" indent="0" algn="ctr" defTabSz="800100">
            <a:lnSpc>
              <a:spcPct val="90000"/>
            </a:lnSpc>
            <a:spcBef>
              <a:spcPct val="0"/>
            </a:spcBef>
            <a:spcAft>
              <a:spcPct val="35000"/>
            </a:spcAft>
            <a:buNone/>
          </a:pPr>
          <a:r>
            <a:rPr lang="en-US" sz="1800" kern="1200" dirty="0"/>
            <a:t>Listen to Customer</a:t>
          </a:r>
        </a:p>
      </dsp:txBody>
      <dsp:txXfrm>
        <a:off x="2832057" y="311473"/>
        <a:ext cx="1498685" cy="1498685"/>
      </dsp:txXfrm>
    </dsp:sp>
    <dsp:sp modelId="{23ECFE79-0D2F-46EE-8635-98A17BBF6AAB}">
      <dsp:nvSpPr>
        <dsp:cNvPr id="0" name=""/>
        <dsp:cNvSpPr/>
      </dsp:nvSpPr>
      <dsp:spPr>
        <a:xfrm rot="3600000">
          <a:off x="4087371" y="2066945"/>
          <a:ext cx="562824" cy="715318"/>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4129583" y="2136896"/>
        <a:ext cx="393977" cy="429190"/>
      </dsp:txXfrm>
    </dsp:sp>
    <dsp:sp modelId="{5375E26C-0C66-4582-8599-ECDF237398B3}">
      <dsp:nvSpPr>
        <dsp:cNvPr id="0" name=""/>
        <dsp:cNvSpPr/>
      </dsp:nvSpPr>
      <dsp:spPr>
        <a:xfrm>
          <a:off x="4112366" y="2756253"/>
          <a:ext cx="2119461" cy="2119461"/>
        </a:xfrm>
        <a:prstGeom prst="ellipse">
          <a:avLst/>
        </a:prstGeom>
        <a:solidFill>
          <a:schemeClr val="accent3">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2</a:t>
          </a:r>
        </a:p>
        <a:p>
          <a:pPr marL="0" lvl="0" indent="0" algn="ctr" defTabSz="800100">
            <a:lnSpc>
              <a:spcPct val="90000"/>
            </a:lnSpc>
            <a:spcBef>
              <a:spcPct val="0"/>
            </a:spcBef>
            <a:spcAft>
              <a:spcPct val="35000"/>
            </a:spcAft>
            <a:buNone/>
          </a:pPr>
          <a:r>
            <a:rPr lang="en-US" sz="1800" kern="1200" dirty="0"/>
            <a:t>Build / Revise prototypes</a:t>
          </a:r>
        </a:p>
      </dsp:txBody>
      <dsp:txXfrm>
        <a:off x="4422754" y="3066641"/>
        <a:ext cx="1498685" cy="1498685"/>
      </dsp:txXfrm>
    </dsp:sp>
    <dsp:sp modelId="{60CDF216-4C2E-437D-9D4E-4B452E1DFD41}">
      <dsp:nvSpPr>
        <dsp:cNvPr id="0" name=""/>
        <dsp:cNvSpPr/>
      </dsp:nvSpPr>
      <dsp:spPr>
        <a:xfrm rot="10800000">
          <a:off x="3315916" y="3458324"/>
          <a:ext cx="562824" cy="715318"/>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rot="10800000">
        <a:off x="3484763" y="3601388"/>
        <a:ext cx="393977" cy="429190"/>
      </dsp:txXfrm>
    </dsp:sp>
    <dsp:sp modelId="{6215B8DE-CCA5-4B58-BC75-2CDB805870F0}">
      <dsp:nvSpPr>
        <dsp:cNvPr id="0" name=""/>
        <dsp:cNvSpPr/>
      </dsp:nvSpPr>
      <dsp:spPr>
        <a:xfrm>
          <a:off x="930972" y="2756253"/>
          <a:ext cx="2119461" cy="2119461"/>
        </a:xfrm>
        <a:prstGeom prst="ellipse">
          <a:avLst/>
        </a:prstGeom>
        <a:solidFill>
          <a:schemeClr val="accent4">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3</a:t>
          </a:r>
        </a:p>
        <a:p>
          <a:pPr marL="0" lvl="0" indent="0" algn="ctr" defTabSz="800100">
            <a:lnSpc>
              <a:spcPct val="90000"/>
            </a:lnSpc>
            <a:spcBef>
              <a:spcPct val="0"/>
            </a:spcBef>
            <a:spcAft>
              <a:spcPct val="35000"/>
            </a:spcAft>
            <a:buNone/>
          </a:pPr>
          <a:r>
            <a:rPr lang="en-US" sz="1800" kern="1200" dirty="0"/>
            <a:t>Customer Test-Drives prototypes</a:t>
          </a:r>
        </a:p>
      </dsp:txBody>
      <dsp:txXfrm>
        <a:off x="1241360" y="3066641"/>
        <a:ext cx="1498685" cy="1498685"/>
      </dsp:txXfrm>
    </dsp:sp>
    <dsp:sp modelId="{ACD3529C-CD4F-41AD-BBC8-CF9727AA57C4}">
      <dsp:nvSpPr>
        <dsp:cNvPr id="0" name=""/>
        <dsp:cNvSpPr/>
      </dsp:nvSpPr>
      <dsp:spPr>
        <a:xfrm rot="18000000">
          <a:off x="2496675" y="2094535"/>
          <a:ext cx="562824" cy="715318"/>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2538887" y="2310712"/>
        <a:ext cx="393977" cy="429190"/>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27A62E0A-EBD3-48BD-911D-BA55EA318C0D}" type="datetimeFigureOut">
              <a:rPr lang="en-US"/>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44B4D39A-D25D-480D-AB96-A08967E40829}" type="slidenum">
              <a:rPr lang="en-US"/>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5"/>
        <p:cNvGrpSpPr/>
        <p:nvPr/>
      </p:nvGrpSpPr>
      <p:grpSpPr>
        <a:xfrm>
          <a:off x="0" y="0"/>
          <a:ext cx="0" cy="0"/>
          <a:chOff x="0" y="0"/>
          <a:chExt cx="0" cy="0"/>
        </a:xfrm>
      </p:grpSpPr>
      <p:sp>
        <p:nvSpPr>
          <p:cNvPr id="176" name="Shape 17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p>
        </p:txBody>
      </p:sp>
      <p:sp>
        <p:nvSpPr>
          <p:cNvPr id="177" name="Shape 17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2"/>
        <p:cNvGrpSpPr/>
        <p:nvPr/>
      </p:nvGrpSpPr>
      <p:grpSpPr>
        <a:xfrm>
          <a:off x="0" y="0"/>
          <a:ext cx="0" cy="0"/>
          <a:chOff x="0" y="0"/>
          <a:chExt cx="0" cy="0"/>
        </a:xfrm>
      </p:grpSpPr>
      <p:sp>
        <p:nvSpPr>
          <p:cNvPr id="183" name="Shape 18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p>
        </p:txBody>
      </p:sp>
      <p:sp>
        <p:nvSpPr>
          <p:cNvPr id="184" name="Shape 18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AFC1204E-B032-40E1-935F-DBF6836E3275}"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a:t>CSC291 - Software Engineering Concepts</a:t>
            </a:r>
            <a:endParaRPr lang="en-US"/>
          </a:p>
        </p:txBody>
      </p:sp>
      <p:sp>
        <p:nvSpPr>
          <p:cNvPr id="6" name="Slide Number Placeholder 5"/>
          <p:cNvSpPr>
            <a:spLocks noGrp="1"/>
          </p:cNvSpPr>
          <p:nvPr>
            <p:ph type="sldNum" sz="quarter" idx="12"/>
          </p:nvPr>
        </p:nvSpPr>
        <p:spPr/>
        <p:txBody>
          <a:bodyPr/>
          <a:lstStyle/>
          <a:p>
            <a:pPr>
              <a:defRPr/>
            </a:pPr>
            <a:fld id="{B0A5AE0D-353C-4AC8-9449-69705DA3A7AB}" type="slidenum">
              <a:rPr lang="en-US" smtClean="0"/>
            </a:fld>
            <a:endParaRPr lang="en-US"/>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pPr>
              <a:defRPr/>
            </a:pPr>
            <a:fld id="{959FC17E-CE7D-4135-90EF-31A0B3A270BB}"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a:t>CSC291 - Software Engineering Concepts</a:t>
            </a:r>
            <a:endParaRPr lang="en-US"/>
          </a:p>
        </p:txBody>
      </p:sp>
      <p:sp>
        <p:nvSpPr>
          <p:cNvPr id="6" name="Slide Number Placeholder 5"/>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a:defRPr/>
            </a:pPr>
            <a:fld id="{BB97678A-AA3C-4D05-9AFA-A3BA9451543A}"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a:t>CSC291 - Software Engineering Concepts</a:t>
            </a:r>
            <a:endParaRPr lang="en-US"/>
          </a:p>
        </p:txBody>
      </p:sp>
      <p:sp>
        <p:nvSpPr>
          <p:cNvPr id="6" name="Slide Number Placeholder 5"/>
          <p:cNvSpPr>
            <a:spLocks noGrp="1"/>
          </p:cNvSpPr>
          <p:nvPr>
            <p:ph type="sldNum" sz="quarter" idx="12"/>
          </p:nvPr>
        </p:nvSpPr>
        <p:spPr/>
        <p:txBody>
          <a:bodyPr/>
          <a:lstStyle/>
          <a:p>
            <a:pPr>
              <a:defRPr/>
            </a:pPr>
            <a:fld id="{486259D8-7B11-4556-B89D-CF5053D9705A}" type="slidenum">
              <a:rPr lang="en-US" smtClean="0"/>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22F9A0E5-E30D-4F51-B473-2E5D8D5CE2DB}"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a:t>CSC291 - Software Engineering Concepts</a:t>
            </a:r>
            <a:endParaRPr lang="en-US"/>
          </a:p>
        </p:txBody>
      </p:sp>
      <p:sp>
        <p:nvSpPr>
          <p:cNvPr id="7" name="Slide Number Placeholder 6"/>
          <p:cNvSpPr>
            <a:spLocks noGrp="1"/>
          </p:cNvSpPr>
          <p:nvPr>
            <p:ph type="sldNum" sz="quarter" idx="12"/>
          </p:nvPr>
        </p:nvSpPr>
        <p:spPr/>
        <p:txBody>
          <a:bodyPr/>
          <a:lstStyle/>
          <a:p>
            <a:pPr>
              <a:defRPr/>
            </a:pPr>
            <a:fld id="{0FDE9686-7BB6-4720-BDEC-9ACAC589273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7EE2A70B-0DF1-452A-8AF7-4A8F07E1AFE6}" type="datetime1">
              <a:rPr lang="en-US" smtClean="0"/>
            </a:fld>
            <a:endParaRPr lang="en-US"/>
          </a:p>
        </p:txBody>
      </p:sp>
      <p:sp>
        <p:nvSpPr>
          <p:cNvPr id="8" name="Footer Placeholder 7"/>
          <p:cNvSpPr>
            <a:spLocks noGrp="1"/>
          </p:cNvSpPr>
          <p:nvPr>
            <p:ph type="ftr" sz="quarter" idx="11"/>
          </p:nvPr>
        </p:nvSpPr>
        <p:spPr/>
        <p:txBody>
          <a:bodyPr/>
          <a:lstStyle/>
          <a:p>
            <a:pPr>
              <a:defRPr/>
            </a:pPr>
            <a:r>
              <a:rPr lang="en-US"/>
              <a:t>CSC291 - Software Engineering Concepts</a:t>
            </a:r>
            <a:endParaRPr lang="en-US"/>
          </a:p>
        </p:txBody>
      </p:sp>
      <p:sp>
        <p:nvSpPr>
          <p:cNvPr id="9" name="Slide Number Placeholder 8"/>
          <p:cNvSpPr>
            <a:spLocks noGrp="1"/>
          </p:cNvSpPr>
          <p:nvPr>
            <p:ph type="sldNum" sz="quarter" idx="12"/>
          </p:nvPr>
        </p:nvSpPr>
        <p:spPr/>
        <p:txBody>
          <a:bodyPr/>
          <a:lstStyle/>
          <a:p>
            <a:pPr>
              <a:defRPr/>
            </a:pPr>
            <a:fld id="{FD78114E-08A7-4929-BB19-B9B9E884E551}" type="slidenum">
              <a:rPr lang="en-US" smtClean="0"/>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pPr>
              <a:defRPr/>
            </a:pPr>
            <a:fld id="{080EB5BC-A4FB-49D0-8607-269C7366F0F5}" type="datetime1">
              <a:rPr lang="en-US" smtClean="0"/>
            </a:fld>
            <a:endParaRPr lang="en-US"/>
          </a:p>
        </p:txBody>
      </p:sp>
      <p:sp>
        <p:nvSpPr>
          <p:cNvPr id="4" name="Footer Placeholder 3"/>
          <p:cNvSpPr>
            <a:spLocks noGrp="1"/>
          </p:cNvSpPr>
          <p:nvPr>
            <p:ph type="ftr" sz="quarter" idx="11"/>
          </p:nvPr>
        </p:nvSpPr>
        <p:spPr/>
        <p:txBody>
          <a:bodyPr/>
          <a:lstStyle/>
          <a:p>
            <a:pPr>
              <a:defRPr/>
            </a:pPr>
            <a:r>
              <a:rPr lang="en-US"/>
              <a:t>CSC291 - Software Engineering Concepts</a:t>
            </a:r>
            <a:endParaRPr lang="en-US"/>
          </a:p>
        </p:txBody>
      </p:sp>
      <p:sp>
        <p:nvSpPr>
          <p:cNvPr id="5" name="Slide Number Placeholder 4"/>
          <p:cNvSpPr>
            <a:spLocks noGrp="1"/>
          </p:cNvSpPr>
          <p:nvPr>
            <p:ph type="sldNum" sz="quarter" idx="12"/>
          </p:nvPr>
        </p:nvSpPr>
        <p:spPr/>
        <p:txBody>
          <a:bodyPr/>
          <a:lstStyle/>
          <a:p>
            <a:pPr>
              <a:defRPr/>
            </a:pPr>
            <a:fld id="{ED6DFD43-7B17-4839-B016-410BF59C22F7}"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380485AA-6C45-434D-A7FC-21E29E38EFBE}" type="datetime1">
              <a:rPr lang="en-US" smtClean="0"/>
            </a:fld>
            <a:endParaRPr lang="en-US"/>
          </a:p>
        </p:txBody>
      </p:sp>
      <p:sp>
        <p:nvSpPr>
          <p:cNvPr id="3" name="Footer Placeholder 2"/>
          <p:cNvSpPr>
            <a:spLocks noGrp="1"/>
          </p:cNvSpPr>
          <p:nvPr>
            <p:ph type="ftr" sz="quarter" idx="11"/>
          </p:nvPr>
        </p:nvSpPr>
        <p:spPr/>
        <p:txBody>
          <a:bodyPr/>
          <a:lstStyle/>
          <a:p>
            <a:pPr>
              <a:defRPr/>
            </a:pPr>
            <a:r>
              <a:rPr lang="en-US"/>
              <a:t>CSC291 - Software Engineering Concepts</a:t>
            </a:r>
            <a:endParaRPr lang="en-US"/>
          </a:p>
        </p:txBody>
      </p:sp>
      <p:sp>
        <p:nvSpPr>
          <p:cNvPr id="4" name="Slide Number Placeholder 3"/>
          <p:cNvSpPr>
            <a:spLocks noGrp="1"/>
          </p:cNvSpPr>
          <p:nvPr>
            <p:ph type="sldNum" sz="quarter" idx="12"/>
          </p:nvPr>
        </p:nvSpPr>
        <p:spPr/>
        <p:txBody>
          <a:bodyPr/>
          <a:lstStyle/>
          <a:p>
            <a:pPr>
              <a:defRPr/>
            </a:pPr>
            <a:fld id="{7B086910-7AD0-4284-9154-4A6C3219C380}"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a:defRPr/>
            </a:pPr>
            <a:fld id="{882F9C8C-5691-4724-8152-9AA9B1045E4F}"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a:t>CSC291 - Software Engineering Concepts</a:t>
            </a:r>
            <a:endParaRPr lang="en-US"/>
          </a:p>
        </p:txBody>
      </p:sp>
      <p:sp>
        <p:nvSpPr>
          <p:cNvPr id="7" name="Slide Number Placeholder 6"/>
          <p:cNvSpPr>
            <a:spLocks noGrp="1"/>
          </p:cNvSpPr>
          <p:nvPr>
            <p:ph type="sldNum" sz="quarter" idx="12"/>
          </p:nvPr>
        </p:nvSpPr>
        <p:spPr/>
        <p:txBody>
          <a:bodyPr/>
          <a:lstStyle/>
          <a:p>
            <a:pPr>
              <a:defRPr/>
            </a:pPr>
            <a:fld id="{7281E411-4FA8-448A-B4B3-8202B5DDED20}" type="slidenum">
              <a:rPr lang="en-US" smtClean="0"/>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a:defRPr/>
            </a:pPr>
            <a:fld id="{3CC0F3B9-7F36-40CB-8F34-A29203F96EA5}"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a:t>CSC291 - Software Engineering Concepts</a:t>
            </a:r>
            <a:endParaRPr lang="en-US"/>
          </a:p>
        </p:txBody>
      </p:sp>
      <p:sp>
        <p:nvSpPr>
          <p:cNvPr id="7" name="Slide Number Placeholder 6"/>
          <p:cNvSpPr>
            <a:spLocks noGrp="1"/>
          </p:cNvSpPr>
          <p:nvPr>
            <p:ph type="sldNum" sz="quarter" idx="12"/>
          </p:nvPr>
        </p:nvSpPr>
        <p:spPr/>
        <p:txBody>
          <a:bodyPr/>
          <a:lstStyle/>
          <a:p>
            <a:pPr>
              <a:defRPr/>
            </a:pPr>
            <a:fld id="{928A4FC4-C37C-4675-8ABA-1AE94FFC39F6}"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pPr>
              <a:defRPr/>
            </a:pPr>
            <a:fld id="{2A419EB8-7A43-4CF8-AD52-8C5D29D97514}"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a:t>CSC291 - Software Engineering Concepts</a:t>
            </a:r>
            <a:endParaRPr lang="en-US"/>
          </a:p>
        </p:txBody>
      </p:sp>
      <p:sp>
        <p:nvSpPr>
          <p:cNvPr id="6" name="Slide Number Placeholder 5"/>
          <p:cNvSpPr>
            <a:spLocks noGrp="1"/>
          </p:cNvSpPr>
          <p:nvPr>
            <p:ph type="sldNum" sz="quarter" idx="12"/>
          </p:nvPr>
        </p:nvSpPr>
        <p:spPr/>
        <p:txBody>
          <a:bodyPr/>
          <a:lstStyle/>
          <a:p>
            <a:pPr>
              <a:defRPr/>
            </a:pPr>
            <a:fld id="{E94DBE2E-AB2C-450C-9F80-22E0A2787DE5}"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391FC258-9B62-4C63-BB88-8D2D055C983D}"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a:t>CSC291 - Software Engineering Concepts</a:t>
            </a:r>
            <a:endParaRPr lang="en-US"/>
          </a:p>
        </p:txBody>
      </p:sp>
      <p:sp>
        <p:nvSpPr>
          <p:cNvPr id="6" name="Slide Number Placeholder 5"/>
          <p:cNvSpPr>
            <a:spLocks noGrp="1"/>
          </p:cNvSpPr>
          <p:nvPr>
            <p:ph type="sldNum" sz="quarter" idx="12"/>
          </p:nvPr>
        </p:nvSpPr>
        <p:spPr/>
        <p:txBody>
          <a:bodyPr/>
          <a:lstStyle/>
          <a:p>
            <a:pPr>
              <a:defRPr/>
            </a:pPr>
            <a:fld id="{F4A0B48F-275F-4B11-9A36-0F3DBAD05821}"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pPr>
              <a:defRPr/>
            </a:pPr>
            <a:fld id="{93ED53FB-AD72-4083-90A4-AAB60AB7BA2E}" type="datetime1">
              <a:rPr lang="en-US" smtClean="0"/>
            </a:fld>
            <a:endParaRPr lang="en-US"/>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pPr>
              <a:defRPr/>
            </a:pPr>
            <a:r>
              <a:rPr lang="en-US"/>
              <a:t>CSC291 - Software Engineering Concepts</a:t>
            </a:r>
            <a:endParaRPr lang="en-US"/>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pPr>
              <a:defRPr/>
            </a:pPr>
            <a:fld id="{2AC40421-925F-4082-BA86-2260C7B6485A}"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anose="020B0604020202020204"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anose="020B0604020202020204"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anose="020B0604020202020204"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anose="020B0604020202020204"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anose="020B0604020202020204"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anose="020B0604020202020204"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anose="020B0604020202020204"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anose="020B0604020202020204"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w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d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w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52400" y="1828800"/>
            <a:ext cx="8915400" cy="1524000"/>
          </a:xfrm>
        </p:spPr>
        <p:txBody>
          <a:bodyPr>
            <a:normAutofit fontScale="90000"/>
          </a:bodyPr>
          <a:lstStyle/>
          <a:p>
            <a:pPr algn="ctr">
              <a:defRPr/>
            </a:pPr>
            <a:br>
              <a:rPr lang="en-US" sz="3600" dirty="0">
                <a:latin typeface="Times New Roman" panose="02020603050405020304" pitchFamily="18" charset="0"/>
                <a:cs typeface="Times New Roman" panose="02020603050405020304" pitchFamily="18" charset="0"/>
              </a:rPr>
            </a:br>
            <a:br>
              <a:rPr lang="en-US" sz="3600" dirty="0">
                <a:latin typeface="Times New Roman" panose="02020603050405020304" pitchFamily="18" charset="0"/>
                <a:cs typeface="Times New Roman" panose="02020603050405020304" pitchFamily="18" charset="0"/>
              </a:rPr>
            </a:br>
            <a:br>
              <a:rPr lang="en-US" sz="3600" dirty="0">
                <a:latin typeface="Times New Roman" panose="02020603050405020304" pitchFamily="18" charset="0"/>
                <a:cs typeface="Times New Roman" panose="02020603050405020304" pitchFamily="18" charset="0"/>
              </a:rPr>
            </a:br>
            <a:br>
              <a:rPr lang="en-US" sz="3600" dirty="0">
                <a:latin typeface="Times New Roman" panose="02020603050405020304" pitchFamily="18" charset="0"/>
                <a:cs typeface="Times New Roman" panose="02020603050405020304" pitchFamily="18" charset="0"/>
              </a:rPr>
            </a:br>
            <a:br>
              <a:rPr lang="en-US" sz="3600" dirty="0">
                <a:latin typeface="Times New Roman" panose="02020603050405020304" pitchFamily="18" charset="0"/>
                <a:cs typeface="Times New Roman" panose="02020603050405020304" pitchFamily="18" charset="0"/>
              </a:rPr>
            </a:br>
            <a:r>
              <a:rPr lang="en-US" sz="3600" dirty="0">
                <a:solidFill>
                  <a:srgbClr val="C00000"/>
                </a:solidFill>
                <a:cs typeface="Times New Roman" panose="02020603050405020304" pitchFamily="18" charset="0"/>
              </a:rPr>
              <a:t>CSSE3113 – </a:t>
            </a:r>
            <a:r>
              <a:rPr lang="en-US" sz="3600" cap="none" dirty="0">
                <a:solidFill>
                  <a:srgbClr val="C00000"/>
                </a:solidFill>
                <a:cs typeface="Times New Roman" panose="02020603050405020304" pitchFamily="18" charset="0"/>
              </a:rPr>
              <a:t>Introduction to Software Engineering </a:t>
            </a:r>
            <a:br>
              <a:rPr lang="en-US" sz="3600" dirty="0">
                <a:solidFill>
                  <a:srgbClr val="C00000"/>
                </a:solidFill>
                <a:cs typeface="Times New Roman" panose="02020603050405020304" pitchFamily="18" charset="0"/>
              </a:rPr>
            </a:br>
            <a:endParaRPr lang="en-US" sz="3600" dirty="0">
              <a:solidFill>
                <a:srgbClr val="C00000"/>
              </a:solidFill>
              <a:cs typeface="Times New Roman" panose="02020603050405020304" pitchFamily="18" charset="0"/>
            </a:endParaRPr>
          </a:p>
        </p:txBody>
      </p:sp>
      <p:sp>
        <p:nvSpPr>
          <p:cNvPr id="6147" name="Rectangle 3"/>
          <p:cNvSpPr>
            <a:spLocks noGrp="1" noChangeArrowheads="1"/>
          </p:cNvSpPr>
          <p:nvPr>
            <p:ph type="subTitle" idx="1"/>
          </p:nvPr>
        </p:nvSpPr>
        <p:spPr>
          <a:xfrm>
            <a:off x="1981200" y="3581400"/>
            <a:ext cx="5105400" cy="1905000"/>
          </a:xfrm>
        </p:spPr>
        <p:txBody>
          <a:bodyPr>
            <a:normAutofit/>
          </a:bodyPr>
          <a:lstStyle/>
          <a:p>
            <a:pPr marL="63500" algn="ctr" eaLnBrk="1" hangingPunct="1"/>
            <a:endParaRPr lang="en-US" sz="2000" dirty="0">
              <a:solidFill>
                <a:schemeClr val="tx1"/>
              </a:solidFill>
              <a:latin typeface="+mj-lt"/>
              <a:cs typeface="Times New Roman" panose="02020603050405020304" pitchFamily="18" charset="0"/>
            </a:endParaRPr>
          </a:p>
          <a:p>
            <a:pPr marL="63500" algn="ctr" eaLnBrk="1" hangingPunct="1"/>
            <a:r>
              <a:rPr lang="en-US" sz="2800" b="1" dirty="0">
                <a:solidFill>
                  <a:schemeClr val="tx1"/>
                </a:solidFill>
                <a:latin typeface="+mj-lt"/>
                <a:cs typeface="Times New Roman" panose="02020603050405020304" pitchFamily="18" charset="0"/>
              </a:rPr>
              <a:t>Software Process Models</a:t>
            </a:r>
            <a:endParaRPr lang="en-US" sz="2800" b="1" dirty="0">
              <a:solidFill>
                <a:schemeClr val="tx1"/>
              </a:solidFill>
              <a:latin typeface="+mj-lt"/>
              <a:cs typeface="Times New Roman" panose="02020603050405020304" pitchFamily="18" charset="0"/>
            </a:endParaRPr>
          </a:p>
          <a:p>
            <a:pPr marL="63500" algn="ctr" eaLnBrk="1" hangingPunct="1"/>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381000" y="381000"/>
            <a:ext cx="8229600" cy="1066800"/>
          </a:xfrm>
        </p:spPr>
        <p:txBody>
          <a:bodyPr>
            <a:normAutofit/>
          </a:bodyPr>
          <a:lstStyle/>
          <a:p>
            <a:pPr eaLnBrk="1" hangingPunct="1"/>
            <a:r>
              <a:rPr lang="en-US" sz="3600" dirty="0">
                <a:cs typeface="Times New Roman" panose="02020603050405020304" pitchFamily="18" charset="0"/>
              </a:rPr>
              <a:t>Software Development</a:t>
            </a:r>
            <a:endParaRPr lang="en-US" dirty="0"/>
          </a:p>
        </p:txBody>
      </p:sp>
      <p:sp>
        <p:nvSpPr>
          <p:cNvPr id="25603" name="Content Placeholder 2"/>
          <p:cNvSpPr>
            <a:spLocks noGrp="1"/>
          </p:cNvSpPr>
          <p:nvPr>
            <p:ph idx="1"/>
          </p:nvPr>
        </p:nvSpPr>
        <p:spPr>
          <a:xfrm>
            <a:off x="457200" y="1524000"/>
            <a:ext cx="8229600" cy="5049838"/>
          </a:xfrm>
        </p:spPr>
        <p:txBody>
          <a:bodyPr>
            <a:normAutofit lnSpcReduction="10000"/>
          </a:bodyPr>
          <a:lstStyle/>
          <a:p>
            <a:pPr eaLnBrk="1" hangingPunct="1">
              <a:buFont typeface="Georgia" panose="02040502050405020303" pitchFamily="18" charset="0"/>
              <a:buNone/>
            </a:pPr>
            <a:r>
              <a:rPr lang="en-US" sz="2200" b="1" dirty="0">
                <a:latin typeface="+mj-lt"/>
                <a:cs typeface="Times New Roman" panose="02020603050405020304" pitchFamily="18" charset="0"/>
              </a:rPr>
              <a:t>Construction</a:t>
            </a:r>
            <a:endParaRPr lang="en-US" sz="2200" b="1" dirty="0">
              <a:latin typeface="+mj-lt"/>
              <a:cs typeface="Times New Roman" panose="02020603050405020304" pitchFamily="18" charset="0"/>
            </a:endParaRPr>
          </a:p>
          <a:p>
            <a:pPr eaLnBrk="1" hangingPunct="1">
              <a:buFont typeface="Georgia" panose="02040502050405020303" pitchFamily="18" charset="0"/>
              <a:buNone/>
            </a:pPr>
            <a:r>
              <a:rPr lang="en-US" sz="2200" dirty="0">
                <a:latin typeface="+mj-lt"/>
                <a:cs typeface="Times New Roman" panose="02020603050405020304" pitchFamily="18" charset="0"/>
              </a:rPr>
              <a:t>Some of the major construction activities are listed below.</a:t>
            </a:r>
            <a:endParaRPr lang="en-US" sz="2200" dirty="0">
              <a:latin typeface="+mj-lt"/>
              <a:cs typeface="Times New Roman" panose="02020603050405020304" pitchFamily="18" charset="0"/>
            </a:endParaRPr>
          </a:p>
          <a:p>
            <a:pPr lvl="1"/>
            <a:r>
              <a:rPr lang="en-US" sz="2400" dirty="0">
                <a:latin typeface="+mj-lt"/>
                <a:cs typeface="Times New Roman" panose="02020603050405020304" pitchFamily="18" charset="0"/>
              </a:rPr>
              <a:t>Requirement Gathering</a:t>
            </a:r>
            <a:endParaRPr lang="en-US" sz="2400" dirty="0">
              <a:latin typeface="+mj-lt"/>
              <a:cs typeface="Times New Roman" panose="02020603050405020304" pitchFamily="18" charset="0"/>
            </a:endParaRPr>
          </a:p>
          <a:p>
            <a:pPr lvl="1"/>
            <a:r>
              <a:rPr lang="en-US" sz="2400" dirty="0">
                <a:latin typeface="+mj-lt"/>
                <a:cs typeface="Times New Roman" panose="02020603050405020304" pitchFamily="18" charset="0"/>
              </a:rPr>
              <a:t>Design Development</a:t>
            </a:r>
            <a:endParaRPr lang="en-US" sz="2400" dirty="0">
              <a:latin typeface="+mj-lt"/>
              <a:cs typeface="Times New Roman" panose="02020603050405020304" pitchFamily="18" charset="0"/>
            </a:endParaRPr>
          </a:p>
          <a:p>
            <a:pPr lvl="1"/>
            <a:r>
              <a:rPr lang="en-US" sz="2400" dirty="0">
                <a:latin typeface="+mj-lt"/>
                <a:cs typeface="Times New Roman" panose="02020603050405020304" pitchFamily="18" charset="0"/>
              </a:rPr>
              <a:t>Coding</a:t>
            </a:r>
            <a:endParaRPr lang="en-US" sz="2400" dirty="0">
              <a:latin typeface="+mj-lt"/>
              <a:cs typeface="Times New Roman" panose="02020603050405020304" pitchFamily="18" charset="0"/>
            </a:endParaRPr>
          </a:p>
          <a:p>
            <a:pPr lvl="1"/>
            <a:r>
              <a:rPr lang="en-US" sz="2400" dirty="0">
                <a:latin typeface="+mj-lt"/>
                <a:cs typeface="Times New Roman" panose="02020603050405020304" pitchFamily="18" charset="0"/>
              </a:rPr>
              <a:t>Testing</a:t>
            </a:r>
            <a:endParaRPr lang="en-US" sz="2400" dirty="0">
              <a:latin typeface="+mj-lt"/>
              <a:cs typeface="Times New Roman" panose="02020603050405020304" pitchFamily="18" charset="0"/>
            </a:endParaRPr>
          </a:p>
          <a:p>
            <a:pPr eaLnBrk="1" hangingPunct="1">
              <a:buFont typeface="Georgia" panose="02040502050405020303" pitchFamily="18" charset="0"/>
              <a:buNone/>
            </a:pPr>
            <a:r>
              <a:rPr lang="en-US" sz="2200" b="1" dirty="0">
                <a:latin typeface="+mj-lt"/>
                <a:cs typeface="Times New Roman" panose="02020603050405020304" pitchFamily="18" charset="0"/>
              </a:rPr>
              <a:t>Management</a:t>
            </a:r>
            <a:endParaRPr lang="en-US" sz="2200" b="1" dirty="0">
              <a:latin typeface="+mj-lt"/>
              <a:cs typeface="Times New Roman" panose="02020603050405020304" pitchFamily="18" charset="0"/>
            </a:endParaRPr>
          </a:p>
          <a:p>
            <a:pPr eaLnBrk="1" hangingPunct="1">
              <a:buFont typeface="Georgia" panose="02040502050405020303" pitchFamily="18" charset="0"/>
              <a:buNone/>
            </a:pPr>
            <a:r>
              <a:rPr lang="en-US" sz="2200" dirty="0">
                <a:latin typeface="+mj-lt"/>
                <a:cs typeface="Times New Roman" panose="02020603050405020304" pitchFamily="18" charset="0"/>
              </a:rPr>
              <a:t>Some of the major management activities are listed below.</a:t>
            </a:r>
            <a:endParaRPr lang="en-US" sz="2200" dirty="0">
              <a:latin typeface="+mj-lt"/>
              <a:cs typeface="Times New Roman" panose="02020603050405020304" pitchFamily="18" charset="0"/>
            </a:endParaRPr>
          </a:p>
          <a:p>
            <a:pPr lvl="1"/>
            <a:r>
              <a:rPr lang="en-US" sz="2400" dirty="0">
                <a:latin typeface="+mj-lt"/>
                <a:cs typeface="Times New Roman" panose="02020603050405020304" pitchFamily="18" charset="0"/>
              </a:rPr>
              <a:t>Project Planning and Management</a:t>
            </a:r>
            <a:endParaRPr lang="en-US" sz="2400" dirty="0">
              <a:latin typeface="+mj-lt"/>
              <a:cs typeface="Times New Roman" panose="02020603050405020304" pitchFamily="18" charset="0"/>
            </a:endParaRPr>
          </a:p>
          <a:p>
            <a:pPr lvl="1"/>
            <a:r>
              <a:rPr lang="en-US" sz="2400" dirty="0">
                <a:latin typeface="+mj-lt"/>
                <a:cs typeface="Times New Roman" panose="02020603050405020304" pitchFamily="18" charset="0"/>
              </a:rPr>
              <a:t>Configuration Management</a:t>
            </a:r>
            <a:endParaRPr lang="en-US" sz="2400" dirty="0">
              <a:latin typeface="+mj-lt"/>
              <a:cs typeface="Times New Roman" panose="02020603050405020304" pitchFamily="18" charset="0"/>
            </a:endParaRPr>
          </a:p>
          <a:p>
            <a:pPr lvl="1"/>
            <a:r>
              <a:rPr lang="en-US" sz="2400" dirty="0">
                <a:latin typeface="+mj-lt"/>
                <a:cs typeface="Times New Roman" panose="02020603050405020304" pitchFamily="18" charset="0"/>
              </a:rPr>
              <a:t>Software Quality Assurance</a:t>
            </a:r>
            <a:endParaRPr lang="en-US" sz="2400" dirty="0">
              <a:latin typeface="+mj-lt"/>
              <a:cs typeface="Times New Roman" panose="02020603050405020304" pitchFamily="18" charset="0"/>
            </a:endParaRPr>
          </a:p>
          <a:p>
            <a:pPr lvl="1"/>
            <a:r>
              <a:rPr lang="en-US" sz="2400" dirty="0">
                <a:latin typeface="+mj-lt"/>
                <a:cs typeface="Times New Roman" panose="02020603050405020304" pitchFamily="18" charset="0"/>
              </a:rPr>
              <a:t>Installation and Training</a:t>
            </a:r>
            <a:endParaRPr lang="en-US" sz="2400" dirty="0">
              <a:latin typeface="+mj-lt"/>
              <a:cs typeface="Times New Roman" panose="02020603050405020304" pitchFamily="18" charset="0"/>
            </a:endParaRPr>
          </a:p>
          <a:p>
            <a:pPr eaLnBrk="1" hangingPunct="1"/>
            <a:endParaRPr lang="en-US" sz="2000" dirty="0">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a:xfrm>
            <a:off x="457200" y="-76200"/>
            <a:ext cx="2895600" cy="329184"/>
          </a:xfrm>
        </p:spPr>
        <p:txBody>
          <a:bodyPr/>
          <a:lstStyle/>
          <a:p>
            <a:pPr>
              <a:defRPr/>
            </a:pPr>
            <a:fld id="{937667D3-61DC-4101-A914-B89E565498B7}" type="datetime1">
              <a:rPr lang="en-US" smtClean="0"/>
            </a:fld>
            <a:endParaRPr lang="en-US"/>
          </a:p>
        </p:txBody>
      </p:sp>
      <p:sp>
        <p:nvSpPr>
          <p:cNvPr id="9" name="Slide Number Placeholder 8"/>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457200" y="5257800"/>
            <a:ext cx="8229600" cy="1066800"/>
          </a:xfrm>
        </p:spPr>
        <p:txBody>
          <a:bodyPr/>
          <a:lstStyle/>
          <a:p>
            <a:pPr eaLnBrk="1" hangingPunct="1"/>
            <a:r>
              <a:rPr lang="en-US" sz="1800" dirty="0">
                <a:cs typeface="Times New Roman" panose="02020603050405020304" pitchFamily="18" charset="0"/>
              </a:rPr>
              <a:t>Figure 1: Development Activities</a:t>
            </a:r>
            <a:endParaRPr lang="en-US" sz="1800" dirty="0">
              <a:cs typeface="Times New Roman" panose="02020603050405020304" pitchFamily="18" charset="0"/>
            </a:endParaRPr>
          </a:p>
        </p:txBody>
      </p:sp>
      <p:sp>
        <p:nvSpPr>
          <p:cNvPr id="26627"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pic>
        <p:nvPicPr>
          <p:cNvPr id="26628" name="Picture 14"/>
          <p:cNvPicPr>
            <a:picLocks noChangeAspect="1" noChangeArrowheads="1"/>
          </p:cNvPicPr>
          <p:nvPr/>
        </p:nvPicPr>
        <p:blipFill>
          <a:blip r:embed="rId1">
            <a:extLst>
              <a:ext uri="{28A0092B-C50C-407E-A947-70E740481C1C}">
                <a14:useLocalDpi xmlns:a14="http://schemas.microsoft.com/office/drawing/2010/main" val="0"/>
              </a:ext>
            </a:extLst>
          </a:blip>
          <a:srcRect l="33968" t="21875" r="34993" b="39583"/>
          <a:stretch>
            <a:fillRect/>
          </a:stretch>
        </p:blipFill>
        <p:spPr bwMode="auto">
          <a:xfrm>
            <a:off x="381000" y="1143000"/>
            <a:ext cx="81534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half" idx="10"/>
          </p:nvPr>
        </p:nvSpPr>
        <p:spPr/>
        <p:txBody>
          <a:bodyPr/>
          <a:lstStyle/>
          <a:p>
            <a:pPr>
              <a:defRPr/>
            </a:pPr>
            <a:fld id="{9BE6B6D6-6D79-4188-BC7C-293F9EA15DD2}" type="datetime1">
              <a:rPr lang="en-US" smtClean="0"/>
            </a:fld>
            <a:endParaRPr lang="en-US"/>
          </a:p>
        </p:txBody>
      </p:sp>
      <p:sp>
        <p:nvSpPr>
          <p:cNvPr id="9" name="Slide Number Placeholder 8"/>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 hoc Software Development</a:t>
            </a:r>
            <a:endParaRPr lang="en-US" dirty="0"/>
          </a:p>
        </p:txBody>
      </p:sp>
      <p:sp>
        <p:nvSpPr>
          <p:cNvPr id="3" name="Content Placeholder 2"/>
          <p:cNvSpPr>
            <a:spLocks noGrp="1"/>
          </p:cNvSpPr>
          <p:nvPr>
            <p:ph idx="1"/>
          </p:nvPr>
        </p:nvSpPr>
        <p:spPr/>
        <p:txBody>
          <a:bodyPr/>
          <a:lstStyle/>
          <a:p>
            <a:pPr algn="just">
              <a:spcBef>
                <a:spcPts val="0"/>
              </a:spcBef>
              <a:spcAft>
                <a:spcPts val="2400"/>
              </a:spcAft>
              <a:buClr>
                <a:schemeClr val="bg1">
                  <a:lumMod val="50000"/>
                </a:schemeClr>
              </a:buClr>
              <a:buSzPct val="70000"/>
              <a:defRPr/>
            </a:pPr>
            <a:endParaRPr lang="en-US" dirty="0"/>
          </a:p>
          <a:p>
            <a:pPr algn="just">
              <a:spcBef>
                <a:spcPts val="0"/>
              </a:spcBef>
              <a:spcAft>
                <a:spcPts val="2400"/>
              </a:spcAft>
              <a:buClr>
                <a:schemeClr val="bg1">
                  <a:lumMod val="50000"/>
                </a:schemeClr>
              </a:buClr>
              <a:buSzPct val="70000"/>
              <a:defRPr/>
            </a:pPr>
            <a:r>
              <a:rPr lang="en-US" dirty="0"/>
              <a:t>Developing software without planning for each phase, and without specifying tasks, deliverables, or time constraints.</a:t>
            </a:r>
            <a:endParaRPr lang="en-US" dirty="0"/>
          </a:p>
          <a:p>
            <a:pPr algn="just">
              <a:spcBef>
                <a:spcPts val="0"/>
              </a:spcBef>
              <a:spcAft>
                <a:spcPts val="2400"/>
              </a:spcAft>
              <a:buClr>
                <a:schemeClr val="bg1">
                  <a:lumMod val="50000"/>
                </a:schemeClr>
              </a:buClr>
              <a:buSzPct val="70000"/>
              <a:defRPr/>
            </a:pPr>
            <a:r>
              <a:rPr lang="en-US" dirty="0"/>
              <a:t>Relies entirely on the skills and experience of the individuals performing the work.</a:t>
            </a:r>
            <a:endParaRPr lang="en-US" dirty="0"/>
          </a:p>
          <a:p>
            <a:pPr algn="just">
              <a:spcBef>
                <a:spcPts val="0"/>
              </a:spcBef>
              <a:spcAft>
                <a:spcPts val="2400"/>
              </a:spcAft>
              <a:buClr>
                <a:schemeClr val="bg1">
                  <a:lumMod val="50000"/>
                </a:schemeClr>
              </a:buClr>
              <a:buSzPct val="70000"/>
              <a:defRPr/>
            </a:pPr>
            <a:r>
              <a:rPr lang="en-US" dirty="0"/>
              <a:t> The software process may change as work progresses.</a:t>
            </a:r>
            <a:endParaRPr lang="en-US" dirty="0"/>
          </a:p>
          <a:p>
            <a:pPr marL="0" indent="0" algn="just" fontAlgn="auto">
              <a:spcBef>
                <a:spcPts val="0"/>
              </a:spcBef>
              <a:spcAft>
                <a:spcPts val="2400"/>
              </a:spcAft>
              <a:buClr>
                <a:schemeClr val="accent3">
                  <a:lumMod val="50000"/>
                </a:schemeClr>
              </a:buClr>
              <a:buSzPct val="70000"/>
              <a:buNone/>
              <a:defRPr/>
            </a:pPr>
            <a:endParaRPr lang="en-GB" sz="2800" i="1" dirty="0">
              <a:solidFill>
                <a:schemeClr val="accent3">
                  <a:lumMod val="50000"/>
                </a:schemeClr>
              </a:solidFill>
            </a:endParaRPr>
          </a:p>
        </p:txBody>
      </p:sp>
      <p:sp>
        <p:nvSpPr>
          <p:cNvPr id="9" name="Date Placeholder 8"/>
          <p:cNvSpPr>
            <a:spLocks noGrp="1"/>
          </p:cNvSpPr>
          <p:nvPr>
            <p:ph type="dt" sz="half" idx="10"/>
          </p:nvPr>
        </p:nvSpPr>
        <p:spPr/>
        <p:txBody>
          <a:bodyPr/>
          <a:lstStyle/>
          <a:p>
            <a:pPr>
              <a:defRPr/>
            </a:pPr>
            <a:fld id="{A1ACFD34-6F28-48E7-94C3-18B25D38EEBB}"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 : </a:t>
            </a:r>
            <a:r>
              <a:rPr lang="en-US" dirty="0" err="1"/>
              <a:t>SaudiTech</a:t>
            </a:r>
            <a:endParaRPr lang="en-US" dirty="0"/>
          </a:p>
        </p:txBody>
      </p:sp>
      <p:sp>
        <p:nvSpPr>
          <p:cNvPr id="3" name="Content Placeholder 2"/>
          <p:cNvSpPr>
            <a:spLocks noGrp="1"/>
          </p:cNvSpPr>
          <p:nvPr>
            <p:ph idx="1"/>
          </p:nvPr>
        </p:nvSpPr>
        <p:spPr>
          <a:xfrm>
            <a:off x="457200" y="1371600"/>
            <a:ext cx="8229600" cy="5105400"/>
          </a:xfrm>
        </p:spPr>
        <p:txBody>
          <a:bodyPr>
            <a:noAutofit/>
          </a:bodyPr>
          <a:lstStyle/>
          <a:p>
            <a:pPr>
              <a:buNone/>
            </a:pPr>
            <a:r>
              <a:rPr lang="en-US" sz="2200" b="1" dirty="0"/>
              <a:t>What could go wrong in a software development project?</a:t>
            </a:r>
            <a:endParaRPr lang="en-US" sz="2200" dirty="0"/>
          </a:p>
          <a:p>
            <a:pPr algn="just">
              <a:buNone/>
            </a:pPr>
            <a:r>
              <a:rPr lang="en-GB" sz="2200" dirty="0"/>
              <a:t>	</a:t>
            </a:r>
            <a:r>
              <a:rPr lang="en-GB" sz="2200" dirty="0" err="1"/>
              <a:t>SaudiTech</a:t>
            </a:r>
            <a:r>
              <a:rPr lang="en-GB" sz="2200" dirty="0"/>
              <a:t> is a software company. It has a team of </a:t>
            </a:r>
            <a:r>
              <a:rPr lang="en-GB" sz="2200" b="1" dirty="0"/>
              <a:t>25 programmers</a:t>
            </a:r>
            <a:r>
              <a:rPr lang="en-GB" sz="2200" dirty="0"/>
              <a:t>. Ali has recently established a dental clinic in Riyadh and asked </a:t>
            </a:r>
            <a:r>
              <a:rPr lang="en-GB" sz="2200" dirty="0" err="1"/>
              <a:t>SaudiTech</a:t>
            </a:r>
            <a:r>
              <a:rPr lang="en-GB" sz="2200" dirty="0"/>
              <a:t> to develop a management system for his dental clinic. </a:t>
            </a:r>
            <a:endParaRPr lang="en-GB" sz="2200" dirty="0"/>
          </a:p>
          <a:p>
            <a:pPr algn="just">
              <a:buNone/>
            </a:pPr>
            <a:r>
              <a:rPr lang="en-GB" sz="2200" dirty="0"/>
              <a:t> 	Ali’s request was to develop a system to electronically manage patient records and perform administrative functions similar to ‘what is being used in other clinics’ but within a budget of </a:t>
            </a:r>
            <a:r>
              <a:rPr lang="en-GB" sz="2200" b="1" dirty="0"/>
              <a:t>500 Saudi riyals</a:t>
            </a:r>
            <a:r>
              <a:rPr lang="en-GB" sz="2200" dirty="0"/>
              <a:t> and delivered within </a:t>
            </a:r>
            <a:r>
              <a:rPr lang="en-GB" sz="2200" b="1" dirty="0"/>
              <a:t>3 months.</a:t>
            </a:r>
            <a:r>
              <a:rPr lang="en-GB" sz="2200" dirty="0"/>
              <a:t> </a:t>
            </a:r>
            <a:endParaRPr lang="en-GB" sz="2200" dirty="0"/>
          </a:p>
          <a:p>
            <a:pPr algn="just">
              <a:buNone/>
            </a:pPr>
            <a:r>
              <a:rPr lang="en-GB" sz="2200" dirty="0"/>
              <a:t>	</a:t>
            </a:r>
            <a:r>
              <a:rPr lang="en-GB" sz="2200" dirty="0" err="1"/>
              <a:t>SaudiTech</a:t>
            </a:r>
            <a:r>
              <a:rPr lang="en-GB" sz="2200" dirty="0"/>
              <a:t> adopts an ad hoc approach </a:t>
            </a:r>
            <a:r>
              <a:rPr lang="en-GB" sz="2200" b="1" dirty="0"/>
              <a:t>(Developing software without planning for each phase, and without specifying tasks, deliverables, or time constraints)</a:t>
            </a:r>
            <a:r>
              <a:rPr lang="en-GB" sz="2200" dirty="0"/>
              <a:t> to software development and has not worked on large scale projects before. </a:t>
            </a:r>
            <a:endParaRPr lang="en-GB" sz="2200" dirty="0"/>
          </a:p>
          <a:p>
            <a:pPr algn="just">
              <a:buNone/>
            </a:pPr>
            <a:r>
              <a:rPr lang="en-GB" sz="2200" b="1" dirty="0">
                <a:solidFill>
                  <a:srgbClr val="000000"/>
                </a:solidFill>
              </a:rPr>
              <a:t>What problems do you anticipate in this project? </a:t>
            </a:r>
            <a:endParaRPr lang="en-US" sz="2200" b="1" dirty="0">
              <a:solidFill>
                <a:srgbClr val="000000"/>
              </a:solidFill>
            </a:endParaRPr>
          </a:p>
        </p:txBody>
      </p:sp>
      <p:sp>
        <p:nvSpPr>
          <p:cNvPr id="9" name="Date Placeholder 8"/>
          <p:cNvSpPr>
            <a:spLocks noGrp="1"/>
          </p:cNvSpPr>
          <p:nvPr>
            <p:ph type="dt" sz="half" idx="10"/>
          </p:nvPr>
        </p:nvSpPr>
        <p:spPr/>
        <p:txBody>
          <a:bodyPr/>
          <a:lstStyle/>
          <a:p>
            <a:pPr>
              <a:defRPr/>
            </a:pPr>
            <a:fld id="{3E9AFA04-62C3-49CD-966C-1AC6CAA51725}"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C00000"/>
                </a:solidFill>
                <a:cs typeface="Times New Roman" panose="02020603050405020304" pitchFamily="18" charset="0"/>
              </a:rPr>
              <a:t>How can we overcome problems with ad hoc software development?</a:t>
            </a:r>
            <a:endParaRPr lang="en-US" dirty="0">
              <a:solidFill>
                <a:srgbClr val="C00000"/>
              </a:solidFill>
            </a:endParaRPr>
          </a:p>
        </p:txBody>
      </p:sp>
      <p:sp>
        <p:nvSpPr>
          <p:cNvPr id="3" name="Content Placeholder 2"/>
          <p:cNvSpPr>
            <a:spLocks noGrp="1"/>
          </p:cNvSpPr>
          <p:nvPr>
            <p:ph idx="1"/>
          </p:nvPr>
        </p:nvSpPr>
        <p:spPr/>
        <p:txBody>
          <a:bodyPr>
            <a:normAutofit lnSpcReduction="10000"/>
          </a:bodyPr>
          <a:lstStyle/>
          <a:p>
            <a:pPr>
              <a:buClr>
                <a:schemeClr val="bg1">
                  <a:lumMod val="50000"/>
                </a:schemeClr>
              </a:buClr>
              <a:buSzPct val="70000"/>
              <a:buFont typeface="Wingdings" panose="05000000000000000000" pitchFamily="2" charset="2"/>
              <a:buChar char="Ø"/>
              <a:defRPr/>
            </a:pPr>
            <a:r>
              <a:rPr lang="en-US" sz="2000" b="1" dirty="0"/>
              <a:t>Problems:</a:t>
            </a:r>
            <a:r>
              <a:rPr lang="en-US" sz="2000" dirty="0"/>
              <a:t> </a:t>
            </a:r>
            <a:endParaRPr lang="en-US" sz="2000" dirty="0"/>
          </a:p>
          <a:p>
            <a:pPr lvl="1">
              <a:buClr>
                <a:schemeClr val="bg1">
                  <a:lumMod val="50000"/>
                </a:schemeClr>
              </a:buClr>
              <a:buSzPct val="70000"/>
              <a:buFont typeface="Wingdings" panose="05000000000000000000" pitchFamily="2" charset="2"/>
              <a:buChar char="Ø"/>
              <a:defRPr/>
            </a:pPr>
            <a:r>
              <a:rPr lang="en-US" dirty="0"/>
              <a:t>Difficult to distinguish between tasks </a:t>
            </a:r>
            <a:r>
              <a:rPr lang="en-US" dirty="0">
                <a:sym typeface="Wingdings" panose="05000000000000000000" pitchFamily="2" charset="2"/>
              </a:rPr>
              <a:t></a:t>
            </a:r>
            <a:r>
              <a:rPr lang="en-US" dirty="0"/>
              <a:t>  important tasks may be ignored.</a:t>
            </a:r>
            <a:endParaRPr lang="en-US" dirty="0"/>
          </a:p>
          <a:p>
            <a:pPr lvl="1">
              <a:buClr>
                <a:schemeClr val="bg1">
                  <a:lumMod val="50000"/>
                </a:schemeClr>
              </a:buClr>
              <a:buSzPct val="70000"/>
              <a:buFont typeface="Wingdings" panose="05000000000000000000" pitchFamily="2" charset="2"/>
              <a:buChar char="Ø"/>
              <a:defRPr/>
            </a:pPr>
            <a:r>
              <a:rPr lang="en-US" dirty="0"/>
              <a:t>Inconsistent schedules, budgets, functionality and product quality.</a:t>
            </a:r>
            <a:endParaRPr lang="en-US" dirty="0"/>
          </a:p>
          <a:p>
            <a:pPr lvl="1">
              <a:buClr>
                <a:schemeClr val="bg1">
                  <a:lumMod val="50000"/>
                </a:schemeClr>
              </a:buClr>
              <a:buSzPct val="70000"/>
              <a:buFont typeface="Wingdings" panose="05000000000000000000" pitchFamily="2" charset="2"/>
              <a:buChar char="Ø"/>
              <a:defRPr/>
            </a:pPr>
            <a:r>
              <a:rPr lang="en-US" dirty="0"/>
              <a:t>Delayed problem discovery </a:t>
            </a:r>
            <a:r>
              <a:rPr lang="en-US" dirty="0">
                <a:sym typeface="Wingdings" panose="05000000000000000000" pitchFamily="2" charset="2"/>
              </a:rPr>
              <a:t></a:t>
            </a:r>
            <a:r>
              <a:rPr lang="en-US" dirty="0"/>
              <a:t> more costly to fix.</a:t>
            </a:r>
            <a:endParaRPr lang="en-US" dirty="0"/>
          </a:p>
          <a:p>
            <a:pPr lvl="1">
              <a:buClr>
                <a:schemeClr val="bg1">
                  <a:lumMod val="50000"/>
                </a:schemeClr>
              </a:buClr>
              <a:buSzPct val="70000"/>
              <a:buFont typeface="Wingdings" panose="05000000000000000000" pitchFamily="2" charset="2"/>
              <a:buChar char="Ø"/>
              <a:defRPr/>
            </a:pPr>
            <a:endParaRPr lang="en-US" sz="1800" dirty="0"/>
          </a:p>
          <a:p>
            <a:pPr lvl="1">
              <a:buClr>
                <a:schemeClr val="bg1">
                  <a:lumMod val="50000"/>
                </a:schemeClr>
              </a:buClr>
              <a:buSzPct val="70000"/>
              <a:buFont typeface="Wingdings" panose="05000000000000000000" pitchFamily="2" charset="2"/>
              <a:buChar char="Ø"/>
              <a:defRPr/>
            </a:pPr>
            <a:endParaRPr lang="en-US" sz="1800" dirty="0"/>
          </a:p>
          <a:p>
            <a:pPr lvl="1">
              <a:buClr>
                <a:schemeClr val="bg1">
                  <a:lumMod val="50000"/>
                </a:schemeClr>
              </a:buClr>
              <a:buSzPct val="70000"/>
              <a:buFont typeface="Wingdings" panose="05000000000000000000" pitchFamily="2" charset="2"/>
              <a:buChar char="Ø"/>
              <a:defRPr/>
            </a:pPr>
            <a:endParaRPr lang="en-US" sz="1800" dirty="0"/>
          </a:p>
          <a:p>
            <a:pPr lvl="1">
              <a:buClr>
                <a:schemeClr val="bg1">
                  <a:lumMod val="50000"/>
                </a:schemeClr>
              </a:buClr>
              <a:buSzPct val="70000"/>
              <a:buFont typeface="Wingdings" panose="05000000000000000000" pitchFamily="2" charset="2"/>
              <a:buChar char="Ø"/>
              <a:defRPr/>
            </a:pPr>
            <a:endParaRPr lang="en-US" sz="1800" dirty="0"/>
          </a:p>
          <a:p>
            <a:pPr lvl="1">
              <a:buClr>
                <a:schemeClr val="bg1">
                  <a:lumMod val="50000"/>
                </a:schemeClr>
              </a:buClr>
              <a:buSzPct val="70000"/>
              <a:buFont typeface="Wingdings" panose="05000000000000000000" pitchFamily="2" charset="2"/>
              <a:buChar char="Ø"/>
              <a:defRPr/>
            </a:pPr>
            <a:endParaRPr lang="en-US" sz="1800" dirty="0"/>
          </a:p>
          <a:p>
            <a:pPr lvl="1">
              <a:buClr>
                <a:schemeClr val="bg1">
                  <a:lumMod val="50000"/>
                </a:schemeClr>
              </a:buClr>
              <a:buSzPct val="70000"/>
              <a:buFont typeface="Wingdings" panose="05000000000000000000" pitchFamily="2" charset="2"/>
              <a:buChar char="Ø"/>
              <a:defRPr/>
            </a:pPr>
            <a:endParaRPr lang="en-US" sz="1800" dirty="0"/>
          </a:p>
          <a:p>
            <a:pPr lvl="1">
              <a:buClr>
                <a:schemeClr val="bg1">
                  <a:lumMod val="50000"/>
                </a:schemeClr>
              </a:buClr>
              <a:buSzPct val="70000"/>
              <a:buFont typeface="Wingdings" panose="05000000000000000000" pitchFamily="2" charset="2"/>
              <a:buChar char="Ø"/>
              <a:defRPr/>
            </a:pPr>
            <a:endParaRPr lang="en-US" sz="1800" dirty="0"/>
          </a:p>
          <a:p>
            <a:pPr>
              <a:buClr>
                <a:schemeClr val="bg1">
                  <a:lumMod val="50000"/>
                </a:schemeClr>
              </a:buClr>
              <a:buSzPct val="70000"/>
              <a:buFont typeface="Wingdings" panose="05000000000000000000" pitchFamily="2" charset="2"/>
              <a:buChar char="Ø"/>
              <a:defRPr/>
            </a:pPr>
            <a:r>
              <a:rPr lang="en-US" sz="2200" dirty="0"/>
              <a:t>Software Process Models </a:t>
            </a:r>
            <a:r>
              <a:rPr lang="en-GB" sz="2200" dirty="0"/>
              <a:t>provide guidelines to organize </a:t>
            </a:r>
            <a:r>
              <a:rPr lang="en-GB" sz="2200" b="1" dirty="0"/>
              <a:t>how</a:t>
            </a:r>
            <a:r>
              <a:rPr lang="en-GB" sz="2200" dirty="0"/>
              <a:t> software process activities should be performed and </a:t>
            </a:r>
            <a:r>
              <a:rPr lang="en-GB" sz="2200" b="1" dirty="0"/>
              <a:t>in what order</a:t>
            </a:r>
            <a:r>
              <a:rPr lang="en-GB" sz="2200" dirty="0"/>
              <a:t>.</a:t>
            </a:r>
            <a:endParaRPr lang="en-US" sz="2200" dirty="0"/>
          </a:p>
        </p:txBody>
      </p:sp>
      <p:sp>
        <p:nvSpPr>
          <p:cNvPr id="7" name="Rectangle 6"/>
          <p:cNvSpPr/>
          <p:nvPr/>
        </p:nvSpPr>
        <p:spPr>
          <a:xfrm>
            <a:off x="1219200" y="3917430"/>
            <a:ext cx="6057275" cy="65457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spcAft>
                <a:spcPts val="1200"/>
              </a:spcAft>
              <a:defRPr/>
            </a:pPr>
            <a:r>
              <a:rPr lang="en-US" b="1" dirty="0">
                <a:solidFill>
                  <a:srgbClr val="C00000"/>
                </a:solidFill>
              </a:rPr>
              <a:t>Solution?     Software Process Model</a:t>
            </a:r>
            <a:endParaRPr lang="en-US" b="1" dirty="0">
              <a:solidFill>
                <a:srgbClr val="C00000"/>
              </a:solidFill>
            </a:endParaRPr>
          </a:p>
        </p:txBody>
      </p:sp>
      <p:sp>
        <p:nvSpPr>
          <p:cNvPr id="10" name="Date Placeholder 9"/>
          <p:cNvSpPr>
            <a:spLocks noGrp="1"/>
          </p:cNvSpPr>
          <p:nvPr>
            <p:ph type="dt" sz="half" idx="10"/>
          </p:nvPr>
        </p:nvSpPr>
        <p:spPr/>
        <p:txBody>
          <a:bodyPr/>
          <a:lstStyle/>
          <a:p>
            <a:pPr>
              <a:defRPr/>
            </a:pPr>
            <a:fld id="{2AE792ED-A307-445A-96F8-05E973CD7115}" type="datetime1">
              <a:rPr lang="en-US" smtClean="0"/>
            </a:fld>
            <a:endParaRPr lang="en-US"/>
          </a:p>
        </p:txBody>
      </p:sp>
      <p:sp>
        <p:nvSpPr>
          <p:cNvPr id="12" name="Slide Number Placeholder 11"/>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457200" y="273050"/>
            <a:ext cx="7292975" cy="1144588"/>
          </a:xfrm>
        </p:spPr>
        <p:txBody>
          <a:bodyPr>
            <a:normAutofit/>
          </a:bodyPr>
          <a:lstStyle/>
          <a:p>
            <a:pPr eaLnBrk="1"/>
            <a:r>
              <a:rPr lang="en-US" sz="3600" dirty="0">
                <a:cs typeface="Times New Roman" panose="02020603050405020304" pitchFamily="18" charset="0"/>
                <a:sym typeface="Arial" panose="020B0604020202020204" pitchFamily="34" charset="0"/>
              </a:rPr>
              <a:t>The Software Process</a:t>
            </a:r>
            <a:endParaRPr lang="en-US" sz="3600" dirty="0">
              <a:cs typeface="Times New Roman" panose="02020603050405020304" pitchFamily="18" charset="0"/>
            </a:endParaRPr>
          </a:p>
        </p:txBody>
      </p:sp>
      <p:sp>
        <p:nvSpPr>
          <p:cNvPr id="5124" name="Rectangle 3"/>
          <p:cNvSpPr>
            <a:spLocks noGrp="1" noChangeArrowheads="1"/>
          </p:cNvSpPr>
          <p:nvPr>
            <p:ph type="body" idx="1"/>
          </p:nvPr>
        </p:nvSpPr>
        <p:spPr>
          <a:xfrm>
            <a:off x="304800" y="1597025"/>
            <a:ext cx="8534400" cy="4529138"/>
          </a:xfrm>
        </p:spPr>
        <p:txBody>
          <a:bodyPr/>
          <a:lstStyle/>
          <a:p>
            <a:pPr algn="just">
              <a:spcBef>
                <a:spcPts val="600"/>
              </a:spcBef>
            </a:pPr>
            <a:r>
              <a:rPr lang="en-US" sz="2400" dirty="0">
                <a:solidFill>
                  <a:schemeClr val="tx1">
                    <a:lumMod val="95000"/>
                    <a:lumOff val="5000"/>
                  </a:schemeClr>
                </a:solidFill>
                <a:latin typeface="Arial" panose="020B0604020202020204" pitchFamily="34" charset="0"/>
                <a:cs typeface="Arial" panose="020B0604020202020204" pitchFamily="34" charset="0"/>
                <a:sym typeface="Arial" panose="020B0604020202020204" pitchFamily="34" charset="0"/>
              </a:rPr>
              <a:t>A </a:t>
            </a:r>
            <a:r>
              <a:rPr lang="en-US" sz="2400" b="1" dirty="0">
                <a:solidFill>
                  <a:schemeClr val="tx1">
                    <a:lumMod val="95000"/>
                    <a:lumOff val="5000"/>
                  </a:schemeClr>
                </a:solidFill>
                <a:latin typeface="Arial" panose="020B0604020202020204" pitchFamily="34" charset="0"/>
                <a:cs typeface="Arial" panose="020B0604020202020204" pitchFamily="34" charset="0"/>
                <a:sym typeface="Arial" panose="020B0604020202020204" pitchFamily="34" charset="0"/>
              </a:rPr>
              <a:t>structured set of activities </a:t>
            </a:r>
            <a:r>
              <a:rPr lang="en-US" sz="2400" dirty="0">
                <a:solidFill>
                  <a:schemeClr val="tx1">
                    <a:lumMod val="95000"/>
                    <a:lumOff val="5000"/>
                  </a:schemeClr>
                </a:solidFill>
                <a:latin typeface="Arial" panose="020B0604020202020204" pitchFamily="34" charset="0"/>
                <a:cs typeface="Arial" panose="020B0604020202020204" pitchFamily="34" charset="0"/>
                <a:sym typeface="Arial" panose="020B0604020202020204" pitchFamily="34" charset="0"/>
              </a:rPr>
              <a:t>required to develop a </a:t>
            </a:r>
            <a:br>
              <a:rPr lang="en-US" sz="2400" dirty="0">
                <a:solidFill>
                  <a:schemeClr val="tx1">
                    <a:lumMod val="95000"/>
                    <a:lumOff val="5000"/>
                  </a:schemeClr>
                </a:solidFill>
                <a:latin typeface="Arial" panose="020B0604020202020204" pitchFamily="34" charset="0"/>
                <a:cs typeface="Arial" panose="020B0604020202020204" pitchFamily="34" charset="0"/>
                <a:sym typeface="Arial" panose="020B0604020202020204" pitchFamily="34" charset="0"/>
              </a:rPr>
            </a:br>
            <a:r>
              <a:rPr lang="en-US" sz="2400" dirty="0">
                <a:solidFill>
                  <a:schemeClr val="tx1">
                    <a:lumMod val="95000"/>
                    <a:lumOff val="5000"/>
                  </a:schemeClr>
                </a:solidFill>
                <a:latin typeface="Arial" panose="020B0604020202020204" pitchFamily="34" charset="0"/>
                <a:cs typeface="Arial" panose="020B0604020202020204" pitchFamily="34" charset="0"/>
                <a:sym typeface="Arial" panose="020B0604020202020204" pitchFamily="34" charset="0"/>
              </a:rPr>
              <a:t>software system. </a:t>
            </a:r>
            <a:endParaRPr lang="en-US" sz="2400" dirty="0">
              <a:solidFill>
                <a:schemeClr val="tx1">
                  <a:lumMod val="95000"/>
                  <a:lumOff val="5000"/>
                </a:schemeClr>
              </a:solidFill>
              <a:latin typeface="Arial" panose="020B0604020202020204" pitchFamily="34" charset="0"/>
              <a:cs typeface="Arial" panose="020B0604020202020204" pitchFamily="34" charset="0"/>
              <a:sym typeface="Arial" panose="020B0604020202020204" pitchFamily="34" charset="0"/>
            </a:endParaRPr>
          </a:p>
          <a:p>
            <a:pPr algn="just">
              <a:spcBef>
                <a:spcPts val="600"/>
              </a:spcBef>
            </a:pPr>
            <a:r>
              <a:rPr lang="en-US" sz="2400" dirty="0">
                <a:solidFill>
                  <a:schemeClr val="tx1">
                    <a:lumMod val="95000"/>
                    <a:lumOff val="5000"/>
                  </a:schemeClr>
                </a:solidFill>
                <a:latin typeface="Arial" panose="020B0604020202020204" pitchFamily="34" charset="0"/>
                <a:cs typeface="Arial" panose="020B0604020202020204" pitchFamily="34" charset="0"/>
                <a:sym typeface="Arial" panose="020B0604020202020204" pitchFamily="34" charset="0"/>
              </a:rPr>
              <a:t>Many different software processes but all involve:</a:t>
            </a:r>
            <a:endParaRPr lang="en-US" sz="2400" dirty="0">
              <a:solidFill>
                <a:schemeClr val="tx1">
                  <a:lumMod val="95000"/>
                  <a:lumOff val="5000"/>
                </a:schemeClr>
              </a:solidFill>
              <a:latin typeface="Arial" panose="020B0604020202020204" pitchFamily="34" charset="0"/>
              <a:cs typeface="Arial" panose="020B0604020202020204" pitchFamily="34" charset="0"/>
              <a:sym typeface="Arial" panose="020B0604020202020204" pitchFamily="34" charset="0"/>
            </a:endParaRPr>
          </a:p>
          <a:p>
            <a:pPr marL="800100" lvl="1" indent="-342900" algn="just">
              <a:spcBef>
                <a:spcPts val="300"/>
              </a:spcBef>
            </a:pPr>
            <a:r>
              <a:rPr lang="en-US" sz="2000" b="1" u="sng" dirty="0">
                <a:solidFill>
                  <a:schemeClr val="tx1">
                    <a:lumMod val="95000"/>
                    <a:lumOff val="5000"/>
                  </a:schemeClr>
                </a:solidFill>
                <a:latin typeface="Arial" panose="020B0604020202020204" pitchFamily="34" charset="0"/>
                <a:cs typeface="Arial" panose="020B0604020202020204" pitchFamily="34" charset="0"/>
                <a:sym typeface="Arial" panose="020B0604020202020204" pitchFamily="34" charset="0"/>
              </a:rPr>
              <a:t>Specification</a:t>
            </a:r>
            <a:r>
              <a:rPr lang="en-US" sz="2000" dirty="0">
                <a:solidFill>
                  <a:schemeClr val="tx1">
                    <a:lumMod val="95000"/>
                    <a:lumOff val="5000"/>
                  </a:schemeClr>
                </a:solidFill>
                <a:latin typeface="Arial" panose="020B0604020202020204" pitchFamily="34" charset="0"/>
                <a:cs typeface="Arial" panose="020B0604020202020204" pitchFamily="34" charset="0"/>
                <a:sym typeface="Arial" panose="020B0604020202020204" pitchFamily="34" charset="0"/>
              </a:rPr>
              <a:t> – defining what the system should do</a:t>
            </a:r>
            <a:endParaRPr lang="en-US" sz="2000" dirty="0">
              <a:solidFill>
                <a:schemeClr val="tx1">
                  <a:lumMod val="95000"/>
                  <a:lumOff val="5000"/>
                </a:schemeClr>
              </a:solidFill>
              <a:latin typeface="Arial" panose="020B0604020202020204" pitchFamily="34" charset="0"/>
              <a:cs typeface="Arial" panose="020B0604020202020204" pitchFamily="34" charset="0"/>
              <a:sym typeface="Arial" panose="020B0604020202020204" pitchFamily="34" charset="0"/>
            </a:endParaRPr>
          </a:p>
          <a:p>
            <a:pPr marL="800100" lvl="1" indent="-342900" algn="just">
              <a:spcBef>
                <a:spcPts val="300"/>
              </a:spcBef>
            </a:pPr>
            <a:r>
              <a:rPr lang="en-US" sz="2000" b="1" u="sng" dirty="0">
                <a:solidFill>
                  <a:schemeClr val="tx1">
                    <a:lumMod val="95000"/>
                    <a:lumOff val="5000"/>
                  </a:schemeClr>
                </a:solidFill>
                <a:latin typeface="Arial" panose="020B0604020202020204" pitchFamily="34" charset="0"/>
                <a:cs typeface="Arial" panose="020B0604020202020204" pitchFamily="34" charset="0"/>
                <a:sym typeface="Arial" panose="020B0604020202020204" pitchFamily="34" charset="0"/>
              </a:rPr>
              <a:t>Design</a:t>
            </a:r>
            <a:r>
              <a:rPr lang="en-US" sz="2000" b="1" dirty="0">
                <a:solidFill>
                  <a:schemeClr val="tx1">
                    <a:lumMod val="95000"/>
                    <a:lumOff val="5000"/>
                  </a:schemeClr>
                </a:solidFill>
                <a:latin typeface="Arial" panose="020B0604020202020204" pitchFamily="34" charset="0"/>
                <a:cs typeface="Arial" panose="020B0604020202020204" pitchFamily="34" charset="0"/>
                <a:sym typeface="Arial" panose="020B0604020202020204" pitchFamily="34" charset="0"/>
              </a:rPr>
              <a:t> and </a:t>
            </a:r>
            <a:r>
              <a:rPr lang="en-US" sz="2000" b="1" u="sng" dirty="0">
                <a:solidFill>
                  <a:schemeClr val="tx1">
                    <a:lumMod val="95000"/>
                    <a:lumOff val="5000"/>
                  </a:schemeClr>
                </a:solidFill>
                <a:latin typeface="Arial" panose="020B0604020202020204" pitchFamily="34" charset="0"/>
                <a:cs typeface="Arial" panose="020B0604020202020204" pitchFamily="34" charset="0"/>
                <a:sym typeface="Arial" panose="020B0604020202020204" pitchFamily="34" charset="0"/>
              </a:rPr>
              <a:t>implementation</a:t>
            </a:r>
            <a:r>
              <a:rPr lang="en-US" sz="2000" b="1" dirty="0">
                <a:solidFill>
                  <a:schemeClr val="tx1">
                    <a:lumMod val="95000"/>
                    <a:lumOff val="5000"/>
                  </a:schemeClr>
                </a:solidFill>
                <a:latin typeface="Arial" panose="020B0604020202020204" pitchFamily="34" charset="0"/>
                <a:cs typeface="Arial" panose="020B0604020202020204" pitchFamily="34" charset="0"/>
                <a:sym typeface="Arial" panose="020B0604020202020204" pitchFamily="34" charset="0"/>
              </a:rPr>
              <a:t> </a:t>
            </a:r>
            <a:r>
              <a:rPr lang="en-US" sz="2000" dirty="0">
                <a:solidFill>
                  <a:schemeClr val="tx1">
                    <a:lumMod val="95000"/>
                    <a:lumOff val="5000"/>
                  </a:schemeClr>
                </a:solidFill>
                <a:latin typeface="Arial" panose="020B0604020202020204" pitchFamily="34" charset="0"/>
                <a:cs typeface="Arial" panose="020B0604020202020204" pitchFamily="34" charset="0"/>
                <a:sym typeface="Arial" panose="020B0604020202020204" pitchFamily="34" charset="0"/>
              </a:rPr>
              <a:t>– defining the organization of the system and implementing the system;</a:t>
            </a:r>
            <a:endParaRPr lang="en-US" sz="2000" dirty="0">
              <a:solidFill>
                <a:schemeClr val="tx1">
                  <a:lumMod val="95000"/>
                  <a:lumOff val="5000"/>
                </a:schemeClr>
              </a:solidFill>
              <a:latin typeface="Arial" panose="020B0604020202020204" pitchFamily="34" charset="0"/>
              <a:cs typeface="Arial" panose="020B0604020202020204" pitchFamily="34" charset="0"/>
              <a:sym typeface="Arial" panose="020B0604020202020204" pitchFamily="34" charset="0"/>
            </a:endParaRPr>
          </a:p>
          <a:p>
            <a:pPr marL="800100" lvl="1" indent="-342900" algn="just">
              <a:spcBef>
                <a:spcPts val="300"/>
              </a:spcBef>
            </a:pPr>
            <a:r>
              <a:rPr lang="en-US" sz="2000" b="1" u="sng" dirty="0">
                <a:solidFill>
                  <a:schemeClr val="tx1">
                    <a:lumMod val="95000"/>
                    <a:lumOff val="5000"/>
                  </a:schemeClr>
                </a:solidFill>
                <a:latin typeface="Arial" panose="020B0604020202020204" pitchFamily="34" charset="0"/>
                <a:cs typeface="Arial" panose="020B0604020202020204" pitchFamily="34" charset="0"/>
                <a:sym typeface="Arial" panose="020B0604020202020204" pitchFamily="34" charset="0"/>
              </a:rPr>
              <a:t>Validation</a:t>
            </a:r>
            <a:r>
              <a:rPr lang="en-US" sz="2000" dirty="0">
                <a:solidFill>
                  <a:schemeClr val="tx1">
                    <a:lumMod val="95000"/>
                    <a:lumOff val="5000"/>
                  </a:schemeClr>
                </a:solidFill>
                <a:latin typeface="Arial" panose="020B0604020202020204" pitchFamily="34" charset="0"/>
                <a:cs typeface="Arial" panose="020B0604020202020204" pitchFamily="34" charset="0"/>
                <a:sym typeface="Arial" panose="020B0604020202020204" pitchFamily="34" charset="0"/>
              </a:rPr>
              <a:t> – checking that it does what the customer wants;</a:t>
            </a:r>
            <a:endParaRPr lang="en-US" sz="2000" dirty="0">
              <a:solidFill>
                <a:schemeClr val="tx1">
                  <a:lumMod val="95000"/>
                  <a:lumOff val="5000"/>
                </a:schemeClr>
              </a:solidFill>
              <a:latin typeface="Arial" panose="020B0604020202020204" pitchFamily="34" charset="0"/>
              <a:cs typeface="Arial" panose="020B0604020202020204" pitchFamily="34" charset="0"/>
              <a:sym typeface="Arial" panose="020B0604020202020204" pitchFamily="34" charset="0"/>
            </a:endParaRPr>
          </a:p>
          <a:p>
            <a:pPr marL="800100" lvl="1" indent="-342900" algn="just">
              <a:spcBef>
                <a:spcPts val="300"/>
              </a:spcBef>
            </a:pPr>
            <a:r>
              <a:rPr lang="en-US" sz="2000" b="1" u="sng" dirty="0">
                <a:solidFill>
                  <a:schemeClr val="tx1">
                    <a:lumMod val="95000"/>
                    <a:lumOff val="5000"/>
                  </a:schemeClr>
                </a:solidFill>
                <a:latin typeface="Arial" panose="020B0604020202020204" pitchFamily="34" charset="0"/>
                <a:cs typeface="Arial" panose="020B0604020202020204" pitchFamily="34" charset="0"/>
                <a:sym typeface="Arial" panose="020B0604020202020204" pitchFamily="34" charset="0"/>
              </a:rPr>
              <a:t>Evolution</a:t>
            </a:r>
            <a:r>
              <a:rPr lang="en-US" sz="2000" dirty="0">
                <a:solidFill>
                  <a:schemeClr val="tx1">
                    <a:lumMod val="95000"/>
                    <a:lumOff val="5000"/>
                  </a:schemeClr>
                </a:solidFill>
                <a:latin typeface="Arial" panose="020B0604020202020204" pitchFamily="34" charset="0"/>
                <a:cs typeface="Arial" panose="020B0604020202020204" pitchFamily="34" charset="0"/>
                <a:sym typeface="Arial" panose="020B0604020202020204" pitchFamily="34" charset="0"/>
              </a:rPr>
              <a:t> – changing the system in response to changing customer needs.</a:t>
            </a:r>
            <a:endParaRPr lang="en-US" sz="2000" dirty="0">
              <a:solidFill>
                <a:schemeClr val="tx1">
                  <a:lumMod val="95000"/>
                  <a:lumOff val="5000"/>
                </a:schemeClr>
              </a:solidFill>
              <a:latin typeface="Arial" panose="020B0604020202020204" pitchFamily="34" charset="0"/>
              <a:cs typeface="Arial" panose="020B0604020202020204" pitchFamily="34" charset="0"/>
              <a:sym typeface="Arial" panose="020B0604020202020204" pitchFamily="34" charset="0"/>
            </a:endParaRPr>
          </a:p>
          <a:p>
            <a:pPr algn="just">
              <a:spcBef>
                <a:spcPts val="600"/>
              </a:spcBef>
            </a:pPr>
            <a:r>
              <a:rPr lang="en-US" sz="2400" dirty="0">
                <a:solidFill>
                  <a:schemeClr val="tx1">
                    <a:lumMod val="95000"/>
                    <a:lumOff val="5000"/>
                  </a:schemeClr>
                </a:solidFill>
                <a:latin typeface="Arial" panose="020B0604020202020204" pitchFamily="34" charset="0"/>
                <a:cs typeface="Arial" panose="020B0604020202020204" pitchFamily="34" charset="0"/>
                <a:sym typeface="Arial" panose="020B0604020202020204" pitchFamily="34" charset="0"/>
              </a:rPr>
              <a:t>A </a:t>
            </a:r>
            <a:r>
              <a:rPr lang="en-US" sz="2400" b="1" dirty="0">
                <a:solidFill>
                  <a:schemeClr val="tx1">
                    <a:lumMod val="95000"/>
                    <a:lumOff val="5000"/>
                  </a:schemeClr>
                </a:solidFill>
                <a:latin typeface="Arial" panose="020B0604020202020204" pitchFamily="34" charset="0"/>
                <a:cs typeface="Arial" panose="020B0604020202020204" pitchFamily="34" charset="0"/>
                <a:sym typeface="Arial" panose="020B0604020202020204" pitchFamily="34" charset="0"/>
              </a:rPr>
              <a:t>software process model</a:t>
            </a:r>
            <a:r>
              <a:rPr lang="en-US" sz="2400" dirty="0">
                <a:solidFill>
                  <a:schemeClr val="tx1">
                    <a:lumMod val="95000"/>
                    <a:lumOff val="5000"/>
                  </a:schemeClr>
                </a:solidFill>
                <a:latin typeface="Arial" panose="020B0604020202020204" pitchFamily="34" charset="0"/>
                <a:cs typeface="Arial" panose="020B0604020202020204" pitchFamily="34" charset="0"/>
                <a:sym typeface="Arial" panose="020B0604020202020204" pitchFamily="34" charset="0"/>
              </a:rPr>
              <a:t> is an </a:t>
            </a:r>
            <a:r>
              <a:rPr lang="en-US" sz="2400" b="1" dirty="0">
                <a:solidFill>
                  <a:schemeClr val="tx1">
                    <a:lumMod val="95000"/>
                    <a:lumOff val="5000"/>
                  </a:schemeClr>
                </a:solidFill>
                <a:latin typeface="Arial" panose="020B0604020202020204" pitchFamily="34" charset="0"/>
                <a:cs typeface="Arial" panose="020B0604020202020204" pitchFamily="34" charset="0"/>
                <a:sym typeface="Arial" panose="020B0604020202020204" pitchFamily="34" charset="0"/>
              </a:rPr>
              <a:t>abstract</a:t>
            </a:r>
            <a:r>
              <a:rPr lang="en-US" sz="2400" dirty="0">
                <a:solidFill>
                  <a:schemeClr val="tx1">
                    <a:lumMod val="95000"/>
                    <a:lumOff val="5000"/>
                  </a:schemeClr>
                </a:solidFill>
                <a:latin typeface="Arial" panose="020B0604020202020204" pitchFamily="34" charset="0"/>
                <a:cs typeface="Arial" panose="020B0604020202020204" pitchFamily="34" charset="0"/>
                <a:sym typeface="Arial" panose="020B0604020202020204" pitchFamily="34" charset="0"/>
              </a:rPr>
              <a:t> </a:t>
            </a:r>
            <a:r>
              <a:rPr lang="en-US" sz="2400" b="1" dirty="0">
                <a:solidFill>
                  <a:schemeClr val="tx1">
                    <a:lumMod val="95000"/>
                    <a:lumOff val="5000"/>
                  </a:schemeClr>
                </a:solidFill>
                <a:latin typeface="Arial" panose="020B0604020202020204" pitchFamily="34" charset="0"/>
                <a:cs typeface="Arial" panose="020B0604020202020204" pitchFamily="34" charset="0"/>
                <a:sym typeface="Arial" panose="020B0604020202020204" pitchFamily="34" charset="0"/>
              </a:rPr>
              <a:t>representation</a:t>
            </a:r>
            <a:r>
              <a:rPr lang="en-US" sz="2400" dirty="0">
                <a:solidFill>
                  <a:schemeClr val="tx1">
                    <a:lumMod val="95000"/>
                    <a:lumOff val="5000"/>
                  </a:schemeClr>
                </a:solidFill>
                <a:latin typeface="Arial" panose="020B0604020202020204" pitchFamily="34" charset="0"/>
                <a:cs typeface="Arial" panose="020B0604020202020204" pitchFamily="34" charset="0"/>
                <a:sym typeface="Arial" panose="020B0604020202020204" pitchFamily="34" charset="0"/>
              </a:rPr>
              <a:t> of a process. It presents a description of a process from some particular perspective.</a:t>
            </a:r>
            <a:endParaRPr lang="en-US" dirty="0">
              <a:solidFill>
                <a:schemeClr val="tx1">
                  <a:lumMod val="95000"/>
                  <a:lumOff val="5000"/>
                </a:schemeClr>
              </a:solidFill>
            </a:endParaRPr>
          </a:p>
        </p:txBody>
      </p:sp>
      <p:sp>
        <p:nvSpPr>
          <p:cNvPr id="4" name="Date Placeholder 3"/>
          <p:cNvSpPr>
            <a:spLocks noGrp="1"/>
          </p:cNvSpPr>
          <p:nvPr>
            <p:ph type="dt" sz="half" idx="10"/>
          </p:nvPr>
        </p:nvSpPr>
        <p:spPr/>
        <p:txBody>
          <a:bodyPr/>
          <a:lstStyle/>
          <a:p>
            <a:pPr>
              <a:defRPr/>
            </a:pPr>
            <a:fld id="{2A9E9C38-F46F-4C2A-8738-5F595E272DA0}" type="datetime1">
              <a:rPr lang="en-US" smtClean="0"/>
            </a:fld>
            <a:endParaRPr lang="en-US"/>
          </a:p>
        </p:txBody>
      </p:sp>
      <p:sp>
        <p:nvSpPr>
          <p:cNvPr id="6" name="Slide Number Placeholder 5"/>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457200" y="273050"/>
            <a:ext cx="7292975" cy="1144588"/>
          </a:xfrm>
        </p:spPr>
        <p:txBody>
          <a:bodyPr>
            <a:normAutofit/>
          </a:bodyPr>
          <a:lstStyle/>
          <a:p>
            <a:r>
              <a:rPr lang="en-US" sz="3600" dirty="0">
                <a:cs typeface="Times New Roman" panose="02020603050405020304" pitchFamily="18" charset="0"/>
                <a:sym typeface="Arial" panose="020B0604020202020204" pitchFamily="34" charset="0"/>
              </a:rPr>
              <a:t>Software Process Descriptions</a:t>
            </a:r>
            <a:endParaRPr lang="en-US" sz="3600" dirty="0">
              <a:cs typeface="Times New Roman" panose="02020603050405020304" pitchFamily="18" charset="0"/>
            </a:endParaRPr>
          </a:p>
        </p:txBody>
      </p:sp>
      <p:sp>
        <p:nvSpPr>
          <p:cNvPr id="6148" name="Rectangle 3"/>
          <p:cNvSpPr>
            <a:spLocks noGrp="1" noChangeArrowheads="1"/>
          </p:cNvSpPr>
          <p:nvPr>
            <p:ph type="body" idx="1"/>
          </p:nvPr>
        </p:nvSpPr>
        <p:spPr>
          <a:xfrm>
            <a:off x="457200" y="1597025"/>
            <a:ext cx="8229600" cy="4529138"/>
          </a:xfrm>
        </p:spPr>
        <p:txBody>
          <a:bodyPr/>
          <a:lstStyle/>
          <a:p>
            <a:pPr algn="just">
              <a:spcBef>
                <a:spcPts val="600"/>
              </a:spcBef>
            </a:pPr>
            <a:r>
              <a:rPr lang="en-US" sz="2400" dirty="0">
                <a:solidFill>
                  <a:srgbClr val="000000"/>
                </a:solidFill>
                <a:latin typeface="Arial" panose="020B0604020202020204" pitchFamily="34" charset="0"/>
                <a:cs typeface="Arial" panose="020B0604020202020204" pitchFamily="34" charset="0"/>
                <a:sym typeface="Arial" panose="020B0604020202020204" pitchFamily="34" charset="0"/>
              </a:rPr>
              <a:t>When we describe and discuss processes, we usually talk about the </a:t>
            </a:r>
            <a:r>
              <a:rPr lang="en-US" sz="2400" b="1" u="sng" dirty="0">
                <a:solidFill>
                  <a:srgbClr val="000000"/>
                </a:solidFill>
                <a:latin typeface="Arial" panose="020B0604020202020204" pitchFamily="34" charset="0"/>
                <a:cs typeface="Arial" panose="020B0604020202020204" pitchFamily="34" charset="0"/>
                <a:sym typeface="Arial" panose="020B0604020202020204" pitchFamily="34" charset="0"/>
              </a:rPr>
              <a:t>activities</a:t>
            </a:r>
            <a:r>
              <a:rPr lang="en-US" sz="2400" dirty="0">
                <a:solidFill>
                  <a:srgbClr val="000000"/>
                </a:solidFill>
                <a:latin typeface="Arial" panose="020B0604020202020204" pitchFamily="34" charset="0"/>
                <a:cs typeface="Arial" panose="020B0604020202020204" pitchFamily="34" charset="0"/>
                <a:sym typeface="Arial" panose="020B0604020202020204" pitchFamily="34" charset="0"/>
              </a:rPr>
              <a:t> in these processes such as specifying a data model, designing a user interface, etc. and the ordering of these activities.</a:t>
            </a:r>
            <a:endParaRPr lang="en-US" sz="2400" dirty="0">
              <a:solidFill>
                <a:srgbClr val="000000"/>
              </a:solidFill>
              <a:latin typeface="Arial" panose="020B0604020202020204" pitchFamily="34" charset="0"/>
              <a:cs typeface="Arial" panose="020B0604020202020204" pitchFamily="34" charset="0"/>
              <a:sym typeface="Arial" panose="020B0604020202020204" pitchFamily="34" charset="0"/>
            </a:endParaRPr>
          </a:p>
          <a:p>
            <a:pPr algn="just">
              <a:spcBef>
                <a:spcPts val="600"/>
              </a:spcBef>
            </a:pPr>
            <a:r>
              <a:rPr lang="en-US" sz="2400" dirty="0">
                <a:solidFill>
                  <a:srgbClr val="000000"/>
                </a:solidFill>
                <a:latin typeface="Arial" panose="020B0604020202020204" pitchFamily="34" charset="0"/>
                <a:cs typeface="Arial" panose="020B0604020202020204" pitchFamily="34" charset="0"/>
                <a:sym typeface="Arial" panose="020B0604020202020204" pitchFamily="34" charset="0"/>
              </a:rPr>
              <a:t>Process descriptions may also include:</a:t>
            </a:r>
            <a:endParaRPr lang="en-US" sz="2400" dirty="0">
              <a:solidFill>
                <a:srgbClr val="000000"/>
              </a:solidFill>
              <a:latin typeface="Arial" panose="020B0604020202020204" pitchFamily="34" charset="0"/>
              <a:cs typeface="Arial" panose="020B0604020202020204" pitchFamily="34" charset="0"/>
              <a:sym typeface="Arial" panose="020B0604020202020204" pitchFamily="34" charset="0"/>
            </a:endParaRPr>
          </a:p>
          <a:p>
            <a:pPr marL="800100" lvl="1" indent="-342900" algn="just">
              <a:spcBef>
                <a:spcPts val="300"/>
              </a:spcBef>
            </a:pPr>
            <a:r>
              <a:rPr lang="en-US" sz="2000" b="1" dirty="0">
                <a:solidFill>
                  <a:srgbClr val="000000"/>
                </a:solidFill>
                <a:latin typeface="Arial" panose="020B0604020202020204" pitchFamily="34" charset="0"/>
                <a:cs typeface="Arial" panose="020B0604020202020204" pitchFamily="34" charset="0"/>
                <a:sym typeface="Arial" panose="020B0604020202020204" pitchFamily="34" charset="0"/>
              </a:rPr>
              <a:t>Products</a:t>
            </a:r>
            <a:r>
              <a:rPr lang="en-US" sz="2000" dirty="0">
                <a:solidFill>
                  <a:srgbClr val="000000"/>
                </a:solidFill>
                <a:latin typeface="Arial" panose="020B0604020202020204" pitchFamily="34" charset="0"/>
                <a:cs typeface="Arial" panose="020B0604020202020204" pitchFamily="34" charset="0"/>
                <a:sym typeface="Arial" panose="020B0604020202020204" pitchFamily="34" charset="0"/>
              </a:rPr>
              <a:t>, which are the </a:t>
            </a:r>
            <a:r>
              <a:rPr lang="en-US" sz="2000" b="1" dirty="0">
                <a:solidFill>
                  <a:srgbClr val="000000"/>
                </a:solidFill>
                <a:latin typeface="Arial" panose="020B0604020202020204" pitchFamily="34" charset="0"/>
                <a:cs typeface="Arial" panose="020B0604020202020204" pitchFamily="34" charset="0"/>
                <a:sym typeface="Arial" panose="020B0604020202020204" pitchFamily="34" charset="0"/>
              </a:rPr>
              <a:t>outcomes</a:t>
            </a:r>
            <a:r>
              <a:rPr lang="en-US" sz="2000" dirty="0">
                <a:solidFill>
                  <a:srgbClr val="000000"/>
                </a:solidFill>
                <a:latin typeface="Arial" panose="020B0604020202020204" pitchFamily="34" charset="0"/>
                <a:cs typeface="Arial" panose="020B0604020202020204" pitchFamily="34" charset="0"/>
                <a:sym typeface="Arial" panose="020B0604020202020204" pitchFamily="34" charset="0"/>
              </a:rPr>
              <a:t> of a process activity; </a:t>
            </a:r>
            <a:endParaRPr lang="en-US" sz="2000" dirty="0">
              <a:solidFill>
                <a:srgbClr val="000000"/>
              </a:solidFill>
              <a:latin typeface="Arial" panose="020B0604020202020204" pitchFamily="34" charset="0"/>
              <a:cs typeface="Arial" panose="020B0604020202020204" pitchFamily="34" charset="0"/>
              <a:sym typeface="Arial" panose="020B0604020202020204" pitchFamily="34" charset="0"/>
            </a:endParaRPr>
          </a:p>
          <a:p>
            <a:pPr marL="800100" lvl="1" indent="-342900" algn="just">
              <a:spcBef>
                <a:spcPts val="300"/>
              </a:spcBef>
            </a:pPr>
            <a:r>
              <a:rPr lang="en-US" sz="2000" b="1" dirty="0">
                <a:solidFill>
                  <a:srgbClr val="000000"/>
                </a:solidFill>
                <a:latin typeface="Arial" panose="020B0604020202020204" pitchFamily="34" charset="0"/>
                <a:cs typeface="Arial" panose="020B0604020202020204" pitchFamily="34" charset="0"/>
                <a:sym typeface="Arial" panose="020B0604020202020204" pitchFamily="34" charset="0"/>
              </a:rPr>
              <a:t>Roles</a:t>
            </a:r>
            <a:r>
              <a:rPr lang="en-US" sz="2000" dirty="0">
                <a:solidFill>
                  <a:srgbClr val="000000"/>
                </a:solidFill>
                <a:latin typeface="Arial" panose="020B0604020202020204" pitchFamily="34" charset="0"/>
                <a:cs typeface="Arial" panose="020B0604020202020204" pitchFamily="34" charset="0"/>
                <a:sym typeface="Arial" panose="020B0604020202020204" pitchFamily="34" charset="0"/>
              </a:rPr>
              <a:t>, which reflect the responsibilities of the people involved in the process;</a:t>
            </a:r>
            <a:endParaRPr lang="en-US" sz="2000" dirty="0">
              <a:solidFill>
                <a:srgbClr val="000000"/>
              </a:solidFill>
              <a:latin typeface="Arial" panose="020B0604020202020204" pitchFamily="34" charset="0"/>
              <a:cs typeface="Arial" panose="020B0604020202020204" pitchFamily="34" charset="0"/>
              <a:sym typeface="Arial" panose="020B0604020202020204" pitchFamily="34" charset="0"/>
            </a:endParaRPr>
          </a:p>
          <a:p>
            <a:pPr marL="800100" lvl="1" indent="-342900" algn="just">
              <a:spcBef>
                <a:spcPts val="300"/>
              </a:spcBef>
            </a:pPr>
            <a:r>
              <a:rPr lang="en-US" sz="2000" b="1" dirty="0">
                <a:solidFill>
                  <a:srgbClr val="000000"/>
                </a:solidFill>
                <a:latin typeface="Arial" panose="020B0604020202020204" pitchFamily="34" charset="0"/>
                <a:cs typeface="Arial" panose="020B0604020202020204" pitchFamily="34" charset="0"/>
                <a:sym typeface="Arial" panose="020B0604020202020204" pitchFamily="34" charset="0"/>
              </a:rPr>
              <a:t>Pre- and post-conditions</a:t>
            </a:r>
            <a:r>
              <a:rPr lang="en-US" sz="2000" dirty="0">
                <a:solidFill>
                  <a:srgbClr val="000000"/>
                </a:solidFill>
                <a:latin typeface="Arial" panose="020B0604020202020204" pitchFamily="34" charset="0"/>
                <a:cs typeface="Arial" panose="020B0604020202020204" pitchFamily="34" charset="0"/>
                <a:sym typeface="Arial" panose="020B0604020202020204" pitchFamily="34" charset="0"/>
              </a:rPr>
              <a:t>, which are statements that are true before and after a process activity has been enacted or a product produced.   </a:t>
            </a:r>
            <a:endParaRPr lang="en-US" dirty="0">
              <a:solidFill>
                <a:srgbClr val="000000"/>
              </a:solidFill>
            </a:endParaRPr>
          </a:p>
        </p:txBody>
      </p:sp>
      <p:sp>
        <p:nvSpPr>
          <p:cNvPr id="4" name="Date Placeholder 3"/>
          <p:cNvSpPr>
            <a:spLocks noGrp="1"/>
          </p:cNvSpPr>
          <p:nvPr>
            <p:ph type="dt" sz="half" idx="10"/>
          </p:nvPr>
        </p:nvSpPr>
        <p:spPr/>
        <p:txBody>
          <a:bodyPr/>
          <a:lstStyle/>
          <a:p>
            <a:pPr>
              <a:defRPr/>
            </a:pPr>
            <a:fld id="{E2F5ABAF-8B38-477F-9F9B-489CD7007DEC}" type="datetime1">
              <a:rPr lang="en-US" smtClean="0"/>
            </a:fld>
            <a:endParaRPr lang="en-US"/>
          </a:p>
        </p:txBody>
      </p:sp>
      <p:sp>
        <p:nvSpPr>
          <p:cNvPr id="6" name="Slide Number Placeholder 5"/>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a:xfrm>
            <a:off x="609600" y="381000"/>
            <a:ext cx="7608887" cy="1144588"/>
          </a:xfrm>
        </p:spPr>
        <p:txBody>
          <a:bodyPr>
            <a:normAutofit fontScale="90000"/>
          </a:bodyPr>
          <a:lstStyle/>
          <a:p>
            <a:br>
              <a:rPr lang="en-US" sz="2400" b="1" dirty="0">
                <a:solidFill>
                  <a:srgbClr val="46424D"/>
                </a:solidFill>
                <a:latin typeface="Arial" panose="020B0604020202020204" pitchFamily="34" charset="0"/>
                <a:cs typeface="Arial" panose="020B0604020202020204" pitchFamily="34" charset="0"/>
                <a:sym typeface="Arial" panose="020B0604020202020204" pitchFamily="34" charset="0"/>
              </a:rPr>
            </a:br>
            <a:br>
              <a:rPr lang="en-US" sz="2400" b="1" dirty="0">
                <a:solidFill>
                  <a:srgbClr val="46424D"/>
                </a:solidFill>
                <a:latin typeface="Arial" panose="020B0604020202020204" pitchFamily="34" charset="0"/>
                <a:cs typeface="Arial" panose="020B0604020202020204" pitchFamily="34" charset="0"/>
                <a:sym typeface="Arial" panose="020B0604020202020204" pitchFamily="34" charset="0"/>
              </a:rPr>
            </a:br>
            <a:r>
              <a:rPr lang="en-US" dirty="0">
                <a:cs typeface="Times New Roman" panose="02020603050405020304" pitchFamily="18" charset="0"/>
                <a:sym typeface="Arial" panose="020B0604020202020204" pitchFamily="34" charset="0"/>
              </a:rPr>
              <a:t>Plan-driven and Agile Processes</a:t>
            </a:r>
            <a:br>
              <a:rPr lang="en-US" dirty="0">
                <a:cs typeface="Times New Roman" panose="02020603050405020304" pitchFamily="18" charset="0"/>
                <a:sym typeface="Arial" panose="020B0604020202020204" pitchFamily="34" charset="0"/>
              </a:rPr>
            </a:br>
            <a:endParaRPr lang="en-US" dirty="0">
              <a:cs typeface="Times New Roman" panose="02020603050405020304" pitchFamily="18" charset="0"/>
            </a:endParaRPr>
          </a:p>
        </p:txBody>
      </p:sp>
      <p:sp>
        <p:nvSpPr>
          <p:cNvPr id="7172" name="Rectangle 3"/>
          <p:cNvSpPr>
            <a:spLocks noGrp="1" noChangeArrowheads="1"/>
          </p:cNvSpPr>
          <p:nvPr>
            <p:ph type="body" idx="1"/>
          </p:nvPr>
        </p:nvSpPr>
        <p:spPr>
          <a:xfrm>
            <a:off x="457200" y="1597025"/>
            <a:ext cx="8229600" cy="4529138"/>
          </a:xfrm>
        </p:spPr>
        <p:txBody>
          <a:bodyPr>
            <a:normAutofit/>
          </a:bodyPr>
          <a:lstStyle/>
          <a:p>
            <a:pPr algn="just">
              <a:spcBef>
                <a:spcPts val="600"/>
              </a:spcBef>
            </a:pPr>
            <a:r>
              <a:rPr lang="en-US" sz="2400" b="1" dirty="0">
                <a:solidFill>
                  <a:srgbClr val="000000"/>
                </a:solidFill>
                <a:latin typeface="Arial" panose="020B0604020202020204" pitchFamily="34" charset="0"/>
                <a:cs typeface="Arial" panose="020B0604020202020204" pitchFamily="34" charset="0"/>
                <a:sym typeface="Arial" panose="020B0604020202020204" pitchFamily="34" charset="0"/>
              </a:rPr>
              <a:t>Plan-driven processes </a:t>
            </a:r>
            <a:r>
              <a:rPr lang="en-US" sz="2400" dirty="0">
                <a:solidFill>
                  <a:srgbClr val="000000"/>
                </a:solidFill>
                <a:latin typeface="Arial" panose="020B0604020202020204" pitchFamily="34" charset="0"/>
                <a:cs typeface="Arial" panose="020B0604020202020204" pitchFamily="34" charset="0"/>
                <a:sym typeface="Arial" panose="020B0604020202020204" pitchFamily="34" charset="0"/>
              </a:rPr>
              <a:t>are processes where all of the process activities are planned in advance and progress is measured against this plan. </a:t>
            </a:r>
            <a:endParaRPr lang="en-US" sz="2400" dirty="0">
              <a:solidFill>
                <a:srgbClr val="000000"/>
              </a:solidFill>
              <a:latin typeface="Arial" panose="020B0604020202020204" pitchFamily="34" charset="0"/>
              <a:cs typeface="Arial" panose="020B0604020202020204" pitchFamily="34" charset="0"/>
              <a:sym typeface="Arial" panose="020B0604020202020204" pitchFamily="34" charset="0"/>
            </a:endParaRPr>
          </a:p>
          <a:p>
            <a:pPr lvl="1" algn="just">
              <a:spcBef>
                <a:spcPts val="600"/>
              </a:spcBef>
            </a:pPr>
            <a:r>
              <a:rPr lang="en-US" sz="2400" dirty="0">
                <a:solidFill>
                  <a:srgbClr val="000000"/>
                </a:solidFill>
                <a:latin typeface="Arial" panose="020B0604020202020204" pitchFamily="34" charset="0"/>
                <a:cs typeface="Arial" panose="020B0604020202020204" pitchFamily="34" charset="0"/>
                <a:sym typeface="Arial" panose="020B0604020202020204" pitchFamily="34" charset="0"/>
              </a:rPr>
              <a:t>Plan drives everything!</a:t>
            </a:r>
            <a:endParaRPr lang="en-US" sz="2400" dirty="0">
              <a:solidFill>
                <a:srgbClr val="000000"/>
              </a:solidFill>
              <a:latin typeface="Arial" panose="020B0604020202020204" pitchFamily="34" charset="0"/>
              <a:cs typeface="Arial" panose="020B0604020202020204" pitchFamily="34" charset="0"/>
              <a:sym typeface="Arial" panose="020B0604020202020204" pitchFamily="34" charset="0"/>
            </a:endParaRPr>
          </a:p>
          <a:p>
            <a:pPr algn="just">
              <a:spcBef>
                <a:spcPts val="600"/>
              </a:spcBef>
            </a:pPr>
            <a:r>
              <a:rPr lang="en-US" sz="2400" dirty="0">
                <a:solidFill>
                  <a:srgbClr val="000000"/>
                </a:solidFill>
                <a:latin typeface="Arial" panose="020B0604020202020204" pitchFamily="34" charset="0"/>
                <a:cs typeface="Arial" panose="020B0604020202020204" pitchFamily="34" charset="0"/>
                <a:sym typeface="Arial" panose="020B0604020202020204" pitchFamily="34" charset="0"/>
              </a:rPr>
              <a:t>In Agile Processes planning is incremental and it is </a:t>
            </a:r>
            <a:r>
              <a:rPr lang="en-US" sz="2400" b="1" u="sng" dirty="0">
                <a:solidFill>
                  <a:srgbClr val="000000"/>
                </a:solidFill>
                <a:latin typeface="Arial" panose="020B0604020202020204" pitchFamily="34" charset="0"/>
                <a:cs typeface="Arial" panose="020B0604020202020204" pitchFamily="34" charset="0"/>
                <a:sym typeface="Arial" panose="020B0604020202020204" pitchFamily="34" charset="0"/>
              </a:rPr>
              <a:t>easier</a:t>
            </a:r>
            <a:r>
              <a:rPr lang="en-US" sz="2400" u="sng" dirty="0">
                <a:solidFill>
                  <a:srgbClr val="000000"/>
                </a:solidFill>
                <a:latin typeface="Arial" panose="020B0604020202020204" pitchFamily="34" charset="0"/>
                <a:cs typeface="Arial" panose="020B0604020202020204" pitchFamily="34" charset="0"/>
                <a:sym typeface="Arial" panose="020B0604020202020204" pitchFamily="34" charset="0"/>
              </a:rPr>
              <a:t> </a:t>
            </a:r>
            <a:r>
              <a:rPr lang="en-US" sz="2400" b="1" u="sng" dirty="0">
                <a:solidFill>
                  <a:srgbClr val="000000"/>
                </a:solidFill>
                <a:latin typeface="Arial" panose="020B0604020202020204" pitchFamily="34" charset="0"/>
                <a:cs typeface="Arial" panose="020B0604020202020204" pitchFamily="34" charset="0"/>
                <a:sym typeface="Arial" panose="020B0604020202020204" pitchFamily="34" charset="0"/>
              </a:rPr>
              <a:t>to</a:t>
            </a:r>
            <a:r>
              <a:rPr lang="en-US" sz="2400" u="sng" dirty="0">
                <a:solidFill>
                  <a:srgbClr val="000000"/>
                </a:solidFill>
                <a:latin typeface="Arial" panose="020B0604020202020204" pitchFamily="34" charset="0"/>
                <a:cs typeface="Arial" panose="020B0604020202020204" pitchFamily="34" charset="0"/>
                <a:sym typeface="Arial" panose="020B0604020202020204" pitchFamily="34" charset="0"/>
              </a:rPr>
              <a:t> </a:t>
            </a:r>
            <a:r>
              <a:rPr lang="en-US" sz="2400" b="1" u="sng" dirty="0">
                <a:solidFill>
                  <a:srgbClr val="000000"/>
                </a:solidFill>
                <a:latin typeface="Arial" panose="020B0604020202020204" pitchFamily="34" charset="0"/>
                <a:cs typeface="Arial" panose="020B0604020202020204" pitchFamily="34" charset="0"/>
                <a:sym typeface="Arial" panose="020B0604020202020204" pitchFamily="34" charset="0"/>
              </a:rPr>
              <a:t>change</a:t>
            </a:r>
            <a:r>
              <a:rPr lang="en-US" sz="2400" u="sng" dirty="0">
                <a:solidFill>
                  <a:srgbClr val="000000"/>
                </a:solidFill>
                <a:latin typeface="Arial" panose="020B0604020202020204" pitchFamily="34" charset="0"/>
                <a:cs typeface="Arial" panose="020B0604020202020204" pitchFamily="34" charset="0"/>
                <a:sym typeface="Arial" panose="020B0604020202020204" pitchFamily="34" charset="0"/>
              </a:rPr>
              <a:t> </a:t>
            </a:r>
            <a:r>
              <a:rPr lang="en-US" sz="2400" dirty="0">
                <a:solidFill>
                  <a:srgbClr val="000000"/>
                </a:solidFill>
                <a:latin typeface="Arial" panose="020B0604020202020204" pitchFamily="34" charset="0"/>
                <a:cs typeface="Arial" panose="020B0604020202020204" pitchFamily="34" charset="0"/>
                <a:sym typeface="Arial" panose="020B0604020202020204" pitchFamily="34" charset="0"/>
              </a:rPr>
              <a:t>the process to reflect changing customer requirements. </a:t>
            </a:r>
            <a:endParaRPr lang="en-US" sz="2400" dirty="0">
              <a:solidFill>
                <a:srgbClr val="000000"/>
              </a:solidFill>
              <a:latin typeface="Arial" panose="020B0604020202020204" pitchFamily="34" charset="0"/>
              <a:cs typeface="Arial" panose="020B0604020202020204" pitchFamily="34" charset="0"/>
              <a:sym typeface="Arial" panose="020B0604020202020204" pitchFamily="34" charset="0"/>
            </a:endParaRPr>
          </a:p>
          <a:p>
            <a:pPr algn="just">
              <a:spcBef>
                <a:spcPts val="600"/>
              </a:spcBef>
            </a:pPr>
            <a:endParaRPr lang="en-US" sz="2400" dirty="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 name="Date Placeholder 3"/>
          <p:cNvSpPr>
            <a:spLocks noGrp="1"/>
          </p:cNvSpPr>
          <p:nvPr>
            <p:ph type="dt" sz="half" idx="10"/>
          </p:nvPr>
        </p:nvSpPr>
        <p:spPr/>
        <p:txBody>
          <a:bodyPr/>
          <a:lstStyle/>
          <a:p>
            <a:pPr>
              <a:defRPr/>
            </a:pPr>
            <a:fld id="{B6947B46-422D-43E5-A53A-84A6ED273517}" type="datetime1">
              <a:rPr lang="en-US" smtClean="0"/>
            </a:fld>
            <a:endParaRPr lang="en-US"/>
          </a:p>
        </p:txBody>
      </p:sp>
      <p:sp>
        <p:nvSpPr>
          <p:cNvPr id="6" name="Slide Number Placeholder 5"/>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a:xfrm>
            <a:off x="609600" y="381000"/>
            <a:ext cx="7608887" cy="1144588"/>
          </a:xfrm>
        </p:spPr>
        <p:txBody>
          <a:bodyPr>
            <a:normAutofit fontScale="90000"/>
          </a:bodyPr>
          <a:lstStyle/>
          <a:p>
            <a:br>
              <a:rPr lang="en-US" sz="2400" b="1" dirty="0">
                <a:solidFill>
                  <a:srgbClr val="46424D"/>
                </a:solidFill>
                <a:latin typeface="Arial" panose="020B0604020202020204" pitchFamily="34" charset="0"/>
                <a:cs typeface="Arial" panose="020B0604020202020204" pitchFamily="34" charset="0"/>
                <a:sym typeface="Arial" panose="020B0604020202020204" pitchFamily="34" charset="0"/>
              </a:rPr>
            </a:br>
            <a:br>
              <a:rPr lang="en-US" sz="2400" b="1" dirty="0">
                <a:solidFill>
                  <a:srgbClr val="46424D"/>
                </a:solidFill>
                <a:latin typeface="Arial" panose="020B0604020202020204" pitchFamily="34" charset="0"/>
                <a:cs typeface="Arial" panose="020B0604020202020204" pitchFamily="34" charset="0"/>
                <a:sym typeface="Arial" panose="020B0604020202020204" pitchFamily="34" charset="0"/>
              </a:rPr>
            </a:br>
            <a:r>
              <a:rPr lang="en-US" dirty="0">
                <a:cs typeface="Times New Roman" panose="02020603050405020304" pitchFamily="18" charset="0"/>
                <a:sym typeface="Arial" panose="020B0604020202020204" pitchFamily="34" charset="0"/>
              </a:rPr>
              <a:t>Plan-driven and Agile Processes</a:t>
            </a:r>
            <a:br>
              <a:rPr lang="en-US" dirty="0">
                <a:cs typeface="Times New Roman" panose="02020603050405020304" pitchFamily="18" charset="0"/>
                <a:sym typeface="Arial" panose="020B0604020202020204" pitchFamily="34" charset="0"/>
              </a:rPr>
            </a:br>
            <a:endParaRPr lang="en-US" dirty="0">
              <a:cs typeface="Times New Roman" panose="02020603050405020304" pitchFamily="18" charset="0"/>
            </a:endParaRPr>
          </a:p>
        </p:txBody>
      </p:sp>
      <p:sp>
        <p:nvSpPr>
          <p:cNvPr id="7172" name="Rectangle 3"/>
          <p:cNvSpPr>
            <a:spLocks noGrp="1" noChangeArrowheads="1"/>
          </p:cNvSpPr>
          <p:nvPr>
            <p:ph type="body" idx="1"/>
          </p:nvPr>
        </p:nvSpPr>
        <p:spPr>
          <a:xfrm>
            <a:off x="457200" y="1597025"/>
            <a:ext cx="8229600" cy="4529138"/>
          </a:xfrm>
        </p:spPr>
        <p:txBody>
          <a:bodyPr>
            <a:normAutofit/>
          </a:bodyPr>
          <a:lstStyle/>
          <a:p>
            <a:pPr algn="just">
              <a:spcBef>
                <a:spcPts val="600"/>
              </a:spcBef>
            </a:pPr>
            <a:r>
              <a:rPr lang="en-US" sz="2400" dirty="0">
                <a:solidFill>
                  <a:srgbClr val="000000"/>
                </a:solidFill>
                <a:latin typeface="Arial" panose="020B0604020202020204" pitchFamily="34" charset="0"/>
                <a:cs typeface="Arial" panose="020B0604020202020204" pitchFamily="34" charset="0"/>
                <a:sym typeface="Arial" panose="020B0604020202020204" pitchFamily="34" charset="0"/>
              </a:rPr>
              <a:t>Activity</a:t>
            </a:r>
            <a:endParaRPr lang="en-US" sz="2400" dirty="0">
              <a:solidFill>
                <a:srgbClr val="000000"/>
              </a:solidFill>
              <a:latin typeface="Arial" panose="020B0604020202020204" pitchFamily="34" charset="0"/>
              <a:cs typeface="Arial" panose="020B0604020202020204" pitchFamily="34" charset="0"/>
              <a:sym typeface="Arial" panose="020B0604020202020204" pitchFamily="34" charset="0"/>
            </a:endParaRPr>
          </a:p>
          <a:p>
            <a:pPr marL="0" indent="0" algn="just">
              <a:spcBef>
                <a:spcPts val="600"/>
              </a:spcBef>
              <a:buNone/>
            </a:pPr>
            <a:r>
              <a:rPr lang="en-US" dirty="0"/>
              <a:t>Research and list two advantages and two disadvantages of both Plan-Driven and Agile processes.</a:t>
            </a:r>
            <a:endParaRPr lang="en-US" sz="2400" dirty="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 name="Date Placeholder 3"/>
          <p:cNvSpPr>
            <a:spLocks noGrp="1"/>
          </p:cNvSpPr>
          <p:nvPr>
            <p:ph type="dt" sz="half" idx="10"/>
          </p:nvPr>
        </p:nvSpPr>
        <p:spPr/>
        <p:txBody>
          <a:bodyPr/>
          <a:lstStyle/>
          <a:p>
            <a:pPr>
              <a:defRPr/>
            </a:pPr>
            <a:fld id="{B6947B46-422D-43E5-A53A-84A6ED273517}" type="datetime1">
              <a:rPr lang="en-US" smtClean="0"/>
            </a:fld>
            <a:endParaRPr lang="en-US"/>
          </a:p>
        </p:txBody>
      </p:sp>
      <p:sp>
        <p:nvSpPr>
          <p:cNvPr id="6" name="Slide Number Placeholder 5"/>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a:xfrm>
            <a:off x="609600" y="381000"/>
            <a:ext cx="7608887" cy="1144588"/>
          </a:xfrm>
        </p:spPr>
        <p:txBody>
          <a:bodyPr>
            <a:normAutofit fontScale="90000"/>
          </a:bodyPr>
          <a:lstStyle/>
          <a:p>
            <a:br>
              <a:rPr lang="en-US" sz="2400" b="1" dirty="0">
                <a:solidFill>
                  <a:srgbClr val="46424D"/>
                </a:solidFill>
                <a:latin typeface="Arial" panose="020B0604020202020204" pitchFamily="34" charset="0"/>
                <a:cs typeface="Arial" panose="020B0604020202020204" pitchFamily="34" charset="0"/>
                <a:sym typeface="Arial" panose="020B0604020202020204" pitchFamily="34" charset="0"/>
              </a:rPr>
            </a:br>
            <a:br>
              <a:rPr lang="en-US" sz="2400" b="1" dirty="0">
                <a:solidFill>
                  <a:srgbClr val="46424D"/>
                </a:solidFill>
                <a:latin typeface="Arial" panose="020B0604020202020204" pitchFamily="34" charset="0"/>
                <a:cs typeface="Arial" panose="020B0604020202020204" pitchFamily="34" charset="0"/>
                <a:sym typeface="Arial" panose="020B0604020202020204" pitchFamily="34" charset="0"/>
              </a:rPr>
            </a:br>
            <a:r>
              <a:rPr lang="en-US" dirty="0">
                <a:cs typeface="Times New Roman" panose="02020603050405020304" pitchFamily="18" charset="0"/>
                <a:sym typeface="Arial" panose="020B0604020202020204" pitchFamily="34" charset="0"/>
              </a:rPr>
              <a:t>Plan-driven and Agile Processes</a:t>
            </a:r>
            <a:br>
              <a:rPr lang="en-US" dirty="0">
                <a:cs typeface="Times New Roman" panose="02020603050405020304" pitchFamily="18" charset="0"/>
                <a:sym typeface="Arial" panose="020B0604020202020204" pitchFamily="34" charset="0"/>
              </a:rPr>
            </a:br>
            <a:endParaRPr lang="en-US" dirty="0">
              <a:cs typeface="Times New Roman" panose="02020603050405020304" pitchFamily="18" charset="0"/>
            </a:endParaRPr>
          </a:p>
        </p:txBody>
      </p:sp>
      <p:sp>
        <p:nvSpPr>
          <p:cNvPr id="7172" name="Rectangle 3"/>
          <p:cNvSpPr>
            <a:spLocks noGrp="1" noChangeArrowheads="1"/>
          </p:cNvSpPr>
          <p:nvPr>
            <p:ph type="body" idx="1"/>
          </p:nvPr>
        </p:nvSpPr>
        <p:spPr>
          <a:xfrm>
            <a:off x="457200" y="1597025"/>
            <a:ext cx="8229600" cy="4529138"/>
          </a:xfrm>
        </p:spPr>
        <p:txBody>
          <a:bodyPr>
            <a:normAutofit/>
          </a:bodyPr>
          <a:lstStyle/>
          <a:p>
            <a:pPr algn="just">
              <a:spcBef>
                <a:spcPts val="600"/>
              </a:spcBef>
            </a:pPr>
            <a:r>
              <a:rPr lang="en-US" sz="2400" b="1" dirty="0">
                <a:solidFill>
                  <a:srgbClr val="000000"/>
                </a:solidFill>
                <a:latin typeface="Arial" panose="020B0604020202020204" pitchFamily="34" charset="0"/>
                <a:cs typeface="Arial" panose="020B0604020202020204" pitchFamily="34" charset="0"/>
                <a:sym typeface="Arial" panose="020B0604020202020204" pitchFamily="34" charset="0"/>
              </a:rPr>
              <a:t>In practice, most practical processes include elements of both plan-driven and agile. </a:t>
            </a:r>
            <a:endParaRPr lang="en-US" sz="2400" b="1" dirty="0">
              <a:solidFill>
                <a:srgbClr val="000000"/>
              </a:solidFill>
              <a:latin typeface="Arial" panose="020B0604020202020204" pitchFamily="34" charset="0"/>
              <a:cs typeface="Arial" panose="020B0604020202020204" pitchFamily="34" charset="0"/>
              <a:sym typeface="Arial" panose="020B0604020202020204" pitchFamily="34" charset="0"/>
            </a:endParaRPr>
          </a:p>
          <a:p>
            <a:pPr algn="just">
              <a:spcBef>
                <a:spcPts val="600"/>
              </a:spcBef>
            </a:pPr>
            <a:endParaRPr lang="en-US" sz="2400" b="1" dirty="0">
              <a:solidFill>
                <a:srgbClr val="000000"/>
              </a:solidFill>
              <a:latin typeface="Arial" panose="020B0604020202020204" pitchFamily="34" charset="0"/>
              <a:cs typeface="Arial" panose="020B0604020202020204" pitchFamily="34" charset="0"/>
              <a:sym typeface="Arial" panose="020B0604020202020204" pitchFamily="34" charset="0"/>
            </a:endParaRPr>
          </a:p>
          <a:p>
            <a:pPr algn="just">
              <a:spcBef>
                <a:spcPts val="600"/>
              </a:spcBef>
            </a:pPr>
            <a:r>
              <a:rPr lang="en-US" sz="2400" b="1" dirty="0">
                <a:solidFill>
                  <a:schemeClr val="tx2">
                    <a:lumMod val="75000"/>
                  </a:schemeClr>
                </a:solidFill>
                <a:latin typeface="Arial" panose="020B0604020202020204" pitchFamily="34" charset="0"/>
                <a:cs typeface="Arial" panose="020B0604020202020204" pitchFamily="34" charset="0"/>
                <a:sym typeface="Arial" panose="020B0604020202020204" pitchFamily="34" charset="0"/>
              </a:rPr>
              <a:t>There are no right or wrong software processes</a:t>
            </a:r>
            <a:r>
              <a:rPr lang="en-US" sz="2400" dirty="0">
                <a:solidFill>
                  <a:srgbClr val="000000"/>
                </a:solidFill>
                <a:latin typeface="Arial" panose="020B0604020202020204" pitchFamily="34" charset="0"/>
                <a:cs typeface="Arial" panose="020B0604020202020204" pitchFamily="34" charset="0"/>
                <a:sym typeface="Arial" panose="020B0604020202020204" pitchFamily="34" charset="0"/>
              </a:rPr>
              <a:t>.</a:t>
            </a:r>
            <a:endParaRPr lang="en-US" sz="2400" dirty="0">
              <a:solidFill>
                <a:srgbClr val="000000"/>
              </a:solidFill>
              <a:latin typeface="Arial" panose="020B0604020202020204" pitchFamily="34" charset="0"/>
              <a:cs typeface="Arial" panose="020B0604020202020204" pitchFamily="34" charset="0"/>
              <a:sym typeface="Arial" panose="020B0604020202020204" pitchFamily="34" charset="0"/>
            </a:endParaRPr>
          </a:p>
          <a:p>
            <a:pPr marL="0" indent="0" algn="just">
              <a:spcBef>
                <a:spcPts val="600"/>
              </a:spcBef>
              <a:buNone/>
            </a:pPr>
            <a:endParaRPr lang="en-US" dirty="0">
              <a:solidFill>
                <a:srgbClr val="000000"/>
              </a:solidFill>
            </a:endParaRPr>
          </a:p>
        </p:txBody>
      </p:sp>
      <p:sp>
        <p:nvSpPr>
          <p:cNvPr id="4" name="Date Placeholder 3"/>
          <p:cNvSpPr>
            <a:spLocks noGrp="1"/>
          </p:cNvSpPr>
          <p:nvPr>
            <p:ph type="dt" sz="half" idx="10"/>
          </p:nvPr>
        </p:nvSpPr>
        <p:spPr/>
        <p:txBody>
          <a:bodyPr/>
          <a:lstStyle/>
          <a:p>
            <a:pPr>
              <a:defRPr/>
            </a:pPr>
            <a:fld id="{B6947B46-422D-43E5-A53A-84A6ED273517}" type="datetime1">
              <a:rPr lang="en-US" smtClean="0"/>
            </a:fld>
            <a:endParaRPr lang="en-US"/>
          </a:p>
        </p:txBody>
      </p:sp>
      <p:sp>
        <p:nvSpPr>
          <p:cNvPr id="6" name="Slide Number Placeholder 5"/>
          <p:cNvSpPr>
            <a:spLocks noGrp="1"/>
          </p:cNvSpPr>
          <p:nvPr>
            <p:ph type="sldNum" sz="quarter" idx="12"/>
          </p:nvPr>
        </p:nvSpPr>
        <p:spPr/>
        <p:txBody>
          <a:bodyPr/>
          <a:lstStyle/>
          <a:p>
            <a:pPr>
              <a:defRPr/>
            </a:pPr>
            <a:fld id="{4CECA143-544A-4A15-A433-D0FA028FC3E0}" type="slidenum">
              <a:rPr lang="en-US" smtClean="0"/>
            </a:fld>
            <a:endParaRPr lang="en-US"/>
          </a:p>
        </p:txBody>
      </p:sp>
      <p:pic>
        <p:nvPicPr>
          <p:cNvPr id="3" name="Picture 2"/>
          <p:cNvPicPr>
            <a:picLocks noChangeAspect="1"/>
          </p:cNvPicPr>
          <p:nvPr/>
        </p:nvPicPr>
        <p:blipFill>
          <a:blip r:embed="rId1"/>
          <a:stretch>
            <a:fillRect/>
          </a:stretch>
        </p:blipFill>
        <p:spPr>
          <a:xfrm>
            <a:off x="1114425" y="3430588"/>
            <a:ext cx="6915150" cy="2695575"/>
          </a:xfrm>
          <a:prstGeom prst="rect">
            <a:avLst/>
          </a:prstGeom>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Times New Roman" panose="02020603050405020304" pitchFamily="18" charset="0"/>
              </a:rPr>
              <a:t>Software Process/SDLC Models</a:t>
            </a:r>
            <a:endParaRPr lang="en-US" dirty="0"/>
          </a:p>
        </p:txBody>
      </p:sp>
      <p:sp>
        <p:nvSpPr>
          <p:cNvPr id="3" name="Content Placeholder 2"/>
          <p:cNvSpPr>
            <a:spLocks noGrp="1"/>
          </p:cNvSpPr>
          <p:nvPr>
            <p:ph idx="1"/>
          </p:nvPr>
        </p:nvSpPr>
        <p:spPr/>
        <p:txBody>
          <a:bodyPr>
            <a:noAutofit/>
          </a:bodyPr>
          <a:lstStyle/>
          <a:p>
            <a:pPr marL="0" indent="0">
              <a:lnSpc>
                <a:spcPct val="90000"/>
              </a:lnSpc>
              <a:buNone/>
            </a:pPr>
            <a:r>
              <a:rPr lang="en-US" sz="2000" dirty="0">
                <a:latin typeface="+mj-lt"/>
                <a:cs typeface="Times New Roman" panose="02020603050405020304" pitchFamily="18" charset="0"/>
              </a:rPr>
              <a:t>Software Process model:</a:t>
            </a:r>
            <a:endParaRPr lang="en-US" sz="2000" dirty="0">
              <a:latin typeface="+mj-lt"/>
              <a:cs typeface="Times New Roman" panose="02020603050405020304" pitchFamily="18" charset="0"/>
            </a:endParaRPr>
          </a:p>
          <a:p>
            <a:pPr>
              <a:lnSpc>
                <a:spcPct val="90000"/>
              </a:lnSpc>
              <a:buClr>
                <a:schemeClr val="bg1">
                  <a:lumMod val="50000"/>
                </a:schemeClr>
              </a:buClr>
              <a:buFont typeface="Wingdings" panose="05000000000000000000" pitchFamily="2" charset="2"/>
              <a:buChar char="§"/>
            </a:pPr>
            <a:r>
              <a:rPr lang="en-US" sz="2000" dirty="0">
                <a:latin typeface="+mj-lt"/>
                <a:cs typeface="Times New Roman" panose="02020603050405020304" pitchFamily="18" charset="0"/>
              </a:rPr>
              <a:t>Abstract representation of a software process</a:t>
            </a:r>
            <a:endParaRPr lang="en-US" sz="2000" dirty="0">
              <a:latin typeface="+mj-lt"/>
              <a:cs typeface="Times New Roman" panose="02020603050405020304" pitchFamily="18" charset="0"/>
            </a:endParaRPr>
          </a:p>
          <a:p>
            <a:pPr>
              <a:lnSpc>
                <a:spcPct val="90000"/>
              </a:lnSpc>
              <a:buClr>
                <a:schemeClr val="bg1">
                  <a:lumMod val="50000"/>
                </a:schemeClr>
              </a:buClr>
              <a:buFont typeface="Wingdings" panose="05000000000000000000" pitchFamily="2" charset="2"/>
              <a:buChar char="§"/>
            </a:pPr>
            <a:r>
              <a:rPr lang="en-US" sz="2000" dirty="0">
                <a:latin typeface="+mj-lt"/>
                <a:cs typeface="Times New Roman" panose="02020603050405020304" pitchFamily="18" charset="0"/>
              </a:rPr>
              <a:t>Each Process model represents a process from different perspective</a:t>
            </a:r>
            <a:endParaRPr lang="en-US" sz="2000" dirty="0">
              <a:latin typeface="+mj-lt"/>
              <a:cs typeface="Times New Roman" panose="02020603050405020304" pitchFamily="18" charset="0"/>
            </a:endParaRPr>
          </a:p>
          <a:p>
            <a:pPr marL="0" indent="0">
              <a:lnSpc>
                <a:spcPct val="90000"/>
              </a:lnSpc>
              <a:buClr>
                <a:schemeClr val="bg1">
                  <a:lumMod val="50000"/>
                </a:schemeClr>
              </a:buClr>
              <a:buNone/>
            </a:pPr>
            <a:r>
              <a:rPr lang="en-US" sz="2000" dirty="0">
                <a:latin typeface="+mj-lt"/>
                <a:cs typeface="Times New Roman" panose="02020603050405020304" pitchFamily="18" charset="0"/>
              </a:rPr>
              <a:t>	</a:t>
            </a:r>
            <a:endParaRPr lang="en-US" sz="2000" dirty="0">
              <a:latin typeface="+mj-lt"/>
              <a:cs typeface="Times New Roman" panose="02020603050405020304" pitchFamily="18" charset="0"/>
            </a:endParaRPr>
          </a:p>
          <a:p>
            <a:pPr>
              <a:lnSpc>
                <a:spcPct val="120000"/>
              </a:lnSpc>
              <a:buClr>
                <a:schemeClr val="bg1">
                  <a:lumMod val="50000"/>
                </a:schemeClr>
              </a:buClr>
              <a:buFont typeface="Wingdings" panose="05000000000000000000" pitchFamily="2" charset="2"/>
              <a:buChar char="§"/>
            </a:pPr>
            <a:r>
              <a:rPr lang="en-US" sz="2000" dirty="0">
                <a:latin typeface="+mj-lt"/>
                <a:cs typeface="Times New Roman" panose="02020603050405020304" pitchFamily="18" charset="0"/>
              </a:rPr>
              <a:t>Following are the most important and popular SDLC models followed in the industry:</a:t>
            </a:r>
            <a:endParaRPr lang="en-US" sz="2000" dirty="0">
              <a:latin typeface="+mj-lt"/>
              <a:cs typeface="Times New Roman" panose="02020603050405020304" pitchFamily="18" charset="0"/>
            </a:endParaRPr>
          </a:p>
          <a:p>
            <a:pPr lvl="1">
              <a:lnSpc>
                <a:spcPct val="120000"/>
              </a:lnSpc>
              <a:buClr>
                <a:schemeClr val="bg1">
                  <a:lumMod val="50000"/>
                </a:schemeClr>
              </a:buClr>
              <a:buSzPct val="70000"/>
              <a:buFont typeface="Wingdings" panose="05000000000000000000" pitchFamily="2" charset="2"/>
              <a:buChar char="§"/>
              <a:defRPr/>
            </a:pPr>
            <a:r>
              <a:rPr lang="en-US" sz="1800" dirty="0">
                <a:latin typeface="+mj-lt"/>
              </a:rPr>
              <a:t>Waterfall model.</a:t>
            </a:r>
            <a:endParaRPr lang="en-US" sz="1800" dirty="0">
              <a:latin typeface="+mj-lt"/>
            </a:endParaRPr>
          </a:p>
          <a:p>
            <a:pPr lvl="1">
              <a:lnSpc>
                <a:spcPct val="120000"/>
              </a:lnSpc>
              <a:buClr>
                <a:schemeClr val="bg1">
                  <a:lumMod val="50000"/>
                </a:schemeClr>
              </a:buClr>
              <a:buSzPct val="70000"/>
              <a:buFont typeface="Wingdings" panose="05000000000000000000" pitchFamily="2" charset="2"/>
              <a:buChar char="§"/>
              <a:defRPr/>
            </a:pPr>
            <a:r>
              <a:rPr lang="en-US" sz="1800" dirty="0">
                <a:latin typeface="+mj-lt"/>
              </a:rPr>
              <a:t>V Model</a:t>
            </a:r>
            <a:endParaRPr lang="en-US" sz="1800" dirty="0">
              <a:latin typeface="+mj-lt"/>
            </a:endParaRPr>
          </a:p>
          <a:p>
            <a:pPr lvl="1">
              <a:lnSpc>
                <a:spcPct val="120000"/>
              </a:lnSpc>
              <a:buClr>
                <a:schemeClr val="bg1">
                  <a:lumMod val="50000"/>
                </a:schemeClr>
              </a:buClr>
              <a:buSzPct val="70000"/>
              <a:buFont typeface="Wingdings" panose="05000000000000000000" pitchFamily="2" charset="2"/>
              <a:buChar char="§"/>
              <a:defRPr/>
            </a:pPr>
            <a:r>
              <a:rPr lang="en-US" sz="1800" dirty="0">
                <a:latin typeface="+mj-lt"/>
              </a:rPr>
              <a:t>Evolutionary development.</a:t>
            </a:r>
            <a:endParaRPr lang="en-US" sz="1800" dirty="0">
              <a:latin typeface="+mj-lt"/>
            </a:endParaRPr>
          </a:p>
          <a:p>
            <a:pPr lvl="1">
              <a:lnSpc>
                <a:spcPct val="120000"/>
              </a:lnSpc>
              <a:buClr>
                <a:schemeClr val="bg1">
                  <a:lumMod val="50000"/>
                </a:schemeClr>
              </a:buClr>
              <a:buSzPct val="70000"/>
              <a:buFont typeface="Wingdings" panose="05000000000000000000" pitchFamily="2" charset="2"/>
              <a:buChar char="§"/>
              <a:defRPr/>
            </a:pPr>
            <a:r>
              <a:rPr lang="en-US" sz="1800" dirty="0">
                <a:latin typeface="+mj-lt"/>
              </a:rPr>
              <a:t>Component-Based development model (CBSE).</a:t>
            </a:r>
            <a:endParaRPr lang="en-US" sz="1800" dirty="0">
              <a:latin typeface="+mj-lt"/>
            </a:endParaRPr>
          </a:p>
          <a:p>
            <a:pPr lvl="1">
              <a:lnSpc>
                <a:spcPct val="120000"/>
              </a:lnSpc>
              <a:buClr>
                <a:schemeClr val="bg1">
                  <a:lumMod val="50000"/>
                </a:schemeClr>
              </a:buClr>
              <a:buSzPct val="70000"/>
              <a:buFont typeface="Wingdings" panose="05000000000000000000" pitchFamily="2" charset="2"/>
              <a:buChar char="§"/>
              <a:defRPr/>
            </a:pPr>
            <a:r>
              <a:rPr lang="en-GB" sz="1800" dirty="0">
                <a:latin typeface="+mj-lt"/>
              </a:rPr>
              <a:t>Process iteration(incremental and spiral Models)</a:t>
            </a:r>
            <a:endParaRPr lang="en-GB" sz="1800" dirty="0">
              <a:latin typeface="+mj-lt"/>
            </a:endParaRPr>
          </a:p>
          <a:p>
            <a:pPr marL="0" indent="0">
              <a:lnSpc>
                <a:spcPct val="120000"/>
              </a:lnSpc>
              <a:buClr>
                <a:schemeClr val="bg1">
                  <a:lumMod val="50000"/>
                </a:schemeClr>
              </a:buClr>
              <a:buSzPct val="70000"/>
              <a:buNone/>
              <a:defRPr/>
            </a:pPr>
            <a:r>
              <a:rPr lang="en-US" sz="2000" dirty="0">
                <a:latin typeface="+mj-lt"/>
                <a:cs typeface="Times New Roman" panose="02020603050405020304" pitchFamily="18" charset="0"/>
              </a:rPr>
              <a:t>The other related methodologies are Agile and RAD Model – Rapid Application Development</a:t>
            </a:r>
            <a:endParaRPr lang="en-US" sz="2000" dirty="0">
              <a:latin typeface="+mj-lt"/>
              <a:cs typeface="Times New Roman" panose="02020603050405020304" pitchFamily="18" charset="0"/>
            </a:endParaRPr>
          </a:p>
        </p:txBody>
      </p:sp>
      <p:sp>
        <p:nvSpPr>
          <p:cNvPr id="9" name="Date Placeholder 8"/>
          <p:cNvSpPr>
            <a:spLocks noGrp="1"/>
          </p:cNvSpPr>
          <p:nvPr>
            <p:ph type="dt" sz="half" idx="10"/>
          </p:nvPr>
        </p:nvSpPr>
        <p:spPr/>
        <p:txBody>
          <a:bodyPr/>
          <a:lstStyle/>
          <a:p>
            <a:pPr>
              <a:defRPr/>
            </a:pPr>
            <a:fld id="{F1719522-CBF9-44D0-92B7-804C3E748D68}"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Waterfall Model</a:t>
            </a:r>
            <a:endParaRPr lang="en-US" dirty="0"/>
          </a:p>
        </p:txBody>
      </p:sp>
      <p:sp>
        <p:nvSpPr>
          <p:cNvPr id="3" name="Content Placeholder 2"/>
          <p:cNvSpPr>
            <a:spLocks noGrp="1"/>
          </p:cNvSpPr>
          <p:nvPr>
            <p:ph idx="1"/>
          </p:nvPr>
        </p:nvSpPr>
        <p:spPr/>
        <p:txBody>
          <a:bodyPr/>
          <a:lstStyle/>
          <a:p>
            <a:pPr algn="just"/>
            <a:r>
              <a:rPr lang="en-US" dirty="0">
                <a:latin typeface="+mj-lt"/>
                <a:cs typeface="Times New Roman" panose="02020603050405020304" pitchFamily="18" charset="0"/>
              </a:rPr>
              <a:t>First published model</a:t>
            </a:r>
            <a:endParaRPr lang="en-US" dirty="0">
              <a:latin typeface="+mj-lt"/>
              <a:cs typeface="Times New Roman" panose="02020603050405020304" pitchFamily="18" charset="0"/>
            </a:endParaRPr>
          </a:p>
          <a:p>
            <a:pPr algn="just">
              <a:buNone/>
            </a:pPr>
            <a:endParaRPr lang="en-US" dirty="0">
              <a:latin typeface="+mj-lt"/>
              <a:cs typeface="Times New Roman" panose="02020603050405020304" pitchFamily="18" charset="0"/>
            </a:endParaRPr>
          </a:p>
          <a:p>
            <a:pPr algn="just"/>
            <a:r>
              <a:rPr lang="en-US" dirty="0">
                <a:latin typeface="+mj-lt"/>
                <a:cs typeface="Times New Roman" panose="02020603050405020304" pitchFamily="18" charset="0"/>
              </a:rPr>
              <a:t>Because of the cascade from one phase to another, this model is known as ‘Waterfall Model’.</a:t>
            </a:r>
            <a:endParaRPr lang="en-US" dirty="0">
              <a:latin typeface="+mj-lt"/>
              <a:cs typeface="Times New Roman" panose="02020603050405020304" pitchFamily="18" charset="0"/>
            </a:endParaRPr>
          </a:p>
          <a:p>
            <a:pPr algn="just">
              <a:buNone/>
            </a:pPr>
            <a:endParaRPr lang="en-US" dirty="0">
              <a:latin typeface="+mj-lt"/>
              <a:cs typeface="Times New Roman" panose="02020603050405020304" pitchFamily="18" charset="0"/>
            </a:endParaRPr>
          </a:p>
          <a:p>
            <a:pPr algn="just"/>
            <a:r>
              <a:rPr lang="en-US" dirty="0">
                <a:latin typeface="+mj-lt"/>
                <a:cs typeface="Times New Roman" panose="02020603050405020304" pitchFamily="18" charset="0"/>
              </a:rPr>
              <a:t>It is also referred to as linear-sequential life cycle model. </a:t>
            </a:r>
            <a:endParaRPr lang="en-US" dirty="0">
              <a:latin typeface="+mj-lt"/>
              <a:cs typeface="Times New Roman" panose="02020603050405020304" pitchFamily="18" charset="0"/>
            </a:endParaRPr>
          </a:p>
          <a:p>
            <a:pPr algn="just">
              <a:buNone/>
            </a:pPr>
            <a:endParaRPr lang="en-US" dirty="0">
              <a:latin typeface="+mj-lt"/>
              <a:cs typeface="Times New Roman" panose="02020603050405020304" pitchFamily="18" charset="0"/>
            </a:endParaRPr>
          </a:p>
          <a:p>
            <a:pPr algn="just"/>
            <a:r>
              <a:rPr lang="en-US" dirty="0">
                <a:latin typeface="+mj-lt"/>
                <a:cs typeface="Times New Roman" panose="02020603050405020304" pitchFamily="18" charset="0"/>
              </a:rPr>
              <a:t>Each phase must be completed before the next phase can begin and there is no overlapping in the phases.</a:t>
            </a:r>
            <a:endParaRPr lang="en-US" dirty="0">
              <a:latin typeface="+mj-lt"/>
              <a:cs typeface="Times New Roman" panose="02020603050405020304" pitchFamily="18" charset="0"/>
            </a:endParaRPr>
          </a:p>
          <a:p>
            <a:endParaRPr lang="en-US" dirty="0"/>
          </a:p>
        </p:txBody>
      </p:sp>
      <p:sp>
        <p:nvSpPr>
          <p:cNvPr id="9" name="Date Placeholder 8"/>
          <p:cNvSpPr>
            <a:spLocks noGrp="1"/>
          </p:cNvSpPr>
          <p:nvPr>
            <p:ph type="dt" sz="half" idx="10"/>
          </p:nvPr>
        </p:nvSpPr>
        <p:spPr/>
        <p:txBody>
          <a:bodyPr/>
          <a:lstStyle/>
          <a:p>
            <a:pPr>
              <a:defRPr/>
            </a:pPr>
            <a:fld id="{C0BF9A94-3F63-44C6-9789-E8ACA57C996E}"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Waterfall Model</a:t>
            </a:r>
            <a:endParaRPr lang="en-US" dirty="0"/>
          </a:p>
        </p:txBody>
      </p:sp>
      <p:sp>
        <p:nvSpPr>
          <p:cNvPr id="3" name="Content Placeholder 2"/>
          <p:cNvSpPr>
            <a:spLocks noGrp="1"/>
          </p:cNvSpPr>
          <p:nvPr>
            <p:ph idx="1"/>
          </p:nvPr>
        </p:nvSpPr>
        <p:spPr/>
        <p:txBody>
          <a:bodyPr>
            <a:normAutofit fontScale="92500" lnSpcReduction="10000"/>
          </a:bodyPr>
          <a:lstStyle/>
          <a:p>
            <a:pPr algn="just">
              <a:buNone/>
            </a:pPr>
            <a:r>
              <a:rPr lang="en-US" dirty="0"/>
              <a:t>The sequential phases in Waterfall model are: </a:t>
            </a:r>
            <a:endParaRPr lang="en-US" dirty="0"/>
          </a:p>
          <a:p>
            <a:pPr algn="just">
              <a:buNone/>
            </a:pPr>
            <a:r>
              <a:rPr lang="en-US" b="1" dirty="0"/>
              <a:t>Requirement Gathering and analysis: </a:t>
            </a:r>
            <a:r>
              <a:rPr lang="en-US" dirty="0"/>
              <a:t>All possible requirements of the system to be developed are captured in this phase and documented in a requirement specification document. </a:t>
            </a:r>
            <a:endParaRPr lang="en-US" dirty="0"/>
          </a:p>
          <a:p>
            <a:pPr algn="just"/>
            <a:r>
              <a:rPr lang="en-US" dirty="0"/>
              <a:t>System’s services</a:t>
            </a:r>
            <a:endParaRPr lang="en-US" dirty="0"/>
          </a:p>
          <a:p>
            <a:pPr algn="just"/>
            <a:r>
              <a:rPr lang="en-US" dirty="0"/>
              <a:t>Constraints</a:t>
            </a:r>
            <a:endParaRPr lang="en-US" dirty="0"/>
          </a:p>
          <a:p>
            <a:pPr algn="just"/>
            <a:r>
              <a:rPr lang="en-US" dirty="0"/>
              <a:t>Goals</a:t>
            </a:r>
            <a:endParaRPr lang="en-US" dirty="0"/>
          </a:p>
          <a:p>
            <a:pPr algn="just">
              <a:buNone/>
            </a:pPr>
            <a:endParaRPr lang="en-US" dirty="0"/>
          </a:p>
          <a:p>
            <a:pPr algn="just">
              <a:buNone/>
            </a:pPr>
            <a:r>
              <a:rPr lang="en-US" dirty="0"/>
              <a:t> </a:t>
            </a:r>
            <a:r>
              <a:rPr lang="en-US" b="1" dirty="0"/>
              <a:t>System Design: </a:t>
            </a:r>
            <a:r>
              <a:rPr lang="en-US" dirty="0"/>
              <a:t>The requirement specifications from first phase are studied in this phase and system design is prepared. System Design helps in specifying hardware and system requirements and also helps in defining overall system architecture. </a:t>
            </a:r>
            <a:endParaRPr lang="en-US" dirty="0"/>
          </a:p>
          <a:p>
            <a:endParaRPr lang="en-US" dirty="0"/>
          </a:p>
        </p:txBody>
      </p:sp>
      <p:sp>
        <p:nvSpPr>
          <p:cNvPr id="9" name="Date Placeholder 8"/>
          <p:cNvSpPr>
            <a:spLocks noGrp="1"/>
          </p:cNvSpPr>
          <p:nvPr>
            <p:ph type="dt" sz="half" idx="10"/>
          </p:nvPr>
        </p:nvSpPr>
        <p:spPr/>
        <p:txBody>
          <a:bodyPr/>
          <a:lstStyle/>
          <a:p>
            <a:pPr>
              <a:defRPr/>
            </a:pPr>
            <a:fld id="{A3F4F49E-5043-4D78-A181-FCFD6DD4984D}"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Waterfall Model</a:t>
            </a:r>
            <a:endParaRPr lang="en-US" dirty="0"/>
          </a:p>
        </p:txBody>
      </p:sp>
      <p:sp>
        <p:nvSpPr>
          <p:cNvPr id="3" name="Content Placeholder 2"/>
          <p:cNvSpPr>
            <a:spLocks noGrp="1"/>
          </p:cNvSpPr>
          <p:nvPr>
            <p:ph idx="1"/>
          </p:nvPr>
        </p:nvSpPr>
        <p:spPr/>
        <p:txBody>
          <a:bodyPr/>
          <a:lstStyle/>
          <a:p>
            <a:pPr algn="just">
              <a:buNone/>
            </a:pPr>
            <a:r>
              <a:rPr lang="en-US" b="1" dirty="0"/>
              <a:t>Implementation and unit testing: </a:t>
            </a:r>
            <a:r>
              <a:rPr lang="en-US" dirty="0"/>
              <a:t>With inputs from system design, the system is first developed in small programs called units, which are integrated in the next phase. Each unit is developed and tested for its functionality which is referred to as Unit Testing. </a:t>
            </a:r>
            <a:endParaRPr lang="en-US" dirty="0"/>
          </a:p>
          <a:p>
            <a:pPr algn="just">
              <a:buNone/>
            </a:pPr>
            <a:endParaRPr lang="en-US" dirty="0"/>
          </a:p>
          <a:p>
            <a:pPr algn="just">
              <a:buNone/>
            </a:pPr>
            <a:r>
              <a:rPr lang="en-US" b="1" dirty="0"/>
              <a:t>Integration and Testing: </a:t>
            </a:r>
            <a:r>
              <a:rPr lang="en-US" dirty="0"/>
              <a:t>All the units developed in the implementation phase are integrated into a system after testing of each unit. Post integration the entire system is tested for any faults and failures. </a:t>
            </a:r>
            <a:endParaRPr lang="en-US" dirty="0"/>
          </a:p>
          <a:p>
            <a:endParaRPr lang="en-US" dirty="0"/>
          </a:p>
        </p:txBody>
      </p:sp>
      <p:sp>
        <p:nvSpPr>
          <p:cNvPr id="9" name="Date Placeholder 8"/>
          <p:cNvSpPr>
            <a:spLocks noGrp="1"/>
          </p:cNvSpPr>
          <p:nvPr>
            <p:ph type="dt" sz="half" idx="10"/>
          </p:nvPr>
        </p:nvSpPr>
        <p:spPr/>
        <p:txBody>
          <a:bodyPr/>
          <a:lstStyle/>
          <a:p>
            <a:pPr>
              <a:defRPr/>
            </a:pPr>
            <a:fld id="{EAD759E9-AAFC-4C53-B60C-60DB5F84245C}"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Waterfall Model</a:t>
            </a:r>
            <a:endParaRPr lang="en-US" dirty="0"/>
          </a:p>
        </p:txBody>
      </p:sp>
      <p:sp>
        <p:nvSpPr>
          <p:cNvPr id="3" name="Content Placeholder 2"/>
          <p:cNvSpPr>
            <a:spLocks noGrp="1"/>
          </p:cNvSpPr>
          <p:nvPr>
            <p:ph idx="1"/>
          </p:nvPr>
        </p:nvSpPr>
        <p:spPr/>
        <p:txBody>
          <a:bodyPr/>
          <a:lstStyle/>
          <a:p>
            <a:pPr algn="just">
              <a:buNone/>
            </a:pPr>
            <a:r>
              <a:rPr lang="en-US" b="1" dirty="0"/>
              <a:t>Deployment of system: </a:t>
            </a:r>
            <a:r>
              <a:rPr lang="en-US" dirty="0"/>
              <a:t>Once the functional and nonfunctional testing is done, the product is deployed in the customer environment or released into the market. </a:t>
            </a:r>
            <a:endParaRPr lang="en-US" dirty="0"/>
          </a:p>
          <a:p>
            <a:pPr algn="just">
              <a:buNone/>
            </a:pPr>
            <a:endParaRPr lang="en-US" dirty="0"/>
          </a:p>
          <a:p>
            <a:pPr algn="just">
              <a:buNone/>
            </a:pPr>
            <a:r>
              <a:rPr lang="en-US" b="1" dirty="0"/>
              <a:t>Maintenance: </a:t>
            </a:r>
            <a:r>
              <a:rPr lang="en-US" dirty="0"/>
              <a:t>There are some issues which come up in the client environment. To fix those issues patches are released. Also, to enhance the product some better versions are released. Maintenance is done to deliver these changes in the customer environment. </a:t>
            </a:r>
            <a:endParaRPr lang="en-US" dirty="0"/>
          </a:p>
          <a:p>
            <a:endParaRPr lang="en-US" dirty="0"/>
          </a:p>
        </p:txBody>
      </p:sp>
      <p:sp>
        <p:nvSpPr>
          <p:cNvPr id="9" name="Date Placeholder 8"/>
          <p:cNvSpPr>
            <a:spLocks noGrp="1"/>
          </p:cNvSpPr>
          <p:nvPr>
            <p:ph type="dt" sz="half" idx="10"/>
          </p:nvPr>
        </p:nvSpPr>
        <p:spPr/>
        <p:txBody>
          <a:bodyPr/>
          <a:lstStyle/>
          <a:p>
            <a:pPr>
              <a:defRPr/>
            </a:pPr>
            <a:fld id="{5C6C05AC-808B-47D8-B39F-CB2525CE454F}"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Waterfall Model</a:t>
            </a:r>
            <a:endParaRPr lang="en-US" dirty="0"/>
          </a:p>
        </p:txBody>
      </p:sp>
      <p:pic>
        <p:nvPicPr>
          <p:cNvPr id="7" name="Picture 2"/>
          <p:cNvPicPr>
            <a:picLocks noGrp="1" noChangeAspect="1" noChangeArrowheads="1"/>
          </p:cNvPicPr>
          <p:nvPr>
            <p:ph idx="1"/>
          </p:nvPr>
        </p:nvPicPr>
        <p:blipFill>
          <a:blip r:embed="rId1" cstate="print"/>
          <a:srcRect/>
          <a:stretch>
            <a:fillRect/>
          </a:stretch>
        </p:blipFill>
        <p:spPr bwMode="auto">
          <a:xfrm>
            <a:off x="0" y="1219200"/>
            <a:ext cx="9144000" cy="5486399"/>
          </a:xfrm>
          <a:prstGeom prst="rect">
            <a:avLst/>
          </a:prstGeom>
          <a:noFill/>
          <a:ln w="9525">
            <a:noFill/>
            <a:miter lim="800000"/>
            <a:headEnd/>
            <a:tailEnd/>
          </a:ln>
        </p:spPr>
      </p:pic>
      <p:sp>
        <p:nvSpPr>
          <p:cNvPr id="9" name="Date Placeholder 8"/>
          <p:cNvSpPr>
            <a:spLocks noGrp="1"/>
          </p:cNvSpPr>
          <p:nvPr>
            <p:ph type="dt" sz="half" idx="10"/>
          </p:nvPr>
        </p:nvSpPr>
        <p:spPr/>
        <p:txBody>
          <a:bodyPr/>
          <a:lstStyle/>
          <a:p>
            <a:pPr>
              <a:defRPr/>
            </a:pPr>
            <a:fld id="{49E953D3-D82E-4B7C-A982-8D6103CCDB70}"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Waterfall Model</a:t>
            </a:r>
            <a:endParaRPr lang="en-US" dirty="0"/>
          </a:p>
        </p:txBody>
      </p:sp>
      <p:sp>
        <p:nvSpPr>
          <p:cNvPr id="3" name="Content Placeholder 2"/>
          <p:cNvSpPr>
            <a:spLocks noGrp="1"/>
          </p:cNvSpPr>
          <p:nvPr>
            <p:ph idx="1"/>
          </p:nvPr>
        </p:nvSpPr>
        <p:spPr/>
        <p:txBody>
          <a:bodyPr/>
          <a:lstStyle/>
          <a:p>
            <a:pPr>
              <a:buNone/>
            </a:pPr>
            <a:r>
              <a:rPr lang="en-US" b="1" dirty="0"/>
              <a:t>Applicability:</a:t>
            </a:r>
            <a:endParaRPr lang="en-US" b="1" dirty="0"/>
          </a:p>
          <a:p>
            <a:pPr>
              <a:buNone/>
            </a:pPr>
            <a:r>
              <a:rPr lang="en-US" sz="2800" dirty="0"/>
              <a:t>	</a:t>
            </a:r>
            <a:endParaRPr lang="en-US" sz="2800" dirty="0"/>
          </a:p>
          <a:p>
            <a:r>
              <a:rPr lang="en-US" sz="2800" dirty="0"/>
              <a:t> </a:t>
            </a:r>
            <a:r>
              <a:rPr lang="en-US" dirty="0"/>
              <a:t>Requirements are very well understood, clear and fixed </a:t>
            </a:r>
            <a:endParaRPr lang="en-US" dirty="0"/>
          </a:p>
          <a:p>
            <a:endParaRPr lang="en-US" dirty="0"/>
          </a:p>
          <a:p>
            <a:r>
              <a:rPr lang="en-US" dirty="0"/>
              <a:t> Product definition is stable </a:t>
            </a:r>
            <a:endParaRPr lang="en-US" dirty="0"/>
          </a:p>
          <a:p>
            <a:endParaRPr lang="en-US" dirty="0"/>
          </a:p>
          <a:p>
            <a:r>
              <a:rPr lang="en-US" dirty="0"/>
              <a:t> Technology is understood </a:t>
            </a:r>
            <a:endParaRPr lang="en-US" dirty="0"/>
          </a:p>
          <a:p>
            <a:endParaRPr lang="en-US" dirty="0"/>
          </a:p>
        </p:txBody>
      </p:sp>
      <p:sp>
        <p:nvSpPr>
          <p:cNvPr id="9" name="Date Placeholder 8"/>
          <p:cNvSpPr>
            <a:spLocks noGrp="1"/>
          </p:cNvSpPr>
          <p:nvPr>
            <p:ph type="dt" sz="half" idx="10"/>
          </p:nvPr>
        </p:nvSpPr>
        <p:spPr/>
        <p:txBody>
          <a:bodyPr/>
          <a:lstStyle/>
          <a:p>
            <a:pPr>
              <a:defRPr/>
            </a:pPr>
            <a:fld id="{EAFEC4B3-7A57-4005-A5A3-6F5F58DAB723}"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Waterfall Model</a:t>
            </a:r>
            <a:endParaRPr lang="en-US" dirty="0"/>
          </a:p>
        </p:txBody>
      </p:sp>
      <p:sp>
        <p:nvSpPr>
          <p:cNvPr id="3" name="Content Placeholder 2"/>
          <p:cNvSpPr>
            <a:spLocks noGrp="1"/>
          </p:cNvSpPr>
          <p:nvPr>
            <p:ph idx="1"/>
          </p:nvPr>
        </p:nvSpPr>
        <p:spPr/>
        <p:txBody>
          <a:bodyPr>
            <a:normAutofit/>
          </a:bodyPr>
          <a:lstStyle/>
          <a:p>
            <a:pPr>
              <a:buNone/>
            </a:pPr>
            <a:r>
              <a:rPr lang="en-US" b="1" dirty="0"/>
              <a:t>Advantages:</a:t>
            </a:r>
            <a:endParaRPr lang="en-US" b="1" dirty="0"/>
          </a:p>
          <a:p>
            <a:r>
              <a:rPr lang="en-US" dirty="0"/>
              <a:t>Documentation - at each phase</a:t>
            </a:r>
            <a:endParaRPr lang="en-US" dirty="0"/>
          </a:p>
          <a:p>
            <a:r>
              <a:rPr lang="en-US" dirty="0"/>
              <a:t>Phases are processed and completed one at a time. </a:t>
            </a:r>
            <a:endParaRPr lang="en-US" dirty="0"/>
          </a:p>
          <a:p>
            <a:r>
              <a:rPr lang="en-US" dirty="0"/>
              <a:t>Easy to arrange tasks. </a:t>
            </a:r>
            <a:endParaRPr lang="en-US" dirty="0"/>
          </a:p>
          <a:p>
            <a:pPr>
              <a:buNone/>
            </a:pPr>
            <a:endParaRPr lang="en-US" dirty="0"/>
          </a:p>
          <a:p>
            <a:pPr marL="292100" indent="-292100" algn="just">
              <a:spcAft>
                <a:spcPts val="1200"/>
              </a:spcAft>
              <a:buClr>
                <a:schemeClr val="accent3">
                  <a:lumMod val="75000"/>
                </a:schemeClr>
              </a:buClr>
              <a:buSzPct val="70000"/>
              <a:buNone/>
              <a:defRPr/>
            </a:pPr>
            <a:r>
              <a:rPr lang="en-GB" b="1" dirty="0"/>
              <a:t>Problems:</a:t>
            </a:r>
            <a:endParaRPr lang="en-GB" b="1" dirty="0"/>
          </a:p>
          <a:p>
            <a:pPr algn="just">
              <a:spcAft>
                <a:spcPts val="1200"/>
              </a:spcAft>
              <a:buClr>
                <a:schemeClr val="accent3">
                  <a:lumMod val="75000"/>
                </a:schemeClr>
              </a:buClr>
              <a:buSzPct val="70000"/>
              <a:defRPr/>
            </a:pPr>
            <a:r>
              <a:rPr lang="en-GB" dirty="0"/>
              <a:t>Inflexible partitioning of the project into distinct stages makes it difficult to respond to changing customer requirements.</a:t>
            </a:r>
            <a:endParaRPr lang="en-GB" dirty="0"/>
          </a:p>
          <a:p>
            <a:endParaRPr lang="en-US" dirty="0"/>
          </a:p>
        </p:txBody>
      </p:sp>
      <p:sp>
        <p:nvSpPr>
          <p:cNvPr id="9" name="Date Placeholder 8"/>
          <p:cNvSpPr>
            <a:spLocks noGrp="1"/>
          </p:cNvSpPr>
          <p:nvPr>
            <p:ph type="dt" sz="half" idx="10"/>
          </p:nvPr>
        </p:nvSpPr>
        <p:spPr/>
        <p:txBody>
          <a:bodyPr/>
          <a:lstStyle/>
          <a:p>
            <a:pPr>
              <a:defRPr/>
            </a:pPr>
            <a:fld id="{BF6BBEE4-DB0E-412D-8814-6BA1E2806BDF}"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 Model</a:t>
            </a:r>
            <a:endParaRPr lang="en-US" dirty="0"/>
          </a:p>
        </p:txBody>
      </p:sp>
      <p:sp>
        <p:nvSpPr>
          <p:cNvPr id="3" name="Content Placeholder 2"/>
          <p:cNvSpPr>
            <a:spLocks noGrp="1"/>
          </p:cNvSpPr>
          <p:nvPr>
            <p:ph idx="1"/>
          </p:nvPr>
        </p:nvSpPr>
        <p:spPr/>
        <p:txBody>
          <a:bodyPr/>
          <a:lstStyle/>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a:t>A variation of the waterfall model</a:t>
            </a:r>
            <a:endParaRPr lang="en-GB" dirty="0"/>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endParaRPr lang="en-GB" dirty="0"/>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a:t>Development phases are presented in a V-shaped graph.</a:t>
            </a:r>
            <a:endParaRPr lang="en-GB" dirty="0"/>
          </a:p>
          <a:p>
            <a:pPr>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endParaRPr lang="en-GB" dirty="0"/>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dirty="0"/>
              <a:t>It is also known as </a:t>
            </a:r>
            <a:r>
              <a:rPr lang="en-US" b="1" dirty="0"/>
              <a:t>Verification and Validation model</a:t>
            </a:r>
            <a:r>
              <a:rPr lang="en-US" dirty="0"/>
              <a:t>.</a:t>
            </a:r>
            <a:endParaRPr lang="en-US" dirty="0"/>
          </a:p>
          <a:p>
            <a:pPr>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endParaRPr lang="en-GB" dirty="0"/>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dirty="0"/>
              <a:t>For every </a:t>
            </a:r>
            <a:r>
              <a:rPr lang="en-US" b="1" dirty="0"/>
              <a:t>single</a:t>
            </a:r>
            <a:r>
              <a:rPr lang="en-US" dirty="0"/>
              <a:t> phase in the development cycle there is a directly associated testing phase.</a:t>
            </a:r>
            <a:endParaRPr lang="en-US" dirty="0"/>
          </a:p>
          <a:p>
            <a:endParaRPr lang="en-US" dirty="0"/>
          </a:p>
        </p:txBody>
      </p:sp>
      <p:sp>
        <p:nvSpPr>
          <p:cNvPr id="9" name="Date Placeholder 8"/>
          <p:cNvSpPr>
            <a:spLocks noGrp="1"/>
          </p:cNvSpPr>
          <p:nvPr>
            <p:ph type="dt" sz="half" idx="10"/>
          </p:nvPr>
        </p:nvSpPr>
        <p:spPr/>
        <p:txBody>
          <a:bodyPr/>
          <a:lstStyle/>
          <a:p>
            <a:pPr>
              <a:defRPr/>
            </a:pPr>
            <a:fld id="{3664ED4E-87A9-4161-B0C2-E883BE8A393A}"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Verification and Validation</a:t>
            </a:r>
            <a:endParaRPr lang="en-US" dirty="0"/>
          </a:p>
        </p:txBody>
      </p:sp>
      <p:sp>
        <p:nvSpPr>
          <p:cNvPr id="3" name="Content Placeholder 2"/>
          <p:cNvSpPr>
            <a:spLocks noGrp="1"/>
          </p:cNvSpPr>
          <p:nvPr>
            <p:ph idx="1"/>
          </p:nvPr>
        </p:nvSpPr>
        <p:spPr/>
        <p:txBody>
          <a:bodyPr/>
          <a:lstStyle/>
          <a:p>
            <a:endParaRPr lang="en-US" i="1" dirty="0"/>
          </a:p>
          <a:p>
            <a:r>
              <a:rPr lang="en-US" b="1" i="1" dirty="0"/>
              <a:t>Verification</a:t>
            </a:r>
            <a:endParaRPr lang="en-US" b="1" dirty="0"/>
          </a:p>
          <a:p>
            <a:pPr lvl="1"/>
            <a:r>
              <a:rPr lang="en-US" sz="2200" dirty="0"/>
              <a:t>Does the product meet system specifications?</a:t>
            </a:r>
            <a:endParaRPr lang="en-US" sz="2200" dirty="0"/>
          </a:p>
          <a:p>
            <a:pPr lvl="1"/>
            <a:r>
              <a:rPr lang="en-US" sz="2200" dirty="0"/>
              <a:t>Have you built the product right?</a:t>
            </a:r>
            <a:endParaRPr lang="en-US" sz="2200" dirty="0"/>
          </a:p>
          <a:p>
            <a:pPr lvl="1"/>
            <a:endParaRPr lang="en-US" sz="2200" dirty="0"/>
          </a:p>
          <a:p>
            <a:r>
              <a:rPr lang="en-US" b="1" i="1" dirty="0"/>
              <a:t>Validation</a:t>
            </a:r>
            <a:r>
              <a:rPr lang="en-US" sz="2200" b="1" i="1" dirty="0"/>
              <a:t> </a:t>
            </a:r>
            <a:endParaRPr lang="en-US" sz="2200" b="1" dirty="0"/>
          </a:p>
          <a:p>
            <a:pPr lvl="1"/>
            <a:r>
              <a:rPr lang="en-US" sz="2200" dirty="0"/>
              <a:t>Does the product meet user expectations?</a:t>
            </a:r>
            <a:endParaRPr lang="en-US" sz="2200" dirty="0"/>
          </a:p>
          <a:p>
            <a:pPr lvl="1"/>
            <a:r>
              <a:rPr lang="en-US" sz="2200" dirty="0"/>
              <a:t>Have you built the right product?</a:t>
            </a:r>
            <a:endParaRPr lang="en-US" sz="2200" dirty="0"/>
          </a:p>
          <a:p>
            <a:endParaRPr lang="en-US" dirty="0"/>
          </a:p>
        </p:txBody>
      </p:sp>
      <p:sp>
        <p:nvSpPr>
          <p:cNvPr id="9" name="Date Placeholder 8"/>
          <p:cNvSpPr>
            <a:spLocks noGrp="1"/>
          </p:cNvSpPr>
          <p:nvPr>
            <p:ph type="dt" sz="half" idx="10"/>
          </p:nvPr>
        </p:nvSpPr>
        <p:spPr/>
        <p:txBody>
          <a:bodyPr/>
          <a:lstStyle/>
          <a:p>
            <a:pPr>
              <a:defRPr/>
            </a:pPr>
            <a:fld id="{953880D4-19BE-4D0F-BC22-B6CEACB48807}"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 Model</a:t>
            </a:r>
            <a:endParaRPr lang="en-US" dirty="0"/>
          </a:p>
        </p:txBody>
      </p:sp>
      <p:pic>
        <p:nvPicPr>
          <p:cNvPr id="7" name="Content Placeholder 6"/>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304800" y="1524000"/>
            <a:ext cx="8199120" cy="4859020"/>
          </a:xfrm>
        </p:spPr>
      </p:pic>
      <p:sp>
        <p:nvSpPr>
          <p:cNvPr id="9" name="Date Placeholder 8"/>
          <p:cNvSpPr>
            <a:spLocks noGrp="1"/>
          </p:cNvSpPr>
          <p:nvPr>
            <p:ph type="dt" sz="half" idx="10"/>
          </p:nvPr>
        </p:nvSpPr>
        <p:spPr/>
        <p:txBody>
          <a:bodyPr/>
          <a:lstStyle/>
          <a:p>
            <a:pPr>
              <a:defRPr/>
            </a:pPr>
            <a:fld id="{F93F228D-0E70-4ABC-BB53-E1989C833EF6}"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 Model </a:t>
            </a:r>
            <a:r>
              <a:rPr lang="en-US" dirty="0"/>
              <a:t>Verification Phases</a:t>
            </a:r>
            <a:endParaRPr lang="en-US" dirty="0"/>
          </a:p>
        </p:txBody>
      </p:sp>
      <p:sp>
        <p:nvSpPr>
          <p:cNvPr id="3" name="Content Placeholder 2"/>
          <p:cNvSpPr>
            <a:spLocks noGrp="1"/>
          </p:cNvSpPr>
          <p:nvPr>
            <p:ph idx="1"/>
          </p:nvPr>
        </p:nvSpPr>
        <p:spPr/>
        <p:txBody>
          <a:bodyPr>
            <a:normAutofit fontScale="92500"/>
          </a:bodyPr>
          <a:lstStyle/>
          <a:p>
            <a:pPr algn="just">
              <a:buNone/>
            </a:pPr>
            <a:r>
              <a:rPr lang="en-US" dirty="0"/>
              <a:t>Following are the Verification phases in V-Model</a:t>
            </a:r>
            <a:endParaRPr lang="en-US" dirty="0"/>
          </a:p>
          <a:p>
            <a:pPr algn="just">
              <a:buNone/>
            </a:pPr>
            <a:r>
              <a:rPr lang="en-US" b="1" dirty="0"/>
              <a:t>Business Requirement Analysis:</a:t>
            </a:r>
            <a:r>
              <a:rPr lang="en-US" dirty="0"/>
              <a:t> </a:t>
            </a:r>
            <a:endParaRPr lang="en-US" dirty="0"/>
          </a:p>
          <a:p>
            <a:pPr algn="just"/>
            <a:r>
              <a:rPr lang="en-US" dirty="0"/>
              <a:t>This phase involves detailed communication with the customer to understand his expectations and exact requirement. </a:t>
            </a:r>
            <a:endParaRPr lang="en-US" dirty="0"/>
          </a:p>
          <a:p>
            <a:pPr algn="just"/>
            <a:r>
              <a:rPr lang="en-US" dirty="0"/>
              <a:t>The acceptance </a:t>
            </a:r>
            <a:r>
              <a:rPr lang="en-US" b="1" dirty="0"/>
              <a:t>test</a:t>
            </a:r>
            <a:r>
              <a:rPr lang="en-US" dirty="0"/>
              <a:t> design planning is done at this stage as business requirements can be used as an input for acceptance testing. </a:t>
            </a:r>
            <a:endParaRPr lang="en-US" dirty="0"/>
          </a:p>
          <a:p>
            <a:pPr algn="just">
              <a:buNone/>
            </a:pPr>
            <a:r>
              <a:rPr lang="en-US" b="1" dirty="0"/>
              <a:t>System Design:</a:t>
            </a:r>
            <a:r>
              <a:rPr lang="en-US" dirty="0"/>
              <a:t> </a:t>
            </a:r>
            <a:endParaRPr lang="en-US" dirty="0"/>
          </a:p>
          <a:p>
            <a:pPr algn="just"/>
            <a:r>
              <a:rPr lang="en-US" dirty="0"/>
              <a:t> System design would comprise of understanding and detailing the   complete hardware and communication setup for the product under development. </a:t>
            </a:r>
            <a:endParaRPr lang="en-US" dirty="0"/>
          </a:p>
          <a:p>
            <a:pPr algn="just"/>
            <a:r>
              <a:rPr lang="en-US" b="1" dirty="0"/>
              <a:t>System test plan </a:t>
            </a:r>
            <a:r>
              <a:rPr lang="en-US" dirty="0"/>
              <a:t>is developed based on the system design. </a:t>
            </a:r>
            <a:endParaRPr lang="en-US" dirty="0"/>
          </a:p>
        </p:txBody>
      </p:sp>
      <p:sp>
        <p:nvSpPr>
          <p:cNvPr id="9" name="Date Placeholder 8"/>
          <p:cNvSpPr>
            <a:spLocks noGrp="1"/>
          </p:cNvSpPr>
          <p:nvPr>
            <p:ph type="dt" sz="half" idx="10"/>
          </p:nvPr>
        </p:nvSpPr>
        <p:spPr/>
        <p:txBody>
          <a:bodyPr/>
          <a:lstStyle/>
          <a:p>
            <a:pPr>
              <a:defRPr/>
            </a:pPr>
            <a:fld id="{DDCBC7B3-74D2-4321-95D8-643C13433E38}"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 Model </a:t>
            </a:r>
            <a:r>
              <a:rPr lang="en-US" dirty="0"/>
              <a:t>Verification Phases</a:t>
            </a:r>
            <a:endParaRPr lang="en-US" dirty="0"/>
          </a:p>
        </p:txBody>
      </p:sp>
      <p:sp>
        <p:nvSpPr>
          <p:cNvPr id="3" name="Content Placeholder 2"/>
          <p:cNvSpPr>
            <a:spLocks noGrp="1"/>
          </p:cNvSpPr>
          <p:nvPr>
            <p:ph idx="1"/>
          </p:nvPr>
        </p:nvSpPr>
        <p:spPr/>
        <p:txBody>
          <a:bodyPr>
            <a:normAutofit fontScale="92500" lnSpcReduction="20000"/>
          </a:bodyPr>
          <a:lstStyle/>
          <a:p>
            <a:pPr algn="just">
              <a:buNone/>
            </a:pPr>
            <a:r>
              <a:rPr lang="en-US" b="1" dirty="0"/>
              <a:t>Architectural Design:</a:t>
            </a:r>
            <a:r>
              <a:rPr lang="en-US" dirty="0"/>
              <a:t> </a:t>
            </a:r>
            <a:endParaRPr lang="en-US" dirty="0"/>
          </a:p>
          <a:p>
            <a:pPr algn="just"/>
            <a:r>
              <a:rPr lang="en-US" dirty="0"/>
              <a:t>System design is broken down further into modules taking up different functionality. </a:t>
            </a:r>
            <a:endParaRPr lang="en-US" dirty="0"/>
          </a:p>
          <a:p>
            <a:pPr algn="just"/>
            <a:r>
              <a:rPr lang="en-US" dirty="0"/>
              <a:t>The data transfer and communication between the internal modules and with the outside world (other systems) is clearly understood and defined in this stage. </a:t>
            </a:r>
            <a:endParaRPr lang="en-US" dirty="0"/>
          </a:p>
          <a:p>
            <a:pPr algn="just"/>
            <a:r>
              <a:rPr lang="en-US" dirty="0"/>
              <a:t>With this information, integration tests can be designed and documented during this stage.</a:t>
            </a:r>
            <a:endParaRPr lang="en-US" dirty="0"/>
          </a:p>
          <a:p>
            <a:pPr algn="just">
              <a:buNone/>
            </a:pPr>
            <a:r>
              <a:rPr lang="en-US" b="1" dirty="0"/>
              <a:t>Module Design:</a:t>
            </a:r>
            <a:endParaRPr lang="en-US" b="1" dirty="0"/>
          </a:p>
          <a:p>
            <a:pPr algn="just"/>
            <a:r>
              <a:rPr lang="en-US" dirty="0"/>
              <a:t>In this phase the detailed </a:t>
            </a:r>
            <a:r>
              <a:rPr lang="en-US" b="1" dirty="0"/>
              <a:t>internal design</a:t>
            </a:r>
            <a:r>
              <a:rPr lang="en-US" dirty="0"/>
              <a:t> for all the system modules is specified</a:t>
            </a:r>
            <a:endParaRPr lang="en-US" dirty="0"/>
          </a:p>
          <a:p>
            <a:pPr algn="just"/>
            <a:r>
              <a:rPr lang="en-US" dirty="0"/>
              <a:t> It is important that the design is compatible with the other modules in the system architecture and the other external systems. </a:t>
            </a:r>
            <a:endParaRPr lang="en-US" dirty="0"/>
          </a:p>
          <a:p>
            <a:pPr algn="just"/>
            <a:r>
              <a:rPr lang="en-US" dirty="0"/>
              <a:t>Unit tests can be designed at this stage</a:t>
            </a:r>
            <a:endParaRPr lang="en-US" dirty="0"/>
          </a:p>
        </p:txBody>
      </p:sp>
      <p:sp>
        <p:nvSpPr>
          <p:cNvPr id="9" name="Date Placeholder 8"/>
          <p:cNvSpPr>
            <a:spLocks noGrp="1"/>
          </p:cNvSpPr>
          <p:nvPr>
            <p:ph type="dt" sz="half" idx="10"/>
          </p:nvPr>
        </p:nvSpPr>
        <p:spPr/>
        <p:txBody>
          <a:bodyPr/>
          <a:lstStyle/>
          <a:p>
            <a:pPr>
              <a:defRPr/>
            </a:pPr>
            <a:fld id="{15EEDA13-D1D9-41DB-9213-90918D7B197B}"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 Model</a:t>
            </a:r>
            <a:endParaRPr lang="en-US" dirty="0"/>
          </a:p>
        </p:txBody>
      </p:sp>
      <p:sp>
        <p:nvSpPr>
          <p:cNvPr id="3" name="Content Placeholder 2"/>
          <p:cNvSpPr>
            <a:spLocks noGrp="1"/>
          </p:cNvSpPr>
          <p:nvPr>
            <p:ph idx="1"/>
          </p:nvPr>
        </p:nvSpPr>
        <p:spPr/>
        <p:txBody>
          <a:bodyPr>
            <a:normAutofit/>
          </a:bodyPr>
          <a:lstStyle/>
          <a:p>
            <a:pPr>
              <a:buNone/>
            </a:pPr>
            <a:r>
              <a:rPr lang="en-US" b="1" dirty="0"/>
              <a:t>Coding Phase</a:t>
            </a:r>
            <a:endParaRPr lang="en-US" b="1" dirty="0"/>
          </a:p>
          <a:p>
            <a:pPr algn="just"/>
            <a:r>
              <a:rPr lang="en-US" dirty="0"/>
              <a:t>The actual coding of the system modules designed in the design phase is taken up in the Coding phase. </a:t>
            </a:r>
            <a:endParaRPr lang="en-US" dirty="0"/>
          </a:p>
          <a:p>
            <a:pPr algn="just"/>
            <a:r>
              <a:rPr lang="en-US" dirty="0"/>
              <a:t>The best suitable </a:t>
            </a:r>
            <a:r>
              <a:rPr lang="en-US" b="1" dirty="0"/>
              <a:t>programming</a:t>
            </a:r>
            <a:r>
              <a:rPr lang="en-US" dirty="0"/>
              <a:t> language is decided based on the system and architectural requirements. </a:t>
            </a:r>
            <a:endParaRPr lang="en-US" dirty="0"/>
          </a:p>
          <a:p>
            <a:pPr algn="just"/>
            <a:r>
              <a:rPr lang="en-US" dirty="0"/>
              <a:t>The coding is performed based on the coding guidelines and standards. </a:t>
            </a:r>
            <a:endParaRPr lang="en-US" dirty="0"/>
          </a:p>
          <a:p>
            <a:pPr algn="just"/>
            <a:r>
              <a:rPr lang="en-US" dirty="0"/>
              <a:t>The code goes through numerous code reviews and is optimized for best performance before the final build is checked into the repository.</a:t>
            </a:r>
            <a:endParaRPr lang="en-US" dirty="0"/>
          </a:p>
          <a:p>
            <a:endParaRPr lang="en-US" dirty="0"/>
          </a:p>
        </p:txBody>
      </p:sp>
      <p:sp>
        <p:nvSpPr>
          <p:cNvPr id="9" name="Date Placeholder 8"/>
          <p:cNvSpPr>
            <a:spLocks noGrp="1"/>
          </p:cNvSpPr>
          <p:nvPr>
            <p:ph type="dt" sz="half" idx="10"/>
          </p:nvPr>
        </p:nvSpPr>
        <p:spPr/>
        <p:txBody>
          <a:bodyPr/>
          <a:lstStyle/>
          <a:p>
            <a:pPr>
              <a:defRPr/>
            </a:pPr>
            <a:fld id="{816656D0-0616-417D-A2E3-9E58ABD1D26A}"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 Model </a:t>
            </a:r>
            <a:r>
              <a:rPr lang="en-US" dirty="0"/>
              <a:t>Validation Phases</a:t>
            </a:r>
            <a:endParaRPr lang="en-US" dirty="0"/>
          </a:p>
        </p:txBody>
      </p:sp>
      <p:sp>
        <p:nvSpPr>
          <p:cNvPr id="3" name="Content Placeholder 2"/>
          <p:cNvSpPr>
            <a:spLocks noGrp="1"/>
          </p:cNvSpPr>
          <p:nvPr>
            <p:ph idx="1"/>
          </p:nvPr>
        </p:nvSpPr>
        <p:spPr/>
        <p:txBody>
          <a:bodyPr>
            <a:normAutofit lnSpcReduction="10000"/>
          </a:bodyPr>
          <a:lstStyle/>
          <a:p>
            <a:pPr algn="just">
              <a:buNone/>
            </a:pPr>
            <a:r>
              <a:rPr lang="en-US" dirty="0"/>
              <a:t>Following are the Validation phases in V-Model:</a:t>
            </a:r>
            <a:endParaRPr lang="en-US" dirty="0"/>
          </a:p>
          <a:p>
            <a:pPr algn="just">
              <a:buNone/>
            </a:pPr>
            <a:r>
              <a:rPr lang="en-US" b="1" dirty="0"/>
              <a:t>Unit Testing:</a:t>
            </a:r>
            <a:r>
              <a:rPr lang="en-US" dirty="0"/>
              <a:t> </a:t>
            </a:r>
            <a:endParaRPr lang="en-US" dirty="0"/>
          </a:p>
          <a:p>
            <a:pPr algn="just"/>
            <a:r>
              <a:rPr lang="en-US" dirty="0"/>
              <a:t>Unit tests designed in the module design phase</a:t>
            </a:r>
            <a:endParaRPr lang="en-US" dirty="0"/>
          </a:p>
          <a:p>
            <a:pPr algn="just"/>
            <a:r>
              <a:rPr lang="en-US" dirty="0"/>
              <a:t>Unit testing is the testing at code level and helps to eliminate bugs at an early stage</a:t>
            </a:r>
            <a:endParaRPr lang="en-US" dirty="0"/>
          </a:p>
          <a:p>
            <a:pPr algn="just">
              <a:buNone/>
            </a:pPr>
            <a:endParaRPr lang="en-US" dirty="0"/>
          </a:p>
          <a:p>
            <a:pPr algn="just">
              <a:buNone/>
            </a:pPr>
            <a:r>
              <a:rPr lang="en-US" b="1" dirty="0"/>
              <a:t>Integration Testing:</a:t>
            </a:r>
            <a:r>
              <a:rPr lang="en-US" dirty="0"/>
              <a:t> </a:t>
            </a:r>
            <a:endParaRPr lang="en-US" dirty="0"/>
          </a:p>
          <a:p>
            <a:pPr algn="just"/>
            <a:r>
              <a:rPr lang="en-US" dirty="0"/>
              <a:t>Integration testing is associated with the architectural design phase. </a:t>
            </a:r>
            <a:endParaRPr lang="en-US" dirty="0"/>
          </a:p>
          <a:p>
            <a:pPr algn="just"/>
            <a:r>
              <a:rPr lang="en-US" dirty="0"/>
              <a:t>Integration tests are performed to test the coexistence and communication of the internal modules within the system. </a:t>
            </a:r>
            <a:endParaRPr lang="en-US" dirty="0"/>
          </a:p>
          <a:p>
            <a:endParaRPr lang="en-US" dirty="0"/>
          </a:p>
        </p:txBody>
      </p:sp>
      <p:sp>
        <p:nvSpPr>
          <p:cNvPr id="9" name="Date Placeholder 8"/>
          <p:cNvSpPr>
            <a:spLocks noGrp="1"/>
          </p:cNvSpPr>
          <p:nvPr>
            <p:ph type="dt" sz="half" idx="10"/>
          </p:nvPr>
        </p:nvSpPr>
        <p:spPr/>
        <p:txBody>
          <a:bodyPr/>
          <a:lstStyle/>
          <a:p>
            <a:pPr>
              <a:defRPr/>
            </a:pPr>
            <a:fld id="{8787BABA-3874-4B81-9C0E-B2D253CA5AA1}"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 Model </a:t>
            </a:r>
            <a:r>
              <a:rPr lang="en-US" dirty="0"/>
              <a:t>Validation Phases</a:t>
            </a:r>
            <a:endParaRPr lang="en-US" dirty="0"/>
          </a:p>
        </p:txBody>
      </p:sp>
      <p:sp>
        <p:nvSpPr>
          <p:cNvPr id="3" name="Content Placeholder 2"/>
          <p:cNvSpPr>
            <a:spLocks noGrp="1"/>
          </p:cNvSpPr>
          <p:nvPr>
            <p:ph idx="1"/>
          </p:nvPr>
        </p:nvSpPr>
        <p:spPr/>
        <p:txBody>
          <a:bodyPr>
            <a:normAutofit lnSpcReduction="10000"/>
          </a:bodyPr>
          <a:lstStyle/>
          <a:p>
            <a:pPr algn="just">
              <a:buNone/>
            </a:pPr>
            <a:r>
              <a:rPr lang="en-US" b="1" dirty="0"/>
              <a:t>System Testing:</a:t>
            </a:r>
            <a:r>
              <a:rPr lang="en-US" dirty="0"/>
              <a:t> </a:t>
            </a:r>
            <a:endParaRPr lang="en-US" dirty="0"/>
          </a:p>
          <a:p>
            <a:pPr algn="just"/>
            <a:r>
              <a:rPr lang="en-US" dirty="0"/>
              <a:t>System tests check the entire system functionality and the communication of the system under development with external systems. </a:t>
            </a:r>
            <a:endParaRPr lang="en-US" dirty="0"/>
          </a:p>
          <a:p>
            <a:pPr algn="just"/>
            <a:r>
              <a:rPr lang="en-US" dirty="0"/>
              <a:t>Most of the software and hardware compatibility issues can be uncovered during system test execution. </a:t>
            </a:r>
            <a:endParaRPr lang="en-US" dirty="0"/>
          </a:p>
          <a:p>
            <a:pPr algn="just">
              <a:buNone/>
            </a:pPr>
            <a:endParaRPr lang="en-US" dirty="0"/>
          </a:p>
          <a:p>
            <a:pPr algn="just">
              <a:buNone/>
            </a:pPr>
            <a:r>
              <a:rPr lang="en-US" b="1" dirty="0"/>
              <a:t>Acceptance Testing:</a:t>
            </a:r>
            <a:r>
              <a:rPr lang="en-US" dirty="0"/>
              <a:t> </a:t>
            </a:r>
            <a:endParaRPr lang="en-US" dirty="0"/>
          </a:p>
          <a:p>
            <a:pPr algn="just"/>
            <a:r>
              <a:rPr lang="en-US" dirty="0"/>
              <a:t>Acceptance testing is associated with the business requirement analysis phase and involves testing the product in user environment.</a:t>
            </a:r>
            <a:endParaRPr lang="en-US" dirty="0"/>
          </a:p>
          <a:p>
            <a:pPr algn="just"/>
            <a:r>
              <a:rPr lang="en-US" dirty="0"/>
              <a:t>It also discovers the non functional issues such as load and performance defects in the actual user environment. </a:t>
            </a:r>
            <a:endParaRPr lang="en-US" dirty="0"/>
          </a:p>
          <a:p>
            <a:pPr algn="just"/>
            <a:endParaRPr lang="en-US" dirty="0"/>
          </a:p>
        </p:txBody>
      </p:sp>
      <p:sp>
        <p:nvSpPr>
          <p:cNvPr id="9" name="Date Placeholder 8"/>
          <p:cNvSpPr>
            <a:spLocks noGrp="1"/>
          </p:cNvSpPr>
          <p:nvPr>
            <p:ph type="dt" sz="half" idx="10"/>
          </p:nvPr>
        </p:nvSpPr>
        <p:spPr/>
        <p:txBody>
          <a:bodyPr/>
          <a:lstStyle/>
          <a:p>
            <a:pPr>
              <a:defRPr/>
            </a:pPr>
            <a:fld id="{FCCF9863-0D53-41A1-AD87-3CF831446650}"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 Model</a:t>
            </a:r>
            <a:endParaRPr lang="en-US" dirty="0"/>
          </a:p>
        </p:txBody>
      </p:sp>
      <p:sp>
        <p:nvSpPr>
          <p:cNvPr id="3" name="Content Placeholder 2"/>
          <p:cNvSpPr>
            <a:spLocks noGrp="1"/>
          </p:cNvSpPr>
          <p:nvPr>
            <p:ph idx="1"/>
          </p:nvPr>
        </p:nvSpPr>
        <p:spPr/>
        <p:txBody>
          <a:bodyPr>
            <a:normAutofit/>
          </a:bodyPr>
          <a:lstStyle/>
          <a:p>
            <a:pPr algn="just">
              <a:buNone/>
            </a:pPr>
            <a:r>
              <a:rPr lang="en-US" b="1" dirty="0"/>
              <a:t>Advantages:</a:t>
            </a:r>
            <a:endParaRPr lang="en-US" b="1" dirty="0"/>
          </a:p>
          <a:p>
            <a:pPr algn="just"/>
            <a:r>
              <a:rPr lang="en-US" dirty="0"/>
              <a:t>Testing activities like planning, test designing, happens well before coding. </a:t>
            </a:r>
            <a:endParaRPr lang="en-US" dirty="0"/>
          </a:p>
          <a:p>
            <a:pPr algn="just"/>
            <a:r>
              <a:rPr lang="en-US" dirty="0"/>
              <a:t>Higher chances of success over the waterfall model.</a:t>
            </a:r>
            <a:endParaRPr lang="en-US" dirty="0"/>
          </a:p>
          <a:p>
            <a:pPr algn="just"/>
            <a:r>
              <a:rPr lang="en-US" dirty="0"/>
              <a:t>Works well for projects where requirements are easily understood.</a:t>
            </a:r>
            <a:endParaRPr lang="en-US" dirty="0"/>
          </a:p>
          <a:p>
            <a:pPr algn="just">
              <a:buNone/>
            </a:pPr>
            <a:endParaRPr lang="en-US" dirty="0"/>
          </a:p>
          <a:p>
            <a:pPr algn="just">
              <a:buNone/>
            </a:pPr>
            <a:r>
              <a:rPr lang="en-US" b="1" dirty="0"/>
              <a:t>Problems:</a:t>
            </a:r>
            <a:endParaRPr lang="en-US" dirty="0"/>
          </a:p>
          <a:p>
            <a:pPr algn="just"/>
            <a:r>
              <a:rPr lang="en-US" dirty="0"/>
              <a:t>Difficult to handle changes in requirements throughout the life cycle</a:t>
            </a:r>
            <a:endParaRPr lang="en-US" dirty="0"/>
          </a:p>
          <a:p>
            <a:pPr algn="just"/>
            <a:endParaRPr lang="en-US" dirty="0"/>
          </a:p>
        </p:txBody>
      </p:sp>
      <p:sp>
        <p:nvSpPr>
          <p:cNvPr id="9" name="Date Placeholder 8"/>
          <p:cNvSpPr>
            <a:spLocks noGrp="1"/>
          </p:cNvSpPr>
          <p:nvPr>
            <p:ph type="dt" sz="half" idx="10"/>
          </p:nvPr>
        </p:nvSpPr>
        <p:spPr/>
        <p:txBody>
          <a:bodyPr/>
          <a:lstStyle/>
          <a:p>
            <a:pPr>
              <a:defRPr/>
            </a:pPr>
            <a:fld id="{A9A0444D-E370-4FEB-A095-CC4421E152FA}"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 Model</a:t>
            </a:r>
            <a:endParaRPr lang="en-US" dirty="0"/>
          </a:p>
        </p:txBody>
      </p:sp>
      <p:sp>
        <p:nvSpPr>
          <p:cNvPr id="3" name="Content Placeholder 2"/>
          <p:cNvSpPr>
            <a:spLocks noGrp="1"/>
          </p:cNvSpPr>
          <p:nvPr>
            <p:ph idx="1"/>
          </p:nvPr>
        </p:nvSpPr>
        <p:spPr/>
        <p:txBody>
          <a:bodyPr/>
          <a:lstStyle/>
          <a:p>
            <a:pPr>
              <a:buNone/>
            </a:pPr>
            <a:r>
              <a:rPr lang="en-US" b="1" dirty="0"/>
              <a:t>Applicability:</a:t>
            </a:r>
            <a:endParaRPr lang="en-US" b="1" dirty="0"/>
          </a:p>
          <a:p>
            <a:pPr>
              <a:buNone/>
            </a:pPr>
            <a:endParaRPr lang="en-US" b="1" dirty="0"/>
          </a:p>
          <a:p>
            <a:r>
              <a:rPr lang="en-US" dirty="0"/>
              <a:t>The V-shaped model should be used for projects where requirements are clearly defined and fixed.</a:t>
            </a:r>
            <a:endParaRPr lang="en-US" dirty="0"/>
          </a:p>
          <a:p>
            <a:pPr>
              <a:buNone/>
            </a:pPr>
            <a:endParaRPr lang="en-US" dirty="0"/>
          </a:p>
          <a:p>
            <a:r>
              <a:rPr lang="en-US" dirty="0"/>
              <a:t>The V-Shaped model should be chosen when technical resources are available with needed technical expertise.</a:t>
            </a:r>
            <a:endParaRPr lang="en-US" dirty="0"/>
          </a:p>
          <a:p>
            <a:pPr>
              <a:buNone/>
            </a:pPr>
            <a:endParaRPr lang="en-US" dirty="0"/>
          </a:p>
          <a:p>
            <a:r>
              <a:rPr lang="en-US" dirty="0"/>
              <a:t>High confidence of customer is required for choosing the V-Shaped model approach. </a:t>
            </a:r>
            <a:endParaRPr lang="en-US" dirty="0"/>
          </a:p>
          <a:p>
            <a:endParaRPr lang="en-US" dirty="0"/>
          </a:p>
        </p:txBody>
      </p:sp>
      <p:sp>
        <p:nvSpPr>
          <p:cNvPr id="9" name="Date Placeholder 8"/>
          <p:cNvSpPr>
            <a:spLocks noGrp="1"/>
          </p:cNvSpPr>
          <p:nvPr>
            <p:ph type="dt" sz="half" idx="10"/>
          </p:nvPr>
        </p:nvSpPr>
        <p:spPr/>
        <p:txBody>
          <a:bodyPr/>
          <a:lstStyle/>
          <a:p>
            <a:pPr>
              <a:defRPr/>
            </a:pPr>
            <a:fld id="{60C6A511-9A33-42F5-A99F-EC2DD5E63CFB}"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Evolutionary Models</a:t>
            </a:r>
            <a:endParaRPr lang="en-US" dirty="0"/>
          </a:p>
        </p:txBody>
      </p:sp>
      <p:sp>
        <p:nvSpPr>
          <p:cNvPr id="3" name="Content Placeholder 2"/>
          <p:cNvSpPr>
            <a:spLocks noGrp="1"/>
          </p:cNvSpPr>
          <p:nvPr>
            <p:ph idx="1"/>
          </p:nvPr>
        </p:nvSpPr>
        <p:spPr/>
        <p:txBody>
          <a:bodyPr>
            <a:normAutofit/>
          </a:bodyPr>
          <a:lstStyle/>
          <a:p>
            <a:pPr algn="just">
              <a:buNone/>
            </a:pPr>
            <a:r>
              <a:rPr lang="en-US" dirty="0"/>
              <a:t>Evolutionary Development:</a:t>
            </a:r>
            <a:endParaRPr lang="en-US" dirty="0"/>
          </a:p>
          <a:p>
            <a:pPr algn="just"/>
            <a:r>
              <a:rPr lang="en-US" dirty="0"/>
              <a:t>Includes the activities of  specification, development and validation</a:t>
            </a:r>
            <a:endParaRPr lang="en-US" dirty="0"/>
          </a:p>
          <a:p>
            <a:pPr algn="just"/>
            <a:r>
              <a:rPr lang="en-US" dirty="0"/>
              <a:t>Initial system is developed from abstract specification</a:t>
            </a:r>
            <a:endParaRPr lang="en-US" dirty="0"/>
          </a:p>
          <a:p>
            <a:pPr algn="just"/>
            <a:r>
              <a:rPr lang="en-US" dirty="0"/>
              <a:t>Then refined with customer input to produce a system that satisfies the customer’ s needs.</a:t>
            </a:r>
            <a:endParaRPr lang="en-US" dirty="0"/>
          </a:p>
          <a:p>
            <a:pPr algn="just">
              <a:buNone/>
            </a:pPr>
            <a:endParaRPr lang="en-US" dirty="0"/>
          </a:p>
          <a:p>
            <a:pPr algn="just">
              <a:buNone/>
            </a:pPr>
            <a:r>
              <a:rPr lang="en-US" dirty="0"/>
              <a:t>Two types of evolutionary development</a:t>
            </a:r>
            <a:endParaRPr lang="en-US" dirty="0"/>
          </a:p>
          <a:p>
            <a:pPr marL="567055" indent="-457200" algn="just">
              <a:buAutoNum type="arabicPeriod"/>
            </a:pPr>
            <a:r>
              <a:rPr lang="en-US" dirty="0"/>
              <a:t>Exploratory</a:t>
            </a:r>
            <a:endParaRPr lang="en-US" dirty="0"/>
          </a:p>
          <a:p>
            <a:pPr marL="567055" indent="-457200" algn="just">
              <a:buAutoNum type="arabicPeriod"/>
            </a:pPr>
            <a:r>
              <a:rPr lang="en-US" dirty="0"/>
              <a:t>Prototyping</a:t>
            </a:r>
            <a:endParaRPr lang="en-US" dirty="0"/>
          </a:p>
          <a:p>
            <a:pPr algn="just"/>
            <a:endParaRPr lang="en-US" dirty="0"/>
          </a:p>
        </p:txBody>
      </p:sp>
      <p:sp>
        <p:nvSpPr>
          <p:cNvPr id="9" name="Date Placeholder 8"/>
          <p:cNvSpPr>
            <a:spLocks noGrp="1"/>
          </p:cNvSpPr>
          <p:nvPr>
            <p:ph type="dt" sz="half" idx="10"/>
          </p:nvPr>
        </p:nvSpPr>
        <p:spPr/>
        <p:txBody>
          <a:bodyPr/>
          <a:lstStyle/>
          <a:p>
            <a:pPr>
              <a:defRPr/>
            </a:pPr>
            <a:fld id="{8C202BF9-EDF8-4A52-8862-C13032918922}"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Evolutionary Models</a:t>
            </a:r>
            <a:endParaRPr lang="en-US" dirty="0"/>
          </a:p>
        </p:txBody>
      </p:sp>
      <p:sp>
        <p:nvSpPr>
          <p:cNvPr id="3" name="Content Placeholder 2"/>
          <p:cNvSpPr>
            <a:spLocks noGrp="1"/>
          </p:cNvSpPr>
          <p:nvPr>
            <p:ph idx="1"/>
          </p:nvPr>
        </p:nvSpPr>
        <p:spPr/>
        <p:txBody>
          <a:bodyPr>
            <a:normAutofit fontScale="92500" lnSpcReduction="10000"/>
          </a:bodyPr>
          <a:lstStyle/>
          <a:p>
            <a:pPr lvl="0" algn="just">
              <a:buNone/>
            </a:pPr>
            <a:r>
              <a:rPr lang="en-US" b="1" dirty="0"/>
              <a:t>Exploratory Model</a:t>
            </a:r>
            <a:endParaRPr lang="en-US" b="1" dirty="0"/>
          </a:p>
          <a:p>
            <a:pPr lvl="0" algn="just">
              <a:buNone/>
            </a:pPr>
            <a:endParaRPr lang="en-US" b="1" dirty="0"/>
          </a:p>
          <a:p>
            <a:pPr algn="just"/>
            <a:r>
              <a:rPr lang="en-GB" dirty="0"/>
              <a:t>Objective of the process is to work with customers to explore their requirements and deliver a final system.</a:t>
            </a:r>
            <a:endParaRPr lang="en-GB" dirty="0"/>
          </a:p>
          <a:p>
            <a:pPr algn="just">
              <a:buNone/>
            </a:pPr>
            <a:endParaRPr lang="en-GB" dirty="0"/>
          </a:p>
          <a:p>
            <a:pPr algn="just"/>
            <a:r>
              <a:rPr lang="en-GB" dirty="0"/>
              <a:t>The development starts with the parts of the system that are understood.</a:t>
            </a:r>
            <a:endParaRPr lang="en-GB" dirty="0"/>
          </a:p>
          <a:p>
            <a:pPr algn="just">
              <a:buNone/>
            </a:pPr>
            <a:endParaRPr lang="en-GB" dirty="0"/>
          </a:p>
          <a:p>
            <a:pPr algn="just"/>
            <a:r>
              <a:rPr lang="en-GB" dirty="0"/>
              <a:t>The system evolves by adding new features proposed by customer. </a:t>
            </a:r>
            <a:endParaRPr lang="en-GB" dirty="0"/>
          </a:p>
          <a:p>
            <a:pPr algn="just">
              <a:buNone/>
            </a:pPr>
            <a:endParaRPr lang="en-GB" dirty="0"/>
          </a:p>
          <a:p>
            <a:pPr algn="just"/>
            <a:r>
              <a:rPr lang="en-US" dirty="0"/>
              <a:t>This model works best in situations where few, or none, of the system or product requirements are known in detail.</a:t>
            </a:r>
            <a:endParaRPr lang="en-US" dirty="0"/>
          </a:p>
        </p:txBody>
      </p:sp>
      <p:sp>
        <p:nvSpPr>
          <p:cNvPr id="9" name="Date Placeholder 8"/>
          <p:cNvSpPr>
            <a:spLocks noGrp="1"/>
          </p:cNvSpPr>
          <p:nvPr>
            <p:ph type="dt" sz="half" idx="10"/>
          </p:nvPr>
        </p:nvSpPr>
        <p:spPr/>
        <p:txBody>
          <a:bodyPr/>
          <a:lstStyle/>
          <a:p>
            <a:pPr>
              <a:defRPr/>
            </a:pPr>
            <a:fld id="{3D9DCF72-7CBB-4218-8D5C-DD6FBC5C6391}"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Exploratory Models</a:t>
            </a:r>
            <a:endParaRPr lang="en-US" dirty="0"/>
          </a:p>
        </p:txBody>
      </p:sp>
      <p:sp>
        <p:nvSpPr>
          <p:cNvPr id="3" name="Content Placeholder 2"/>
          <p:cNvSpPr>
            <a:spLocks noGrp="1"/>
          </p:cNvSpPr>
          <p:nvPr>
            <p:ph idx="1"/>
          </p:nvPr>
        </p:nvSpPr>
        <p:spPr/>
        <p:txBody>
          <a:bodyPr/>
          <a:lstStyle/>
          <a:p>
            <a:endParaRPr lang="en-US" dirty="0"/>
          </a:p>
        </p:txBody>
      </p:sp>
      <p:grpSp>
        <p:nvGrpSpPr>
          <p:cNvPr id="7" name="Group 6"/>
          <p:cNvGrpSpPr/>
          <p:nvPr/>
        </p:nvGrpSpPr>
        <p:grpSpPr>
          <a:xfrm>
            <a:off x="457200" y="2516187"/>
            <a:ext cx="8229600" cy="3733800"/>
            <a:chOff x="914400" y="2743200"/>
            <a:chExt cx="7772400" cy="3733800"/>
          </a:xfrm>
        </p:grpSpPr>
        <p:sp>
          <p:nvSpPr>
            <p:cNvPr id="9" name="Rectangle 8"/>
            <p:cNvSpPr/>
            <p:nvPr/>
          </p:nvSpPr>
          <p:spPr>
            <a:xfrm>
              <a:off x="914400" y="3962400"/>
              <a:ext cx="1219200" cy="685800"/>
            </a:xfrm>
            <a:prstGeom prst="rect">
              <a:avLst/>
            </a:prstGeom>
            <a:solidFill>
              <a:schemeClr val="accent3">
                <a:lumMod val="20000"/>
                <a:lumOff val="8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chemeClr val="accent3">
                      <a:lumMod val="50000"/>
                    </a:schemeClr>
                  </a:solidFill>
                </a:rPr>
                <a:t>Outline Description</a:t>
              </a:r>
              <a:endParaRPr lang="en-GB" sz="1600" dirty="0">
                <a:solidFill>
                  <a:schemeClr val="accent3">
                    <a:lumMod val="50000"/>
                  </a:schemeClr>
                </a:solidFill>
              </a:endParaRPr>
            </a:p>
          </p:txBody>
        </p:sp>
        <p:grpSp>
          <p:nvGrpSpPr>
            <p:cNvPr id="10" name="Group 16"/>
            <p:cNvGrpSpPr/>
            <p:nvPr/>
          </p:nvGrpSpPr>
          <p:grpSpPr bwMode="auto">
            <a:xfrm>
              <a:off x="6248400" y="2743200"/>
              <a:ext cx="2438400" cy="3733800"/>
              <a:chOff x="6248400" y="2743200"/>
              <a:chExt cx="2438400" cy="3733800"/>
            </a:xfrm>
          </p:grpSpPr>
          <p:sp>
            <p:nvSpPr>
              <p:cNvPr id="24" name="Rectangle 23"/>
              <p:cNvSpPr/>
              <p:nvPr/>
            </p:nvSpPr>
            <p:spPr>
              <a:xfrm>
                <a:off x="6248400" y="2743200"/>
                <a:ext cx="2438400" cy="37338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dirty="0"/>
              </a:p>
            </p:txBody>
          </p:sp>
          <p:sp>
            <p:nvSpPr>
              <p:cNvPr id="25" name="Rectangle 24"/>
              <p:cNvSpPr/>
              <p:nvPr/>
            </p:nvSpPr>
            <p:spPr>
              <a:xfrm>
                <a:off x="6858000" y="3124200"/>
                <a:ext cx="1295400" cy="685800"/>
              </a:xfrm>
              <a:prstGeom prst="rect">
                <a:avLst/>
              </a:prstGeom>
              <a:solidFill>
                <a:schemeClr val="bg1"/>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chemeClr val="accent3">
                        <a:lumMod val="50000"/>
                      </a:schemeClr>
                    </a:solidFill>
                  </a:rPr>
                  <a:t>Initial Version</a:t>
                </a:r>
                <a:endParaRPr lang="en-GB" sz="1600" dirty="0">
                  <a:solidFill>
                    <a:schemeClr val="accent3">
                      <a:lumMod val="50000"/>
                    </a:schemeClr>
                  </a:solidFill>
                </a:endParaRPr>
              </a:p>
            </p:txBody>
          </p:sp>
          <p:sp>
            <p:nvSpPr>
              <p:cNvPr id="26" name="Rectangle 25"/>
              <p:cNvSpPr/>
              <p:nvPr/>
            </p:nvSpPr>
            <p:spPr>
              <a:xfrm>
                <a:off x="6858000" y="5181600"/>
                <a:ext cx="1295400" cy="685800"/>
              </a:xfrm>
              <a:prstGeom prst="rect">
                <a:avLst/>
              </a:prstGeom>
              <a:solidFill>
                <a:schemeClr val="bg1"/>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chemeClr val="accent3">
                        <a:lumMod val="50000"/>
                      </a:schemeClr>
                    </a:solidFill>
                  </a:rPr>
                  <a:t>Final</a:t>
                </a:r>
                <a:endParaRPr lang="en-US" sz="1600" dirty="0">
                  <a:solidFill>
                    <a:schemeClr val="accent3">
                      <a:lumMod val="50000"/>
                    </a:schemeClr>
                  </a:solidFill>
                </a:endParaRPr>
              </a:p>
              <a:p>
                <a:pPr algn="ctr">
                  <a:defRPr/>
                </a:pPr>
                <a:r>
                  <a:rPr lang="en-US" sz="1600" dirty="0">
                    <a:solidFill>
                      <a:schemeClr val="accent3">
                        <a:lumMod val="50000"/>
                      </a:schemeClr>
                    </a:solidFill>
                  </a:rPr>
                  <a:t>Version</a:t>
                </a:r>
                <a:endParaRPr lang="en-GB" sz="1600" dirty="0">
                  <a:solidFill>
                    <a:schemeClr val="accent3">
                      <a:lumMod val="50000"/>
                    </a:schemeClr>
                  </a:solidFill>
                </a:endParaRPr>
              </a:p>
            </p:txBody>
          </p:sp>
          <p:grpSp>
            <p:nvGrpSpPr>
              <p:cNvPr id="27" name="Group 14"/>
              <p:cNvGrpSpPr/>
              <p:nvPr/>
            </p:nvGrpSpPr>
            <p:grpSpPr>
              <a:xfrm>
                <a:off x="6858000" y="4038600"/>
                <a:ext cx="1447800" cy="838200"/>
                <a:chOff x="1752600" y="5638800"/>
                <a:chExt cx="1447800" cy="838200"/>
              </a:xfrm>
              <a:solidFill>
                <a:schemeClr val="bg1"/>
              </a:solidFill>
            </p:grpSpPr>
            <p:sp>
              <p:nvSpPr>
                <p:cNvPr id="28" name="Rectangle 27"/>
                <p:cNvSpPr/>
                <p:nvPr/>
              </p:nvSpPr>
              <p:spPr>
                <a:xfrm>
                  <a:off x="1905000" y="5791200"/>
                  <a:ext cx="1295400" cy="685800"/>
                </a:xfrm>
                <a:prstGeom prst="rect">
                  <a:avLst/>
                </a:prstGeom>
                <a:grp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600" dirty="0">
                    <a:solidFill>
                      <a:schemeClr val="accent3">
                        <a:lumMod val="50000"/>
                      </a:schemeClr>
                    </a:solidFill>
                  </a:endParaRPr>
                </a:p>
              </p:txBody>
            </p:sp>
            <p:sp>
              <p:nvSpPr>
                <p:cNvPr id="29" name="Rectangle 28"/>
                <p:cNvSpPr/>
                <p:nvPr/>
              </p:nvSpPr>
              <p:spPr>
                <a:xfrm>
                  <a:off x="1828800" y="5715000"/>
                  <a:ext cx="1295400" cy="685800"/>
                </a:xfrm>
                <a:prstGeom prst="rect">
                  <a:avLst/>
                </a:prstGeom>
                <a:grp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600" dirty="0">
                    <a:solidFill>
                      <a:schemeClr val="accent3">
                        <a:lumMod val="50000"/>
                      </a:schemeClr>
                    </a:solidFill>
                  </a:endParaRPr>
                </a:p>
              </p:txBody>
            </p:sp>
            <p:sp>
              <p:nvSpPr>
                <p:cNvPr id="30" name="Rectangle 29"/>
                <p:cNvSpPr/>
                <p:nvPr/>
              </p:nvSpPr>
              <p:spPr>
                <a:xfrm>
                  <a:off x="1752600" y="5638800"/>
                  <a:ext cx="1295400" cy="685800"/>
                </a:xfrm>
                <a:prstGeom prst="rect">
                  <a:avLst/>
                </a:prstGeom>
                <a:grp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chemeClr val="accent3">
                          <a:lumMod val="50000"/>
                        </a:schemeClr>
                      </a:solidFill>
                    </a:rPr>
                    <a:t>Intermediate Version</a:t>
                  </a:r>
                  <a:endParaRPr lang="en-GB" sz="1600" dirty="0">
                    <a:solidFill>
                      <a:schemeClr val="accent3">
                        <a:lumMod val="50000"/>
                      </a:schemeClr>
                    </a:solidFill>
                  </a:endParaRPr>
                </a:p>
              </p:txBody>
            </p:sp>
          </p:grpSp>
        </p:grpSp>
        <p:grpSp>
          <p:nvGrpSpPr>
            <p:cNvPr id="11" name="Group 37"/>
            <p:cNvGrpSpPr/>
            <p:nvPr/>
          </p:nvGrpSpPr>
          <p:grpSpPr bwMode="auto">
            <a:xfrm>
              <a:off x="3048000" y="2743200"/>
              <a:ext cx="2438400" cy="3733800"/>
              <a:chOff x="3352800" y="2743200"/>
              <a:chExt cx="2438400" cy="3733800"/>
            </a:xfrm>
          </p:grpSpPr>
          <p:sp>
            <p:nvSpPr>
              <p:cNvPr id="16" name="Rectangle 15"/>
              <p:cNvSpPr/>
              <p:nvPr/>
            </p:nvSpPr>
            <p:spPr>
              <a:xfrm>
                <a:off x="3352800" y="2743200"/>
                <a:ext cx="2438400" cy="37338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dirty="0"/>
              </a:p>
            </p:txBody>
          </p:sp>
          <p:sp>
            <p:nvSpPr>
              <p:cNvPr id="17" name="Flowchart: Alternate Process 16"/>
              <p:cNvSpPr/>
              <p:nvPr/>
            </p:nvSpPr>
            <p:spPr>
              <a:xfrm>
                <a:off x="3733800" y="3200400"/>
                <a:ext cx="1676400" cy="533400"/>
              </a:xfrm>
              <a:prstGeom prst="flowChartAlternateProcess">
                <a:avLst/>
              </a:prstGeom>
              <a:solidFill>
                <a:schemeClr val="bg1"/>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chemeClr val="accent3">
                        <a:lumMod val="50000"/>
                      </a:schemeClr>
                    </a:solidFill>
                  </a:rPr>
                  <a:t>Specification</a:t>
                </a:r>
                <a:endParaRPr lang="en-GB" sz="1600" dirty="0">
                  <a:solidFill>
                    <a:schemeClr val="accent3">
                      <a:lumMod val="50000"/>
                    </a:schemeClr>
                  </a:solidFill>
                </a:endParaRPr>
              </a:p>
            </p:txBody>
          </p:sp>
          <p:sp>
            <p:nvSpPr>
              <p:cNvPr id="18" name="Flowchart: Alternate Process 17"/>
              <p:cNvSpPr/>
              <p:nvPr/>
            </p:nvSpPr>
            <p:spPr>
              <a:xfrm>
                <a:off x="3733800" y="4191000"/>
                <a:ext cx="1676400" cy="533400"/>
              </a:xfrm>
              <a:prstGeom prst="flowChartAlternateProcess">
                <a:avLst/>
              </a:prstGeom>
              <a:solidFill>
                <a:schemeClr val="bg1"/>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chemeClr val="accent3">
                        <a:lumMod val="50000"/>
                      </a:schemeClr>
                    </a:solidFill>
                  </a:rPr>
                  <a:t>Development</a:t>
                </a:r>
                <a:endParaRPr lang="en-GB" sz="1600" dirty="0">
                  <a:solidFill>
                    <a:schemeClr val="accent3">
                      <a:lumMod val="50000"/>
                    </a:schemeClr>
                  </a:solidFill>
                </a:endParaRPr>
              </a:p>
            </p:txBody>
          </p:sp>
          <p:sp>
            <p:nvSpPr>
              <p:cNvPr id="19" name="Flowchart: Alternate Process 18"/>
              <p:cNvSpPr/>
              <p:nvPr/>
            </p:nvSpPr>
            <p:spPr>
              <a:xfrm>
                <a:off x="3733800" y="5181600"/>
                <a:ext cx="1676400" cy="533400"/>
              </a:xfrm>
              <a:prstGeom prst="flowChartAlternateProcess">
                <a:avLst/>
              </a:prstGeom>
              <a:solidFill>
                <a:schemeClr val="bg1"/>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chemeClr val="accent3">
                        <a:lumMod val="50000"/>
                      </a:schemeClr>
                    </a:solidFill>
                  </a:rPr>
                  <a:t>Validation</a:t>
                </a:r>
                <a:endParaRPr lang="en-GB" sz="1600" dirty="0">
                  <a:solidFill>
                    <a:schemeClr val="accent3">
                      <a:lumMod val="50000"/>
                    </a:schemeClr>
                  </a:solidFill>
                </a:endParaRPr>
              </a:p>
            </p:txBody>
          </p:sp>
          <p:cxnSp>
            <p:nvCxnSpPr>
              <p:cNvPr id="20" name="Straight Arrow Connector 19"/>
              <p:cNvCxnSpPr/>
              <p:nvPr/>
            </p:nvCxnSpPr>
            <p:spPr>
              <a:xfrm rot="5400000">
                <a:off x="4724401" y="3962400"/>
                <a:ext cx="457200" cy="3175"/>
              </a:xfrm>
              <a:prstGeom prst="straightConnector1">
                <a:avLst/>
              </a:prstGeom>
              <a:ln>
                <a:solidFill>
                  <a:schemeClr val="accent3">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5400000">
                <a:off x="4725194" y="4952206"/>
                <a:ext cx="457200" cy="1588"/>
              </a:xfrm>
              <a:prstGeom prst="straightConnector1">
                <a:avLst/>
              </a:prstGeom>
              <a:ln>
                <a:solidFill>
                  <a:schemeClr val="accent3">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5400000" flipH="1" flipV="1">
                <a:off x="4038601" y="3962400"/>
                <a:ext cx="457200" cy="3175"/>
              </a:xfrm>
              <a:prstGeom prst="straightConnector1">
                <a:avLst/>
              </a:prstGeom>
              <a:ln>
                <a:solidFill>
                  <a:schemeClr val="accent3">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flipH="1" flipV="1">
                <a:off x="4039394" y="4952206"/>
                <a:ext cx="457200" cy="1588"/>
              </a:xfrm>
              <a:prstGeom prst="straightConnector1">
                <a:avLst/>
              </a:prstGeom>
              <a:ln>
                <a:solidFill>
                  <a:schemeClr val="accent3">
                    <a:lumMod val="75000"/>
                  </a:schemeClr>
                </a:solidFill>
                <a:tailEnd type="arrow"/>
              </a:ln>
            </p:spPr>
            <p:style>
              <a:lnRef idx="1">
                <a:schemeClr val="accent1"/>
              </a:lnRef>
              <a:fillRef idx="0">
                <a:schemeClr val="accent1"/>
              </a:fillRef>
              <a:effectRef idx="0">
                <a:schemeClr val="accent1"/>
              </a:effectRef>
              <a:fontRef idx="minor">
                <a:schemeClr val="tx1"/>
              </a:fontRef>
            </p:style>
          </p:cxnSp>
        </p:grpSp>
        <p:cxnSp>
          <p:nvCxnSpPr>
            <p:cNvPr id="12" name="Straight Arrow Connector 11"/>
            <p:cNvCxnSpPr/>
            <p:nvPr/>
          </p:nvCxnSpPr>
          <p:spPr>
            <a:xfrm>
              <a:off x="5486400" y="3276600"/>
              <a:ext cx="762000" cy="1588"/>
            </a:xfrm>
            <a:prstGeom prst="straightConnector1">
              <a:avLst/>
            </a:prstGeom>
            <a:ln w="28575">
              <a:solidFill>
                <a:schemeClr val="accent3">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5486400" y="4343400"/>
              <a:ext cx="762000" cy="1588"/>
            </a:xfrm>
            <a:prstGeom prst="straightConnector1">
              <a:avLst/>
            </a:prstGeom>
            <a:ln w="28575">
              <a:solidFill>
                <a:schemeClr val="accent3">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24" idx="1"/>
              <a:endCxn id="16" idx="3"/>
            </p:cNvCxnSpPr>
            <p:nvPr/>
          </p:nvCxnSpPr>
          <p:spPr>
            <a:xfrm rot="10800000">
              <a:off x="5486400" y="4610100"/>
              <a:ext cx="762000" cy="1588"/>
            </a:xfrm>
            <a:prstGeom prst="straightConnector1">
              <a:avLst/>
            </a:prstGeom>
            <a:ln w="28575">
              <a:solidFill>
                <a:schemeClr val="accent3">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10800000">
              <a:off x="5486400" y="3505200"/>
              <a:ext cx="762000" cy="1588"/>
            </a:xfrm>
            <a:prstGeom prst="straightConnector1">
              <a:avLst/>
            </a:prstGeom>
            <a:ln w="28575">
              <a:solidFill>
                <a:schemeClr val="accent3">
                  <a:lumMod val="75000"/>
                </a:schemeClr>
              </a:solidFill>
              <a:tailEnd type="arrow"/>
            </a:ln>
          </p:spPr>
          <p:style>
            <a:lnRef idx="1">
              <a:schemeClr val="accent1"/>
            </a:lnRef>
            <a:fillRef idx="0">
              <a:schemeClr val="accent1"/>
            </a:fillRef>
            <a:effectRef idx="0">
              <a:schemeClr val="accent1"/>
            </a:effectRef>
            <a:fontRef idx="minor">
              <a:schemeClr val="tx1"/>
            </a:fontRef>
          </p:style>
        </p:cxnSp>
      </p:grpSp>
      <p:cxnSp>
        <p:nvCxnSpPr>
          <p:cNvPr id="31" name="Straight Arrow Connector 30"/>
          <p:cNvCxnSpPr/>
          <p:nvPr/>
        </p:nvCxnSpPr>
        <p:spPr>
          <a:xfrm flipV="1">
            <a:off x="1748118" y="4116387"/>
            <a:ext cx="968188" cy="1588"/>
          </a:xfrm>
          <a:prstGeom prst="straightConnector1">
            <a:avLst/>
          </a:prstGeom>
          <a:ln w="28575">
            <a:solidFill>
              <a:schemeClr val="accent3">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34" name="Date Placeholder 33"/>
          <p:cNvSpPr>
            <a:spLocks noGrp="1"/>
          </p:cNvSpPr>
          <p:nvPr>
            <p:ph type="dt" sz="half" idx="10"/>
          </p:nvPr>
        </p:nvSpPr>
        <p:spPr/>
        <p:txBody>
          <a:bodyPr/>
          <a:lstStyle/>
          <a:p>
            <a:pPr>
              <a:defRPr/>
            </a:pPr>
            <a:fld id="{0EEF9FFD-DC1E-47C1-8069-51E3781D2DBD}" type="datetime1">
              <a:rPr lang="en-US" smtClean="0"/>
            </a:fld>
            <a:endParaRPr lang="en-US"/>
          </a:p>
        </p:txBody>
      </p:sp>
      <p:sp>
        <p:nvSpPr>
          <p:cNvPr id="36" name="Slide Number Placeholder 35"/>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Exploratory Model</a:t>
            </a:r>
            <a:endParaRPr lang="en-US" dirty="0"/>
          </a:p>
        </p:txBody>
      </p:sp>
      <p:sp>
        <p:nvSpPr>
          <p:cNvPr id="3" name="Content Placeholder 2"/>
          <p:cNvSpPr>
            <a:spLocks noGrp="1"/>
          </p:cNvSpPr>
          <p:nvPr>
            <p:ph idx="1"/>
          </p:nvPr>
        </p:nvSpPr>
        <p:spPr/>
        <p:txBody>
          <a:bodyPr/>
          <a:lstStyle/>
          <a:p>
            <a:pPr>
              <a:spcAft>
                <a:spcPts val="0"/>
              </a:spcAft>
              <a:buClr>
                <a:schemeClr val="bg1">
                  <a:lumMod val="50000"/>
                </a:schemeClr>
              </a:buClr>
              <a:buSzPct val="70000"/>
              <a:buFont typeface="Wingdings" panose="05000000000000000000" pitchFamily="2" charset="2"/>
              <a:buChar char="§"/>
              <a:defRPr/>
            </a:pPr>
            <a:endParaRPr lang="en-GB" sz="2200" b="1" dirty="0"/>
          </a:p>
          <a:p>
            <a:pPr>
              <a:spcAft>
                <a:spcPts val="0"/>
              </a:spcAft>
              <a:buClr>
                <a:schemeClr val="bg1">
                  <a:lumMod val="50000"/>
                </a:schemeClr>
              </a:buClr>
              <a:buSzPct val="70000"/>
              <a:buFont typeface="Wingdings" panose="05000000000000000000" pitchFamily="2" charset="2"/>
              <a:buChar char="§"/>
              <a:defRPr/>
            </a:pPr>
            <a:r>
              <a:rPr lang="en-GB" sz="2200" b="1" dirty="0"/>
              <a:t>Problems:</a:t>
            </a:r>
            <a:endParaRPr lang="en-GB" sz="2200" b="1" dirty="0"/>
          </a:p>
          <a:p>
            <a:pPr marL="800100" lvl="2" indent="-342900">
              <a:lnSpc>
                <a:spcPct val="125000"/>
              </a:lnSpc>
              <a:buClr>
                <a:schemeClr val="bg1">
                  <a:lumMod val="50000"/>
                </a:schemeClr>
              </a:buClr>
              <a:buSzPct val="70000"/>
              <a:buFont typeface="Wingdings" panose="05000000000000000000" pitchFamily="2" charset="2"/>
              <a:buChar char="§"/>
              <a:defRPr/>
            </a:pPr>
            <a:r>
              <a:rPr lang="en-GB" sz="2200" dirty="0"/>
              <a:t>Lack of process visibility;</a:t>
            </a:r>
            <a:endParaRPr lang="en-GB" sz="2200" dirty="0"/>
          </a:p>
          <a:p>
            <a:pPr marL="800100" lvl="2" indent="-342900">
              <a:lnSpc>
                <a:spcPct val="125000"/>
              </a:lnSpc>
              <a:buClr>
                <a:schemeClr val="bg1">
                  <a:lumMod val="50000"/>
                </a:schemeClr>
              </a:buClr>
              <a:buSzPct val="70000"/>
              <a:buFont typeface="Wingdings" panose="05000000000000000000" pitchFamily="2" charset="2"/>
              <a:buChar char="§"/>
              <a:defRPr/>
            </a:pPr>
            <a:r>
              <a:rPr lang="en-GB" sz="2200" dirty="0"/>
              <a:t>Systems are often poorly structured</a:t>
            </a:r>
            <a:endParaRPr lang="en-GB" sz="2200" dirty="0"/>
          </a:p>
          <a:p>
            <a:pPr marL="800100" lvl="2" indent="-342900">
              <a:lnSpc>
                <a:spcPct val="125000"/>
              </a:lnSpc>
              <a:buClr>
                <a:schemeClr val="bg1">
                  <a:lumMod val="50000"/>
                </a:schemeClr>
              </a:buClr>
              <a:buSzPct val="70000"/>
              <a:buFont typeface="Wingdings" panose="05000000000000000000" pitchFamily="2" charset="2"/>
              <a:buChar char="§"/>
              <a:defRPr/>
            </a:pPr>
            <a:endParaRPr lang="en-GB" sz="2200" dirty="0"/>
          </a:p>
          <a:p>
            <a:pPr>
              <a:spcAft>
                <a:spcPts val="0"/>
              </a:spcAft>
              <a:buClr>
                <a:schemeClr val="bg1">
                  <a:lumMod val="50000"/>
                </a:schemeClr>
              </a:buClr>
              <a:buSzPct val="70000"/>
              <a:buFont typeface="Wingdings" panose="05000000000000000000" pitchFamily="2" charset="2"/>
              <a:buChar char="§"/>
              <a:defRPr/>
            </a:pPr>
            <a:r>
              <a:rPr lang="en-GB" sz="2200" b="1" dirty="0"/>
              <a:t>Applicability:</a:t>
            </a:r>
            <a:endParaRPr lang="en-GB" sz="2200" b="1" dirty="0"/>
          </a:p>
          <a:p>
            <a:pPr marL="800100" lvl="2" indent="-342900">
              <a:lnSpc>
                <a:spcPct val="125000"/>
              </a:lnSpc>
              <a:buClr>
                <a:schemeClr val="bg1">
                  <a:lumMod val="50000"/>
                </a:schemeClr>
              </a:buClr>
              <a:buSzPct val="70000"/>
              <a:buFont typeface="Wingdings" panose="05000000000000000000" pitchFamily="2" charset="2"/>
              <a:buChar char="§"/>
              <a:defRPr/>
            </a:pPr>
            <a:r>
              <a:rPr lang="en-GB" sz="2200" dirty="0"/>
              <a:t>For small or medium-size interactive systems</a:t>
            </a:r>
            <a:endParaRPr lang="en-GB" sz="2200" dirty="0"/>
          </a:p>
          <a:p>
            <a:pPr marL="800100" lvl="2" indent="-342900">
              <a:lnSpc>
                <a:spcPct val="125000"/>
              </a:lnSpc>
              <a:buClr>
                <a:schemeClr val="bg1">
                  <a:lumMod val="50000"/>
                </a:schemeClr>
              </a:buClr>
              <a:buSzPct val="70000"/>
              <a:buFont typeface="Wingdings" panose="05000000000000000000" pitchFamily="2" charset="2"/>
              <a:buChar char="§"/>
              <a:defRPr/>
            </a:pPr>
            <a:r>
              <a:rPr lang="en-GB" sz="2200" dirty="0"/>
              <a:t>For parts of large systems (e.g. the user interface)</a:t>
            </a:r>
            <a:endParaRPr lang="en-GB" sz="2200" dirty="0"/>
          </a:p>
          <a:p>
            <a:pPr>
              <a:buClr>
                <a:schemeClr val="bg1">
                  <a:lumMod val="50000"/>
                </a:schemeClr>
              </a:buClr>
              <a:buFont typeface="Wingdings" panose="05000000000000000000" pitchFamily="2" charset="2"/>
              <a:buChar char="§"/>
            </a:pPr>
            <a:endParaRPr lang="en-US" dirty="0"/>
          </a:p>
        </p:txBody>
      </p:sp>
      <p:sp>
        <p:nvSpPr>
          <p:cNvPr id="9" name="Date Placeholder 8"/>
          <p:cNvSpPr>
            <a:spLocks noGrp="1"/>
          </p:cNvSpPr>
          <p:nvPr>
            <p:ph type="dt" sz="half" idx="10"/>
          </p:nvPr>
        </p:nvSpPr>
        <p:spPr/>
        <p:txBody>
          <a:bodyPr/>
          <a:lstStyle/>
          <a:p>
            <a:pPr>
              <a:defRPr/>
            </a:pPr>
            <a:fld id="{B5C9EC64-6C87-424D-8EDB-694B9BC3EAF4}"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Evolutionary Models</a:t>
            </a:r>
            <a:endParaRPr lang="en-US" dirty="0"/>
          </a:p>
        </p:txBody>
      </p:sp>
      <p:sp>
        <p:nvSpPr>
          <p:cNvPr id="3" name="Content Placeholder 2"/>
          <p:cNvSpPr>
            <a:spLocks noGrp="1"/>
          </p:cNvSpPr>
          <p:nvPr>
            <p:ph idx="1"/>
          </p:nvPr>
        </p:nvSpPr>
        <p:spPr/>
        <p:txBody>
          <a:bodyPr>
            <a:normAutofit/>
          </a:bodyPr>
          <a:lstStyle/>
          <a:p>
            <a:pPr>
              <a:buNone/>
            </a:pPr>
            <a:r>
              <a:rPr lang="en-US" b="1" dirty="0"/>
              <a:t>Prototyping  Model</a:t>
            </a:r>
            <a:endParaRPr lang="en-US" b="1" dirty="0"/>
          </a:p>
          <a:p>
            <a:pPr lvl="0" algn="just"/>
            <a:r>
              <a:rPr lang="en-US" dirty="0"/>
              <a:t>When a customer defines a set of general objectives for a software but does not identify </a:t>
            </a:r>
            <a:r>
              <a:rPr lang="en-US" b="1" dirty="0"/>
              <a:t>detailed I/O </a:t>
            </a:r>
            <a:r>
              <a:rPr lang="en-US" dirty="0"/>
              <a:t>or </a:t>
            </a:r>
            <a:r>
              <a:rPr lang="en-US" b="1" dirty="0"/>
              <a:t>processing requirements.</a:t>
            </a:r>
            <a:endParaRPr lang="en-US" b="1" dirty="0"/>
          </a:p>
          <a:p>
            <a:pPr lvl="0" algn="just"/>
            <a:r>
              <a:rPr lang="en-US" dirty="0"/>
              <a:t>A prototype is built to understand the requirements.</a:t>
            </a:r>
            <a:endParaRPr lang="en-US" dirty="0"/>
          </a:p>
          <a:p>
            <a:pPr lvl="0" algn="just"/>
            <a:r>
              <a:rPr lang="en-US" dirty="0"/>
              <a:t>By using this prototype, the client can get an “actual feel” of the system</a:t>
            </a:r>
            <a:endParaRPr lang="en-US" dirty="0"/>
          </a:p>
          <a:p>
            <a:pPr lvl="0" algn="just"/>
            <a:r>
              <a:rPr lang="en-US" dirty="0"/>
              <a:t>The interactions with prototype can enable the client to better understand the requirements of the desired system</a:t>
            </a:r>
            <a:endParaRPr lang="en-US" dirty="0"/>
          </a:p>
          <a:p>
            <a:pPr lvl="0" algn="just"/>
            <a:r>
              <a:rPr lang="en-US" dirty="0"/>
              <a:t>Prototyping is an attractive idea for complicated and large systems.</a:t>
            </a:r>
            <a:endParaRPr lang="en-US" dirty="0"/>
          </a:p>
        </p:txBody>
      </p:sp>
      <p:sp>
        <p:nvSpPr>
          <p:cNvPr id="9" name="Date Placeholder 8"/>
          <p:cNvSpPr>
            <a:spLocks noGrp="1"/>
          </p:cNvSpPr>
          <p:nvPr>
            <p:ph type="dt" sz="half" idx="10"/>
          </p:nvPr>
        </p:nvSpPr>
        <p:spPr/>
        <p:txBody>
          <a:bodyPr/>
          <a:lstStyle/>
          <a:p>
            <a:pPr>
              <a:defRPr/>
            </a:pPr>
            <a:fld id="{0E8D0CBB-EB12-49D4-B064-CA179DAF51EF}"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Evolutionary Models</a:t>
            </a:r>
            <a:endParaRPr lang="en-US" dirty="0"/>
          </a:p>
        </p:txBody>
      </p:sp>
      <p:sp>
        <p:nvSpPr>
          <p:cNvPr id="3" name="Content Placeholder 2"/>
          <p:cNvSpPr>
            <a:spLocks noGrp="1"/>
          </p:cNvSpPr>
          <p:nvPr>
            <p:ph idx="1"/>
          </p:nvPr>
        </p:nvSpPr>
        <p:spPr/>
        <p:txBody>
          <a:bodyPr/>
          <a:lstStyle/>
          <a:p>
            <a:pPr algn="just">
              <a:buNone/>
            </a:pPr>
            <a:r>
              <a:rPr lang="en-US" sz="2200" b="1" dirty="0"/>
              <a:t>Prototyping  Model</a:t>
            </a:r>
            <a:endParaRPr lang="en-US" sz="2200" b="1" dirty="0"/>
          </a:p>
          <a:p>
            <a:pPr algn="just">
              <a:buNone/>
            </a:pPr>
            <a:endParaRPr lang="en-US" sz="2200" b="1" dirty="0"/>
          </a:p>
          <a:p>
            <a:pPr lvl="0" algn="just">
              <a:buNone/>
            </a:pPr>
            <a:r>
              <a:rPr lang="en-US" sz="2200" dirty="0"/>
              <a:t>Consists of 4 iterating phases:</a:t>
            </a:r>
            <a:endParaRPr lang="en-US" sz="2200" dirty="0"/>
          </a:p>
          <a:p>
            <a:pPr lvl="1" algn="just"/>
            <a:r>
              <a:rPr lang="en-US" sz="2200" dirty="0"/>
              <a:t>Requirements gathering.</a:t>
            </a:r>
            <a:endParaRPr lang="en-US" sz="2200" dirty="0"/>
          </a:p>
          <a:p>
            <a:pPr lvl="1" algn="just"/>
            <a:r>
              <a:rPr lang="en-US" sz="2200" dirty="0"/>
              <a:t>Design and build prototype.</a:t>
            </a:r>
            <a:endParaRPr lang="en-US" sz="2200" dirty="0"/>
          </a:p>
          <a:p>
            <a:pPr lvl="1" algn="just"/>
            <a:r>
              <a:rPr lang="en-US" sz="2200" dirty="0"/>
              <a:t>Evaluate prototype with customer.</a:t>
            </a:r>
            <a:endParaRPr lang="en-US" sz="2200" dirty="0"/>
          </a:p>
          <a:p>
            <a:pPr lvl="1" algn="just"/>
            <a:r>
              <a:rPr lang="en-US" sz="2200" dirty="0"/>
              <a:t>Refine requirements.</a:t>
            </a:r>
            <a:endParaRPr lang="en-US" sz="2200" dirty="0"/>
          </a:p>
          <a:p>
            <a:endParaRPr lang="en-US" dirty="0"/>
          </a:p>
        </p:txBody>
      </p:sp>
      <p:sp>
        <p:nvSpPr>
          <p:cNvPr id="9" name="Date Placeholder 8"/>
          <p:cNvSpPr>
            <a:spLocks noGrp="1"/>
          </p:cNvSpPr>
          <p:nvPr>
            <p:ph type="dt" sz="half" idx="10"/>
          </p:nvPr>
        </p:nvSpPr>
        <p:spPr/>
        <p:txBody>
          <a:bodyPr/>
          <a:lstStyle/>
          <a:p>
            <a:pPr>
              <a:defRPr/>
            </a:pPr>
            <a:fld id="{70584822-1DDB-413A-A680-A9E4F23D39AD}"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spc="0" dirty="0"/>
              <a:t>Prototype Model</a:t>
            </a:r>
            <a:endParaRPr lang="en-US" dirty="0"/>
          </a:p>
        </p:txBody>
      </p:sp>
      <p:graphicFrame>
        <p:nvGraphicFramePr>
          <p:cNvPr id="7" name="Content Placeholder 4"/>
          <p:cNvGraphicFramePr>
            <a:graphicFrameLocks noGrp="1"/>
          </p:cNvGraphicFramePr>
          <p:nvPr>
            <p:ph idx="1"/>
          </p:nvPr>
        </p:nvGraphicFramePr>
        <p:xfrm>
          <a:off x="0" y="1447800"/>
          <a:ext cx="7162800" cy="48768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8" name="Rectangle 7"/>
          <p:cNvSpPr/>
          <p:nvPr/>
        </p:nvSpPr>
        <p:spPr>
          <a:xfrm>
            <a:off x="5122985" y="1424781"/>
            <a:ext cx="3810000" cy="1570038"/>
          </a:xfrm>
          <a:prstGeom prst="rect">
            <a:avLst/>
          </a:prstGeom>
          <a:ln>
            <a:solidFill>
              <a:schemeClr val="accent3">
                <a:lumMod val="40000"/>
                <a:lumOff val="60000"/>
              </a:schemeClr>
            </a:solidFill>
            <a:prstDash val="dash"/>
          </a:ln>
        </p:spPr>
        <p:txBody>
          <a:bodyPr>
            <a:spAutoFit/>
          </a:bodyPr>
          <a:lstStyle/>
          <a:p>
            <a:pPr marL="342900" indent="-342900">
              <a:lnSpc>
                <a:spcPct val="150000"/>
              </a:lnSpc>
              <a:defRPr/>
            </a:pPr>
            <a:r>
              <a:rPr lang="en-US" sz="1600" b="1" dirty="0">
                <a:solidFill>
                  <a:schemeClr val="accent1">
                    <a:lumMod val="75000"/>
                  </a:schemeClr>
                </a:solidFill>
                <a:latin typeface="+mj-lt"/>
              </a:rPr>
              <a:t>1.  </a:t>
            </a:r>
            <a:r>
              <a:rPr lang="en-US" sz="1600" dirty="0">
                <a:latin typeface="+mj-lt"/>
              </a:rPr>
              <a:t>Requirements gathering.</a:t>
            </a:r>
            <a:endParaRPr lang="en-US" dirty="0">
              <a:latin typeface="+mj-lt"/>
            </a:endParaRPr>
          </a:p>
          <a:p>
            <a:pPr marL="342900" indent="-342900">
              <a:lnSpc>
                <a:spcPct val="150000"/>
              </a:lnSpc>
              <a:defRPr/>
            </a:pPr>
            <a:r>
              <a:rPr lang="en-US" sz="1600" b="1" dirty="0">
                <a:solidFill>
                  <a:schemeClr val="accent1">
                    <a:lumMod val="75000"/>
                  </a:schemeClr>
                </a:solidFill>
                <a:latin typeface="+mj-lt"/>
              </a:rPr>
              <a:t>2.</a:t>
            </a:r>
            <a:r>
              <a:rPr lang="en-US" sz="1600" dirty="0">
                <a:latin typeface="+mj-lt"/>
              </a:rPr>
              <a:t>  Design and build SW prototype.</a:t>
            </a:r>
            <a:endParaRPr lang="en-US" sz="1600" dirty="0">
              <a:latin typeface="+mj-lt"/>
            </a:endParaRPr>
          </a:p>
          <a:p>
            <a:pPr marL="342900" indent="-342900">
              <a:lnSpc>
                <a:spcPct val="150000"/>
              </a:lnSpc>
              <a:defRPr/>
            </a:pPr>
            <a:r>
              <a:rPr lang="en-US" sz="1600" b="1" dirty="0">
                <a:solidFill>
                  <a:schemeClr val="accent1">
                    <a:lumMod val="75000"/>
                  </a:schemeClr>
                </a:solidFill>
                <a:latin typeface="+mj-lt"/>
              </a:rPr>
              <a:t>3.</a:t>
            </a:r>
            <a:r>
              <a:rPr lang="en-US" sz="1600" dirty="0">
                <a:latin typeface="+mj-lt"/>
              </a:rPr>
              <a:t>  Evaluate prototype with customer.</a:t>
            </a:r>
            <a:endParaRPr lang="en-US" sz="1600" dirty="0">
              <a:latin typeface="+mj-lt"/>
            </a:endParaRPr>
          </a:p>
          <a:p>
            <a:pPr marL="342900" indent="-342900">
              <a:lnSpc>
                <a:spcPct val="150000"/>
              </a:lnSpc>
              <a:defRPr/>
            </a:pPr>
            <a:r>
              <a:rPr lang="en-US" sz="1600" b="1" dirty="0">
                <a:solidFill>
                  <a:schemeClr val="accent1">
                    <a:lumMod val="75000"/>
                  </a:schemeClr>
                </a:solidFill>
                <a:latin typeface="+mj-lt"/>
              </a:rPr>
              <a:t>4.  </a:t>
            </a:r>
            <a:r>
              <a:rPr lang="en-US" sz="1600" dirty="0">
                <a:latin typeface="+mj-lt"/>
              </a:rPr>
              <a:t>Refine requirements.</a:t>
            </a:r>
            <a:endParaRPr lang="en-US" sz="1600" dirty="0">
              <a:latin typeface="+mj-lt"/>
            </a:endParaRPr>
          </a:p>
        </p:txBody>
      </p:sp>
      <p:sp>
        <p:nvSpPr>
          <p:cNvPr id="10" name="Date Placeholder 9"/>
          <p:cNvSpPr>
            <a:spLocks noGrp="1"/>
          </p:cNvSpPr>
          <p:nvPr>
            <p:ph type="dt" sz="half" idx="10"/>
          </p:nvPr>
        </p:nvSpPr>
        <p:spPr/>
        <p:txBody>
          <a:bodyPr/>
          <a:lstStyle/>
          <a:p>
            <a:pPr>
              <a:defRPr/>
            </a:pPr>
            <a:fld id="{20548D43-E24E-40E1-86E0-FDC0FF6DB3C1}" type="datetime1">
              <a:rPr lang="en-US" smtClean="0"/>
            </a:fld>
            <a:endParaRPr lang="en-US"/>
          </a:p>
        </p:txBody>
      </p:sp>
      <p:sp>
        <p:nvSpPr>
          <p:cNvPr id="12" name="Slide Number Placeholder 11"/>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Prototyping</a:t>
            </a:r>
            <a:endParaRPr lang="en-US" dirty="0"/>
          </a:p>
        </p:txBody>
      </p:sp>
      <p:sp>
        <p:nvSpPr>
          <p:cNvPr id="7" name="AutoShape 2"/>
          <p:cNvSpPr>
            <a:spLocks noChangeArrowheads="1"/>
          </p:cNvSpPr>
          <p:nvPr/>
        </p:nvSpPr>
        <p:spPr bwMode="auto">
          <a:xfrm>
            <a:off x="4343400" y="1828800"/>
            <a:ext cx="2057400" cy="685800"/>
          </a:xfrm>
          <a:prstGeom prst="roundRect">
            <a:avLst>
              <a:gd name="adj" fmla="val 16667"/>
            </a:avLst>
          </a:prstGeom>
          <a:solidFill>
            <a:schemeClr val="accent1"/>
          </a:solidFill>
          <a:ln w="9525">
            <a:solidFill>
              <a:schemeClr val="tx1"/>
            </a:solidFill>
            <a:miter lim="800000"/>
          </a:ln>
        </p:spPr>
        <p:txBody>
          <a:bodyPr wrap="none" anchor="ctr"/>
          <a:lstStyle/>
          <a:p>
            <a:pPr algn="ctr"/>
            <a:r>
              <a:rPr lang="en-US">
                <a:latin typeface="Tahoma" panose="020B0604030504040204" pitchFamily="34" charset="0"/>
              </a:rPr>
              <a:t>Requirements</a:t>
            </a:r>
            <a:endParaRPr lang="en-US">
              <a:latin typeface="Tahoma" panose="020B0604030504040204" pitchFamily="34" charset="0"/>
            </a:endParaRPr>
          </a:p>
        </p:txBody>
      </p:sp>
      <p:sp>
        <p:nvSpPr>
          <p:cNvPr id="8" name="AutoShape 3"/>
          <p:cNvSpPr>
            <a:spLocks noChangeArrowheads="1"/>
          </p:cNvSpPr>
          <p:nvPr/>
        </p:nvSpPr>
        <p:spPr bwMode="auto">
          <a:xfrm>
            <a:off x="1143000" y="1905000"/>
            <a:ext cx="2057400" cy="762000"/>
          </a:xfrm>
          <a:prstGeom prst="roundRect">
            <a:avLst>
              <a:gd name="adj" fmla="val 16667"/>
            </a:avLst>
          </a:prstGeom>
          <a:solidFill>
            <a:schemeClr val="accent1"/>
          </a:solidFill>
          <a:ln w="9525">
            <a:solidFill>
              <a:schemeClr val="tx1"/>
            </a:solidFill>
            <a:miter lim="800000"/>
          </a:ln>
        </p:spPr>
        <p:txBody>
          <a:bodyPr wrap="none" anchor="ctr"/>
          <a:lstStyle/>
          <a:p>
            <a:pPr algn="ctr"/>
            <a:r>
              <a:rPr lang="en-US" dirty="0">
                <a:latin typeface="Tahoma" panose="020B0604030504040204" pitchFamily="34" charset="0"/>
              </a:rPr>
              <a:t>Engineer</a:t>
            </a:r>
            <a:endParaRPr lang="en-US" dirty="0">
              <a:latin typeface="Tahoma" panose="020B0604030504040204" pitchFamily="34" charset="0"/>
            </a:endParaRPr>
          </a:p>
          <a:p>
            <a:pPr algn="ctr"/>
            <a:r>
              <a:rPr lang="en-US" dirty="0">
                <a:latin typeface="Tahoma" panose="020B0604030504040204" pitchFamily="34" charset="0"/>
              </a:rPr>
              <a:t>Product</a:t>
            </a:r>
            <a:endParaRPr lang="en-US" dirty="0">
              <a:latin typeface="Tahoma" panose="020B0604030504040204" pitchFamily="34" charset="0"/>
            </a:endParaRPr>
          </a:p>
        </p:txBody>
      </p:sp>
      <p:sp>
        <p:nvSpPr>
          <p:cNvPr id="9" name="AutoShape 4"/>
          <p:cNvSpPr>
            <a:spLocks noChangeArrowheads="1"/>
          </p:cNvSpPr>
          <p:nvPr/>
        </p:nvSpPr>
        <p:spPr bwMode="auto">
          <a:xfrm>
            <a:off x="5867400" y="2743200"/>
            <a:ext cx="2057400" cy="762000"/>
          </a:xfrm>
          <a:prstGeom prst="roundRect">
            <a:avLst>
              <a:gd name="adj" fmla="val 16667"/>
            </a:avLst>
          </a:prstGeom>
          <a:solidFill>
            <a:schemeClr val="accent1"/>
          </a:solidFill>
          <a:ln w="9525">
            <a:solidFill>
              <a:schemeClr val="tx1"/>
            </a:solidFill>
            <a:miter lim="800000"/>
          </a:ln>
        </p:spPr>
        <p:txBody>
          <a:bodyPr wrap="none" anchor="ctr"/>
          <a:lstStyle/>
          <a:p>
            <a:pPr algn="ctr"/>
            <a:r>
              <a:rPr lang="en-US">
                <a:latin typeface="Tahoma" panose="020B0604030504040204" pitchFamily="34" charset="0"/>
              </a:rPr>
              <a:t>Quick</a:t>
            </a:r>
            <a:endParaRPr lang="en-US">
              <a:latin typeface="Tahoma" panose="020B0604030504040204" pitchFamily="34" charset="0"/>
            </a:endParaRPr>
          </a:p>
          <a:p>
            <a:pPr algn="ctr"/>
            <a:r>
              <a:rPr lang="en-US">
                <a:latin typeface="Tahoma" panose="020B0604030504040204" pitchFamily="34" charset="0"/>
              </a:rPr>
              <a:t>Design</a:t>
            </a:r>
            <a:endParaRPr lang="en-US">
              <a:latin typeface="Tahoma" panose="020B0604030504040204" pitchFamily="34" charset="0"/>
            </a:endParaRPr>
          </a:p>
        </p:txBody>
      </p:sp>
      <p:sp>
        <p:nvSpPr>
          <p:cNvPr id="10" name="AutoShape 5"/>
          <p:cNvSpPr>
            <a:spLocks noChangeArrowheads="1"/>
          </p:cNvSpPr>
          <p:nvPr/>
        </p:nvSpPr>
        <p:spPr bwMode="auto">
          <a:xfrm>
            <a:off x="5791200" y="4038600"/>
            <a:ext cx="2133600" cy="762000"/>
          </a:xfrm>
          <a:prstGeom prst="roundRect">
            <a:avLst>
              <a:gd name="adj" fmla="val 16667"/>
            </a:avLst>
          </a:prstGeom>
          <a:solidFill>
            <a:schemeClr val="accent1"/>
          </a:solidFill>
          <a:ln w="9525">
            <a:solidFill>
              <a:schemeClr val="tx1"/>
            </a:solidFill>
            <a:miter lim="800000"/>
          </a:ln>
        </p:spPr>
        <p:txBody>
          <a:bodyPr wrap="none" anchor="ctr"/>
          <a:lstStyle/>
          <a:p>
            <a:pPr algn="ctr"/>
            <a:r>
              <a:rPr lang="en-US">
                <a:latin typeface="Tahoma" panose="020B0604030504040204" pitchFamily="34" charset="0"/>
              </a:rPr>
              <a:t>Build</a:t>
            </a:r>
            <a:endParaRPr lang="en-US">
              <a:latin typeface="Tahoma" panose="020B0604030504040204" pitchFamily="34" charset="0"/>
            </a:endParaRPr>
          </a:p>
          <a:p>
            <a:pPr algn="ctr"/>
            <a:r>
              <a:rPr lang="en-US">
                <a:latin typeface="Tahoma" panose="020B0604030504040204" pitchFamily="34" charset="0"/>
              </a:rPr>
              <a:t>Prototype</a:t>
            </a:r>
            <a:endParaRPr lang="en-US">
              <a:latin typeface="Tahoma" panose="020B0604030504040204" pitchFamily="34" charset="0"/>
            </a:endParaRPr>
          </a:p>
        </p:txBody>
      </p:sp>
      <p:sp>
        <p:nvSpPr>
          <p:cNvPr id="11" name="AutoShape 6"/>
          <p:cNvSpPr>
            <a:spLocks noChangeArrowheads="1"/>
          </p:cNvSpPr>
          <p:nvPr/>
        </p:nvSpPr>
        <p:spPr bwMode="auto">
          <a:xfrm>
            <a:off x="3657600" y="5257800"/>
            <a:ext cx="2057400" cy="762000"/>
          </a:xfrm>
          <a:prstGeom prst="roundRect">
            <a:avLst>
              <a:gd name="adj" fmla="val 16667"/>
            </a:avLst>
          </a:prstGeom>
          <a:solidFill>
            <a:schemeClr val="accent1"/>
          </a:solidFill>
          <a:ln w="9525">
            <a:solidFill>
              <a:schemeClr val="tx1"/>
            </a:solidFill>
            <a:miter lim="800000"/>
          </a:ln>
        </p:spPr>
        <p:txBody>
          <a:bodyPr wrap="none" anchor="ctr"/>
          <a:lstStyle/>
          <a:p>
            <a:pPr algn="ctr"/>
            <a:r>
              <a:rPr lang="en-US">
                <a:latin typeface="Tahoma" panose="020B0604030504040204" pitchFamily="34" charset="0"/>
              </a:rPr>
              <a:t>Evaluate</a:t>
            </a:r>
            <a:endParaRPr lang="en-US">
              <a:latin typeface="Tahoma" panose="020B0604030504040204" pitchFamily="34" charset="0"/>
            </a:endParaRPr>
          </a:p>
          <a:p>
            <a:pPr algn="ctr"/>
            <a:r>
              <a:rPr lang="en-US">
                <a:latin typeface="Tahoma" panose="020B0604030504040204" pitchFamily="34" charset="0"/>
              </a:rPr>
              <a:t>Prototype</a:t>
            </a:r>
            <a:endParaRPr lang="en-US">
              <a:latin typeface="Tahoma" panose="020B0604030504040204" pitchFamily="34" charset="0"/>
            </a:endParaRPr>
          </a:p>
        </p:txBody>
      </p:sp>
      <p:sp>
        <p:nvSpPr>
          <p:cNvPr id="12" name="AutoShape 7"/>
          <p:cNvSpPr>
            <a:spLocks noChangeArrowheads="1"/>
          </p:cNvSpPr>
          <p:nvPr/>
        </p:nvSpPr>
        <p:spPr bwMode="auto">
          <a:xfrm>
            <a:off x="1219200" y="4495800"/>
            <a:ext cx="2057400" cy="762000"/>
          </a:xfrm>
          <a:prstGeom prst="roundRect">
            <a:avLst>
              <a:gd name="adj" fmla="val 16667"/>
            </a:avLst>
          </a:prstGeom>
          <a:solidFill>
            <a:schemeClr val="accent1"/>
          </a:solidFill>
          <a:ln w="9525">
            <a:solidFill>
              <a:schemeClr val="tx1"/>
            </a:solidFill>
            <a:miter lim="800000"/>
          </a:ln>
        </p:spPr>
        <p:txBody>
          <a:bodyPr wrap="none" anchor="ctr"/>
          <a:lstStyle/>
          <a:p>
            <a:pPr algn="ctr"/>
            <a:r>
              <a:rPr lang="en-US">
                <a:latin typeface="Tahoma" panose="020B0604030504040204" pitchFamily="34" charset="0"/>
              </a:rPr>
              <a:t>Refine</a:t>
            </a:r>
            <a:endParaRPr lang="en-US">
              <a:latin typeface="Tahoma" panose="020B0604030504040204" pitchFamily="34" charset="0"/>
            </a:endParaRPr>
          </a:p>
          <a:p>
            <a:pPr algn="ctr"/>
            <a:r>
              <a:rPr lang="en-US">
                <a:latin typeface="Tahoma" panose="020B0604030504040204" pitchFamily="34" charset="0"/>
              </a:rPr>
              <a:t>Prototype</a:t>
            </a:r>
            <a:endParaRPr lang="en-US">
              <a:latin typeface="Tahoma" panose="020B0604030504040204" pitchFamily="34" charset="0"/>
            </a:endParaRPr>
          </a:p>
        </p:txBody>
      </p:sp>
      <p:cxnSp>
        <p:nvCxnSpPr>
          <p:cNvPr id="13" name="AutoShape 8"/>
          <p:cNvCxnSpPr>
            <a:cxnSpLocks noChangeShapeType="1"/>
            <a:stCxn id="7" idx="3"/>
            <a:endCxn id="9" idx="0"/>
          </p:cNvCxnSpPr>
          <p:nvPr/>
        </p:nvCxnSpPr>
        <p:spPr bwMode="auto">
          <a:xfrm>
            <a:off x="6400800" y="2171700"/>
            <a:ext cx="495300" cy="571500"/>
          </a:xfrm>
          <a:prstGeom prst="bentConnector2">
            <a:avLst/>
          </a:prstGeom>
          <a:noFill/>
          <a:ln w="9525">
            <a:solidFill>
              <a:schemeClr val="tx1"/>
            </a:solidFill>
            <a:miter lim="800000"/>
            <a:tailEnd type="stealth" w="lg" len="lg"/>
          </a:ln>
        </p:spPr>
      </p:cxnSp>
      <p:cxnSp>
        <p:nvCxnSpPr>
          <p:cNvPr id="14" name="AutoShape 9"/>
          <p:cNvCxnSpPr>
            <a:cxnSpLocks noChangeShapeType="1"/>
            <a:stCxn id="9" idx="2"/>
            <a:endCxn id="10" idx="0"/>
          </p:cNvCxnSpPr>
          <p:nvPr/>
        </p:nvCxnSpPr>
        <p:spPr bwMode="auto">
          <a:xfrm flipH="1">
            <a:off x="6858000" y="3505200"/>
            <a:ext cx="38100" cy="533400"/>
          </a:xfrm>
          <a:prstGeom prst="straightConnector1">
            <a:avLst/>
          </a:prstGeom>
          <a:noFill/>
          <a:ln w="9525">
            <a:solidFill>
              <a:schemeClr val="tx1"/>
            </a:solidFill>
            <a:miter lim="800000"/>
            <a:tailEnd type="stealth" w="lg" len="lg"/>
          </a:ln>
        </p:spPr>
      </p:cxnSp>
      <p:cxnSp>
        <p:nvCxnSpPr>
          <p:cNvPr id="15" name="AutoShape 10"/>
          <p:cNvCxnSpPr>
            <a:cxnSpLocks noChangeShapeType="1"/>
            <a:stCxn id="10" idx="2"/>
            <a:endCxn id="11" idx="3"/>
          </p:cNvCxnSpPr>
          <p:nvPr/>
        </p:nvCxnSpPr>
        <p:spPr bwMode="auto">
          <a:xfrm rot="5400000">
            <a:off x="5867400" y="4648200"/>
            <a:ext cx="838200" cy="1143000"/>
          </a:xfrm>
          <a:prstGeom prst="bentConnector2">
            <a:avLst/>
          </a:prstGeom>
          <a:noFill/>
          <a:ln w="9525">
            <a:solidFill>
              <a:schemeClr val="tx1"/>
            </a:solidFill>
            <a:miter lim="800000"/>
            <a:tailEnd type="stealth" w="lg" len="lg"/>
          </a:ln>
        </p:spPr>
      </p:cxnSp>
      <p:cxnSp>
        <p:nvCxnSpPr>
          <p:cNvPr id="16" name="AutoShape 11"/>
          <p:cNvCxnSpPr>
            <a:cxnSpLocks noChangeShapeType="1"/>
            <a:stCxn id="11" idx="1"/>
            <a:endCxn id="12" idx="2"/>
          </p:cNvCxnSpPr>
          <p:nvPr/>
        </p:nvCxnSpPr>
        <p:spPr bwMode="auto">
          <a:xfrm rot="10800000">
            <a:off x="2247900" y="5257800"/>
            <a:ext cx="1409700" cy="381000"/>
          </a:xfrm>
          <a:prstGeom prst="bentConnector2">
            <a:avLst/>
          </a:prstGeom>
          <a:noFill/>
          <a:ln w="9525">
            <a:solidFill>
              <a:schemeClr val="tx1"/>
            </a:solidFill>
            <a:miter lim="800000"/>
            <a:tailEnd type="stealth" w="lg" len="lg"/>
          </a:ln>
        </p:spPr>
      </p:cxnSp>
      <p:sp>
        <p:nvSpPr>
          <p:cNvPr id="17" name="AutoShape 12"/>
          <p:cNvSpPr>
            <a:spLocks noChangeArrowheads="1"/>
          </p:cNvSpPr>
          <p:nvPr/>
        </p:nvSpPr>
        <p:spPr bwMode="auto">
          <a:xfrm>
            <a:off x="1143000" y="3276600"/>
            <a:ext cx="2133600" cy="762000"/>
          </a:xfrm>
          <a:prstGeom prst="flowChartDecision">
            <a:avLst/>
          </a:prstGeom>
          <a:solidFill>
            <a:schemeClr val="tx2">
              <a:lumMod val="75000"/>
            </a:schemeClr>
          </a:solidFill>
          <a:ln w="9525">
            <a:solidFill>
              <a:schemeClr val="bg2"/>
            </a:solidFill>
            <a:miter lim="800000"/>
            <a:tailEnd type="none" w="lg" len="lg"/>
          </a:ln>
        </p:spPr>
        <p:txBody>
          <a:bodyPr wrap="none" anchor="ctr"/>
          <a:lstStyle/>
          <a:p>
            <a:pPr algn="ctr"/>
            <a:r>
              <a:rPr lang="en-US" sz="2000" dirty="0">
                <a:latin typeface="Tahoma" panose="020B0604030504040204" pitchFamily="34" charset="0"/>
              </a:rPr>
              <a:t>Changes</a:t>
            </a:r>
            <a:r>
              <a:rPr lang="en-US" sz="2800" dirty="0">
                <a:latin typeface="Tahoma" panose="020B0604030504040204" pitchFamily="34" charset="0"/>
              </a:rPr>
              <a:t>?</a:t>
            </a:r>
            <a:endParaRPr lang="en-US" sz="2800" dirty="0">
              <a:latin typeface="Tahoma" panose="020B0604030504040204" pitchFamily="34" charset="0"/>
            </a:endParaRPr>
          </a:p>
        </p:txBody>
      </p:sp>
      <p:cxnSp>
        <p:nvCxnSpPr>
          <p:cNvPr id="18" name="AutoShape 13"/>
          <p:cNvCxnSpPr>
            <a:cxnSpLocks noChangeShapeType="1"/>
            <a:stCxn id="12" idx="0"/>
            <a:endCxn id="17" idx="2"/>
          </p:cNvCxnSpPr>
          <p:nvPr/>
        </p:nvCxnSpPr>
        <p:spPr bwMode="auto">
          <a:xfrm flipH="1" flipV="1">
            <a:off x="2209800" y="4038600"/>
            <a:ext cx="38100" cy="457200"/>
          </a:xfrm>
          <a:prstGeom prst="straightConnector1">
            <a:avLst/>
          </a:prstGeom>
          <a:noFill/>
          <a:ln w="9525">
            <a:solidFill>
              <a:schemeClr val="tx1"/>
            </a:solidFill>
            <a:miter lim="800000"/>
            <a:tailEnd type="stealth" w="lg" len="lg"/>
          </a:ln>
        </p:spPr>
      </p:cxnSp>
      <p:cxnSp>
        <p:nvCxnSpPr>
          <p:cNvPr id="19" name="AutoShape 14"/>
          <p:cNvCxnSpPr>
            <a:cxnSpLocks noChangeShapeType="1"/>
            <a:stCxn id="17" idx="0"/>
            <a:endCxn id="8" idx="2"/>
          </p:cNvCxnSpPr>
          <p:nvPr/>
        </p:nvCxnSpPr>
        <p:spPr bwMode="auto">
          <a:xfrm flipH="1" flipV="1">
            <a:off x="2171700" y="2667000"/>
            <a:ext cx="38100" cy="609600"/>
          </a:xfrm>
          <a:prstGeom prst="straightConnector1">
            <a:avLst/>
          </a:prstGeom>
          <a:noFill/>
          <a:ln w="9525">
            <a:solidFill>
              <a:schemeClr val="tx1"/>
            </a:solidFill>
            <a:miter lim="800000"/>
            <a:tailEnd type="stealth" w="lg" len="lg"/>
          </a:ln>
        </p:spPr>
      </p:cxnSp>
      <p:cxnSp>
        <p:nvCxnSpPr>
          <p:cNvPr id="20" name="AutoShape 15"/>
          <p:cNvCxnSpPr>
            <a:cxnSpLocks noChangeShapeType="1"/>
            <a:stCxn id="17" idx="3"/>
            <a:endCxn id="9" idx="1"/>
          </p:cNvCxnSpPr>
          <p:nvPr/>
        </p:nvCxnSpPr>
        <p:spPr bwMode="auto">
          <a:xfrm flipV="1">
            <a:off x="3276600" y="3124200"/>
            <a:ext cx="2590800" cy="533400"/>
          </a:xfrm>
          <a:prstGeom prst="straightConnector1">
            <a:avLst/>
          </a:prstGeom>
          <a:noFill/>
          <a:ln w="9525">
            <a:solidFill>
              <a:schemeClr val="tx1"/>
            </a:solidFill>
            <a:miter lim="800000"/>
            <a:tailEnd type="stealth" w="lg" len="lg"/>
          </a:ln>
        </p:spPr>
      </p:cxnSp>
      <p:sp>
        <p:nvSpPr>
          <p:cNvPr id="21" name="Text Box 16"/>
          <p:cNvSpPr txBox="1">
            <a:spLocks noChangeArrowheads="1"/>
          </p:cNvSpPr>
          <p:nvPr/>
        </p:nvSpPr>
        <p:spPr bwMode="auto">
          <a:xfrm>
            <a:off x="3810000" y="3048000"/>
            <a:ext cx="657225" cy="457200"/>
          </a:xfrm>
          <a:prstGeom prst="rect">
            <a:avLst/>
          </a:prstGeom>
          <a:noFill/>
          <a:ln w="9525">
            <a:noFill/>
            <a:miter lim="800000"/>
            <a:tailEnd type="none" w="lg" len="lg"/>
          </a:ln>
        </p:spPr>
        <p:txBody>
          <a:bodyPr wrap="none">
            <a:spAutoFit/>
          </a:bodyPr>
          <a:lstStyle/>
          <a:p>
            <a:r>
              <a:rPr lang="en-US">
                <a:latin typeface="Tahoma" panose="020B0604030504040204" pitchFamily="34" charset="0"/>
              </a:rPr>
              <a:t>Yes</a:t>
            </a:r>
            <a:endParaRPr lang="en-US">
              <a:latin typeface="Tahoma" panose="020B0604030504040204" pitchFamily="34" charset="0"/>
            </a:endParaRPr>
          </a:p>
        </p:txBody>
      </p:sp>
      <p:sp>
        <p:nvSpPr>
          <p:cNvPr id="22" name="Text Box 17"/>
          <p:cNvSpPr txBox="1">
            <a:spLocks noChangeArrowheads="1"/>
          </p:cNvSpPr>
          <p:nvPr/>
        </p:nvSpPr>
        <p:spPr bwMode="auto">
          <a:xfrm>
            <a:off x="2286000" y="2743200"/>
            <a:ext cx="552450" cy="457200"/>
          </a:xfrm>
          <a:prstGeom prst="rect">
            <a:avLst/>
          </a:prstGeom>
          <a:noFill/>
          <a:ln w="9525">
            <a:noFill/>
            <a:miter lim="800000"/>
            <a:tailEnd type="none" w="lg" len="lg"/>
          </a:ln>
        </p:spPr>
        <p:txBody>
          <a:bodyPr wrap="none">
            <a:spAutoFit/>
          </a:bodyPr>
          <a:lstStyle/>
          <a:p>
            <a:r>
              <a:rPr lang="en-US">
                <a:latin typeface="Tahoma" panose="020B0604030504040204" pitchFamily="34" charset="0"/>
              </a:rPr>
              <a:t>No</a:t>
            </a:r>
            <a:endParaRPr lang="en-US">
              <a:latin typeface="Tahoma" panose="020B0604030504040204" pitchFamily="34" charset="0"/>
            </a:endParaRPr>
          </a:p>
        </p:txBody>
      </p:sp>
      <p:sp>
        <p:nvSpPr>
          <p:cNvPr id="23" name="Text Box 18"/>
          <p:cNvSpPr txBox="1">
            <a:spLocks noChangeArrowheads="1"/>
          </p:cNvSpPr>
          <p:nvPr/>
        </p:nvSpPr>
        <p:spPr bwMode="auto">
          <a:xfrm>
            <a:off x="6019800" y="5715000"/>
            <a:ext cx="2163763" cy="396875"/>
          </a:xfrm>
          <a:prstGeom prst="rect">
            <a:avLst/>
          </a:prstGeom>
          <a:noFill/>
          <a:ln w="9525">
            <a:noFill/>
            <a:miter lim="800000"/>
            <a:tailEnd type="none" w="lg" len="lg"/>
          </a:ln>
        </p:spPr>
        <p:txBody>
          <a:bodyPr wrap="none">
            <a:spAutoFit/>
          </a:bodyPr>
          <a:lstStyle/>
          <a:p>
            <a:r>
              <a:rPr lang="en-US" sz="2000">
                <a:latin typeface="Tahoma" panose="020B0604030504040204" pitchFamily="34" charset="0"/>
              </a:rPr>
              <a:t>(Pressman, 1996)</a:t>
            </a:r>
            <a:endParaRPr lang="en-US" sz="2000">
              <a:latin typeface="Tahoma" panose="020B0604030504040204" pitchFamily="34" charset="0"/>
            </a:endParaRPr>
          </a:p>
        </p:txBody>
      </p:sp>
      <p:sp>
        <p:nvSpPr>
          <p:cNvPr id="26" name="Date Placeholder 25"/>
          <p:cNvSpPr>
            <a:spLocks noGrp="1"/>
          </p:cNvSpPr>
          <p:nvPr>
            <p:ph type="dt" sz="half" idx="10"/>
          </p:nvPr>
        </p:nvSpPr>
        <p:spPr/>
        <p:txBody>
          <a:bodyPr/>
          <a:lstStyle/>
          <a:p>
            <a:pPr>
              <a:defRPr/>
            </a:pPr>
            <a:fld id="{2D277296-26CE-4B85-8388-14524DA26B46}" type="datetime1">
              <a:rPr lang="en-US" smtClean="0"/>
            </a:fld>
            <a:endParaRPr lang="en-US"/>
          </a:p>
        </p:txBody>
      </p:sp>
      <p:sp>
        <p:nvSpPr>
          <p:cNvPr id="28" name="Slide Number Placeholder 27"/>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Prototype Model</a:t>
            </a:r>
            <a:endParaRPr lang="en-US" dirty="0"/>
          </a:p>
        </p:txBody>
      </p:sp>
      <p:sp>
        <p:nvSpPr>
          <p:cNvPr id="3" name="Content Placeholder 2"/>
          <p:cNvSpPr>
            <a:spLocks noGrp="1"/>
          </p:cNvSpPr>
          <p:nvPr>
            <p:ph idx="1"/>
          </p:nvPr>
        </p:nvSpPr>
        <p:spPr/>
        <p:txBody>
          <a:bodyPr>
            <a:normAutofit/>
          </a:bodyPr>
          <a:lstStyle/>
          <a:p>
            <a:pPr algn="just">
              <a:buNone/>
            </a:pPr>
            <a:r>
              <a:rPr lang="en-US" b="1" dirty="0"/>
              <a:t>Advantages:</a:t>
            </a:r>
            <a:endParaRPr lang="en-US" b="1" dirty="0"/>
          </a:p>
          <a:p>
            <a:pPr algn="just"/>
            <a:r>
              <a:rPr lang="en-US" dirty="0"/>
              <a:t>Users are actively involved in the development</a:t>
            </a:r>
            <a:endParaRPr lang="en-US" dirty="0"/>
          </a:p>
          <a:p>
            <a:pPr algn="just"/>
            <a:r>
              <a:rPr lang="en-US" dirty="0"/>
              <a:t>Users get a better understanding of the system being developed.</a:t>
            </a:r>
            <a:endParaRPr lang="en-US" dirty="0"/>
          </a:p>
          <a:p>
            <a:pPr algn="just"/>
            <a:r>
              <a:rPr lang="en-US" dirty="0"/>
              <a:t>Errors can be detected much earlier.</a:t>
            </a:r>
            <a:endParaRPr lang="en-US" dirty="0"/>
          </a:p>
          <a:p>
            <a:pPr algn="just"/>
            <a:r>
              <a:rPr lang="en-US" dirty="0"/>
              <a:t>Quicker user feedback is available leading to better solutions.</a:t>
            </a:r>
            <a:endParaRPr lang="en-US" dirty="0"/>
          </a:p>
          <a:p>
            <a:pPr algn="just">
              <a:buNone/>
            </a:pPr>
            <a:r>
              <a:rPr lang="en-US" b="1" dirty="0"/>
              <a:t>Disadvantages:</a:t>
            </a:r>
            <a:endParaRPr lang="en-US" b="1" dirty="0"/>
          </a:p>
          <a:p>
            <a:pPr algn="just"/>
            <a:r>
              <a:rPr lang="en-US" dirty="0"/>
              <a:t>Practically, this methodology may increase the complexity of the system as scope of the system may expand beyond original plans.</a:t>
            </a:r>
            <a:endParaRPr lang="en-US" dirty="0"/>
          </a:p>
          <a:p>
            <a:endParaRPr lang="en-US" dirty="0"/>
          </a:p>
          <a:p>
            <a:endParaRPr lang="en-US" dirty="0"/>
          </a:p>
        </p:txBody>
      </p:sp>
      <p:sp>
        <p:nvSpPr>
          <p:cNvPr id="9" name="Date Placeholder 8"/>
          <p:cNvSpPr>
            <a:spLocks noGrp="1"/>
          </p:cNvSpPr>
          <p:nvPr>
            <p:ph type="dt" sz="half" idx="10"/>
          </p:nvPr>
        </p:nvSpPr>
        <p:spPr/>
        <p:txBody>
          <a:bodyPr/>
          <a:lstStyle/>
          <a:p>
            <a:pPr>
              <a:defRPr/>
            </a:pPr>
            <a:fld id="{64B3E653-4E9F-4193-B94A-AC80AC9A07C6}"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Prototype Model</a:t>
            </a:r>
            <a:endParaRPr lang="en-US" dirty="0"/>
          </a:p>
        </p:txBody>
      </p:sp>
      <p:sp>
        <p:nvSpPr>
          <p:cNvPr id="3" name="Content Placeholder 2"/>
          <p:cNvSpPr>
            <a:spLocks noGrp="1"/>
          </p:cNvSpPr>
          <p:nvPr>
            <p:ph idx="1"/>
          </p:nvPr>
        </p:nvSpPr>
        <p:spPr/>
        <p:txBody>
          <a:bodyPr/>
          <a:lstStyle/>
          <a:p>
            <a:pPr algn="just">
              <a:buNone/>
            </a:pPr>
            <a:r>
              <a:rPr lang="en-US" b="1" dirty="0"/>
              <a:t>Applicability:</a:t>
            </a:r>
            <a:endParaRPr lang="en-US" b="1" dirty="0"/>
          </a:p>
          <a:p>
            <a:pPr algn="just">
              <a:buNone/>
            </a:pPr>
            <a:endParaRPr lang="en-US" dirty="0"/>
          </a:p>
          <a:p>
            <a:pPr algn="just"/>
            <a:r>
              <a:rPr lang="en-US" dirty="0"/>
              <a:t>Prototype model should be used when the desired system needs to have a lot of interaction with the end users.</a:t>
            </a:r>
            <a:endParaRPr lang="en-US" dirty="0"/>
          </a:p>
          <a:p>
            <a:pPr algn="just">
              <a:buNone/>
            </a:pPr>
            <a:endParaRPr lang="en-US" dirty="0"/>
          </a:p>
          <a:p>
            <a:pPr algn="just"/>
            <a:r>
              <a:rPr lang="en-US" dirty="0"/>
              <a:t>Typically, online systems, web interfaces have a very high amount of interaction with end users, are best suited for Prototype model.</a:t>
            </a:r>
            <a:endParaRPr lang="en-US" dirty="0"/>
          </a:p>
        </p:txBody>
      </p:sp>
      <p:sp>
        <p:nvSpPr>
          <p:cNvPr id="9" name="Date Placeholder 8"/>
          <p:cNvSpPr>
            <a:spLocks noGrp="1"/>
          </p:cNvSpPr>
          <p:nvPr>
            <p:ph type="dt" sz="half" idx="10"/>
          </p:nvPr>
        </p:nvSpPr>
        <p:spPr/>
        <p:txBody>
          <a:bodyPr/>
          <a:lstStyle/>
          <a:p>
            <a:pPr>
              <a:defRPr/>
            </a:pPr>
            <a:fld id="{4D455264-5DE8-4885-901F-67980F7663B7}"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Component-based Software Engineering</a:t>
            </a:r>
            <a:endParaRPr lang="en-US" dirty="0"/>
          </a:p>
        </p:txBody>
      </p:sp>
      <p:sp>
        <p:nvSpPr>
          <p:cNvPr id="3" name="Content Placeholder 2"/>
          <p:cNvSpPr>
            <a:spLocks noGrp="1"/>
          </p:cNvSpPr>
          <p:nvPr>
            <p:ph idx="1"/>
          </p:nvPr>
        </p:nvSpPr>
        <p:spPr/>
        <p:txBody>
          <a:bodyPr>
            <a:noAutofit/>
          </a:bodyPr>
          <a:lstStyle/>
          <a:p>
            <a:pPr algn="just">
              <a:lnSpc>
                <a:spcPct val="90000"/>
              </a:lnSpc>
              <a:buSzPct val="90000"/>
            </a:pPr>
            <a:r>
              <a:rPr lang="en-GB" dirty="0"/>
              <a:t>Based on systematic reuse where systems are integrated from existing components.</a:t>
            </a:r>
            <a:endParaRPr lang="en-GB" dirty="0"/>
          </a:p>
          <a:p>
            <a:pPr algn="just">
              <a:lnSpc>
                <a:spcPct val="90000"/>
              </a:lnSpc>
              <a:buSzPct val="90000"/>
            </a:pPr>
            <a:r>
              <a:rPr lang="en-GB" dirty="0"/>
              <a:t>People working on the project </a:t>
            </a:r>
            <a:r>
              <a:rPr lang="en-GB" dirty="0">
                <a:sym typeface="Wingdings" panose="05000000000000000000" pitchFamily="2" charset="2"/>
              </a:rPr>
              <a:t> Know of design or code (similar to that required) Modify them as needed  incorporate them into their system</a:t>
            </a:r>
            <a:endParaRPr lang="en-GB" dirty="0">
              <a:sym typeface="Wingdings" panose="05000000000000000000" pitchFamily="2" charset="2"/>
            </a:endParaRPr>
          </a:p>
          <a:p>
            <a:pPr algn="just">
              <a:lnSpc>
                <a:spcPct val="90000"/>
              </a:lnSpc>
              <a:buSzPct val="90000"/>
            </a:pPr>
            <a:r>
              <a:rPr lang="en-GB" dirty="0"/>
              <a:t>Process stages</a:t>
            </a:r>
            <a:endParaRPr lang="en-GB" dirty="0"/>
          </a:p>
          <a:p>
            <a:pPr marL="760730" indent="-455930" algn="just">
              <a:lnSpc>
                <a:spcPct val="90000"/>
              </a:lnSpc>
            </a:pPr>
            <a:r>
              <a:rPr lang="en-GB" dirty="0"/>
              <a:t>Component analysis</a:t>
            </a:r>
            <a:endParaRPr lang="en-GB" dirty="0"/>
          </a:p>
          <a:p>
            <a:pPr marL="760730" indent="-455930" algn="just">
              <a:lnSpc>
                <a:spcPct val="90000"/>
              </a:lnSpc>
            </a:pPr>
            <a:r>
              <a:rPr lang="en-GB" dirty="0"/>
              <a:t>Requirements modification</a:t>
            </a:r>
            <a:endParaRPr lang="en-GB" dirty="0"/>
          </a:p>
          <a:p>
            <a:pPr marL="760730" indent="-455930" algn="just">
              <a:lnSpc>
                <a:spcPct val="90000"/>
              </a:lnSpc>
            </a:pPr>
            <a:r>
              <a:rPr lang="en-GB" dirty="0"/>
              <a:t>System design with reuse</a:t>
            </a:r>
            <a:endParaRPr lang="en-GB" dirty="0"/>
          </a:p>
          <a:p>
            <a:pPr marL="760730" indent="-455930" algn="just">
              <a:lnSpc>
                <a:spcPct val="90000"/>
              </a:lnSpc>
            </a:pPr>
            <a:r>
              <a:rPr lang="en-GB" dirty="0"/>
              <a:t>Development and integration</a:t>
            </a:r>
            <a:endParaRPr lang="en-GB" dirty="0"/>
          </a:p>
          <a:p>
            <a:pPr marL="465455" indent="-465455" algn="just">
              <a:lnSpc>
                <a:spcPct val="90000"/>
              </a:lnSpc>
            </a:pPr>
            <a:endParaRPr lang="en-GB" dirty="0"/>
          </a:p>
          <a:p>
            <a:pPr marL="465455" indent="-465455" algn="just">
              <a:lnSpc>
                <a:spcPct val="90000"/>
              </a:lnSpc>
            </a:pPr>
            <a:r>
              <a:rPr lang="en-GB" dirty="0"/>
              <a:t>This approach is becoming increasingly used</a:t>
            </a:r>
            <a:endParaRPr lang="en-GB" dirty="0"/>
          </a:p>
        </p:txBody>
      </p:sp>
      <p:sp>
        <p:nvSpPr>
          <p:cNvPr id="9" name="Date Placeholder 8"/>
          <p:cNvSpPr>
            <a:spLocks noGrp="1"/>
          </p:cNvSpPr>
          <p:nvPr>
            <p:ph type="dt" sz="half" idx="10"/>
          </p:nvPr>
        </p:nvSpPr>
        <p:spPr/>
        <p:txBody>
          <a:bodyPr/>
          <a:lstStyle/>
          <a:p>
            <a:pPr>
              <a:defRPr/>
            </a:pPr>
            <a:fld id="{1C673EB0-9829-4730-BC15-95293B0E185A}"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The CBD/CBSE is the Solution…</a:t>
            </a:r>
            <a:endParaRPr lang="en-US" dirty="0"/>
          </a:p>
        </p:txBody>
      </p:sp>
      <p:sp>
        <p:nvSpPr>
          <p:cNvPr id="3" name="Content Placeholder 2"/>
          <p:cNvSpPr>
            <a:spLocks noGrp="1"/>
          </p:cNvSpPr>
          <p:nvPr>
            <p:ph idx="1"/>
          </p:nvPr>
        </p:nvSpPr>
        <p:spPr>
          <a:xfrm>
            <a:off x="533400" y="1845734"/>
            <a:ext cx="7543801" cy="1045104"/>
          </a:xfrm>
        </p:spPr>
        <p:txBody>
          <a:bodyPr>
            <a:normAutofit/>
          </a:bodyPr>
          <a:lstStyle/>
          <a:p>
            <a:r>
              <a:rPr lang="en-US" sz="2400" dirty="0"/>
              <a:t>Systems should be assembled from existing components</a:t>
            </a:r>
            <a:endParaRPr lang="en-US" sz="2400" dirty="0"/>
          </a:p>
          <a:p>
            <a:pPr>
              <a:buNone/>
            </a:pPr>
            <a:endParaRPr lang="en-US" sz="2400" dirty="0"/>
          </a:p>
        </p:txBody>
      </p:sp>
      <p:sp>
        <p:nvSpPr>
          <p:cNvPr id="4" name="Slide Number Placeholder 3"/>
          <p:cNvSpPr>
            <a:spLocks noGrp="1"/>
          </p:cNvSpPr>
          <p:nvPr>
            <p:ph type="sldNum" sz="quarter" idx="12"/>
          </p:nvPr>
        </p:nvSpPr>
        <p:spPr/>
        <p:txBody>
          <a:bodyPr/>
          <a:lstStyle/>
          <a:p>
            <a:fld id="{0E131545-FED9-4E1E-B5B5-81027997E958}" type="slidenum">
              <a:rPr lang="en-US" smtClean="0"/>
            </a:fld>
            <a:endParaRPr lang="en-US"/>
          </a:p>
        </p:txBody>
      </p:sp>
      <p:pic>
        <p:nvPicPr>
          <p:cNvPr id="1026" name="Picture 2"/>
          <p:cNvPicPr>
            <a:picLocks noChangeAspect="1" noChangeArrowheads="1"/>
          </p:cNvPicPr>
          <p:nvPr/>
        </p:nvPicPr>
        <p:blipFill>
          <a:blip r:embed="rId1" cstate="print"/>
          <a:srcRect/>
          <a:stretch>
            <a:fillRect/>
          </a:stretch>
        </p:blipFill>
        <p:spPr bwMode="auto">
          <a:xfrm>
            <a:off x="517831" y="2890838"/>
            <a:ext cx="7787969" cy="3052762"/>
          </a:xfrm>
          <a:prstGeom prst="rect">
            <a:avLst/>
          </a:prstGeom>
          <a:noFill/>
          <a:ln w="9525">
            <a:noFill/>
            <a:miter lim="800000"/>
            <a:headEnd/>
            <a:tailEnd/>
          </a:ln>
          <a:effectLst/>
        </p:spPr>
      </p:pic>
      <p:sp>
        <p:nvSpPr>
          <p:cNvPr id="5" name="Date Placeholder 4"/>
          <p:cNvSpPr>
            <a:spLocks noGrp="1"/>
          </p:cNvSpPr>
          <p:nvPr>
            <p:ph type="dt" sz="half" idx="10"/>
          </p:nvPr>
        </p:nvSpPr>
        <p:spPr/>
        <p:txBody>
          <a:bodyPr/>
          <a:lstStyle/>
          <a:p>
            <a:fld id="{15EB50F4-B47F-47B5-B786-C4818D167C9B}" type="datetime1">
              <a:rPr lang="en-US" smtClean="0"/>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Components!!! </a:t>
            </a:r>
            <a:endParaRPr lang="en-US" dirty="0"/>
          </a:p>
        </p:txBody>
      </p:sp>
      <p:sp>
        <p:nvSpPr>
          <p:cNvPr id="3" name="Content Placeholder 2"/>
          <p:cNvSpPr>
            <a:spLocks noGrp="1"/>
          </p:cNvSpPr>
          <p:nvPr>
            <p:ph idx="1"/>
          </p:nvPr>
        </p:nvSpPr>
        <p:spPr/>
        <p:txBody>
          <a:bodyPr/>
          <a:lstStyle/>
          <a:p>
            <a:pPr>
              <a:lnSpc>
                <a:spcPct val="150000"/>
              </a:lnSpc>
            </a:pPr>
            <a:r>
              <a:rPr lang="en-US" sz="2400" dirty="0"/>
              <a:t>Following other engineering disciplines (civil and electrical), software engineering is looking to develop </a:t>
            </a:r>
            <a:endParaRPr lang="en-US" sz="2400" dirty="0"/>
          </a:p>
          <a:p>
            <a:pPr lvl="1">
              <a:lnSpc>
                <a:spcPct val="150000"/>
              </a:lnSpc>
            </a:pPr>
            <a:r>
              <a:rPr lang="en-US" sz="2000" dirty="0"/>
              <a:t>A catalogue of software building blocks</a:t>
            </a:r>
            <a:endParaRPr lang="en-US" sz="2000" dirty="0"/>
          </a:p>
          <a:p>
            <a:pPr lvl="1">
              <a:lnSpc>
                <a:spcPct val="150000"/>
              </a:lnSpc>
            </a:pPr>
            <a:r>
              <a:rPr lang="en-US" sz="2000" dirty="0"/>
              <a:t>Connection Standards</a:t>
            </a:r>
            <a:endParaRPr lang="en-US" sz="2000" dirty="0"/>
          </a:p>
          <a:p>
            <a:pPr>
              <a:buNone/>
            </a:pPr>
            <a:endParaRPr lang="en-US" dirty="0"/>
          </a:p>
          <a:p>
            <a:pPr>
              <a:buNone/>
            </a:pPr>
            <a:r>
              <a:rPr lang="en-US" dirty="0"/>
              <a:t>			</a:t>
            </a:r>
            <a:endParaRPr lang="en-US" dirty="0"/>
          </a:p>
        </p:txBody>
      </p:sp>
      <p:sp>
        <p:nvSpPr>
          <p:cNvPr id="4" name="Slide Number Placeholder 3"/>
          <p:cNvSpPr>
            <a:spLocks noGrp="1"/>
          </p:cNvSpPr>
          <p:nvPr>
            <p:ph type="sldNum" sz="quarter" idx="12"/>
          </p:nvPr>
        </p:nvSpPr>
        <p:spPr/>
        <p:txBody>
          <a:bodyPr/>
          <a:lstStyle/>
          <a:p>
            <a:fld id="{0E131545-FED9-4E1E-B5B5-81027997E958}" type="slidenum">
              <a:rPr lang="en-US" smtClean="0"/>
            </a:fld>
            <a:endParaRPr lang="en-US"/>
          </a:p>
        </p:txBody>
      </p:sp>
      <p:pic>
        <p:nvPicPr>
          <p:cNvPr id="2050" name="Picture 2"/>
          <p:cNvPicPr>
            <a:picLocks noChangeAspect="1" noChangeArrowheads="1"/>
          </p:cNvPicPr>
          <p:nvPr/>
        </p:nvPicPr>
        <p:blipFill>
          <a:blip r:embed="rId1" cstate="print"/>
          <a:srcRect/>
          <a:stretch>
            <a:fillRect/>
          </a:stretch>
        </p:blipFill>
        <p:spPr bwMode="auto">
          <a:xfrm>
            <a:off x="6400800" y="2667000"/>
            <a:ext cx="2647950" cy="3597607"/>
          </a:xfrm>
          <a:prstGeom prst="rect">
            <a:avLst/>
          </a:prstGeom>
          <a:noFill/>
          <a:ln w="9525">
            <a:noFill/>
            <a:miter lim="800000"/>
            <a:headEnd/>
            <a:tailEnd/>
          </a:ln>
          <a:effectLst/>
        </p:spPr>
      </p:pic>
      <p:sp>
        <p:nvSpPr>
          <p:cNvPr id="5" name="Date Placeholder 4"/>
          <p:cNvSpPr>
            <a:spLocks noGrp="1"/>
          </p:cNvSpPr>
          <p:nvPr>
            <p:ph type="dt" sz="half" idx="10"/>
          </p:nvPr>
        </p:nvSpPr>
        <p:spPr/>
        <p:txBody>
          <a:bodyPr/>
          <a:lstStyle/>
          <a:p>
            <a:fld id="{05E3190F-FE54-4B13-B99E-73F5F4F277D3}" type="datetime1">
              <a:rPr lang="en-US" smtClean="0"/>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Component-based Software Engineering</a:t>
            </a:r>
            <a:endParaRPr lang="en-US" dirty="0"/>
          </a:p>
        </p:txBody>
      </p:sp>
      <p:pic>
        <p:nvPicPr>
          <p:cNvPr id="7" name="Picture 4"/>
          <p:cNvPicPr>
            <a:picLocks noGrp="1" noChangeAspect="1" noChangeArrowheads="1"/>
          </p:cNvPicPr>
          <p:nvPr>
            <p:ph idx="1"/>
          </p:nvPr>
        </p:nvPicPr>
        <p:blipFill>
          <a:blip r:embed="rId1" cstate="print"/>
          <a:srcRect/>
          <a:stretch>
            <a:fillRect/>
          </a:stretch>
        </p:blipFill>
        <p:spPr bwMode="auto">
          <a:xfrm>
            <a:off x="228600" y="2819400"/>
            <a:ext cx="8686800" cy="1905000"/>
          </a:xfrm>
          <a:prstGeom prst="rect">
            <a:avLst/>
          </a:prstGeom>
          <a:noFill/>
        </p:spPr>
      </p:pic>
      <p:sp>
        <p:nvSpPr>
          <p:cNvPr id="9" name="Date Placeholder 8"/>
          <p:cNvSpPr>
            <a:spLocks noGrp="1"/>
          </p:cNvSpPr>
          <p:nvPr>
            <p:ph type="dt" sz="half" idx="10"/>
          </p:nvPr>
        </p:nvSpPr>
        <p:spPr/>
        <p:txBody>
          <a:bodyPr/>
          <a:lstStyle/>
          <a:p>
            <a:pPr>
              <a:defRPr/>
            </a:pPr>
            <a:fld id="{9E57DC88-2255-453D-8763-E6B63C321A28}"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Component-based Software Engineering</a:t>
            </a:r>
            <a:endParaRPr lang="en-US" dirty="0"/>
          </a:p>
        </p:txBody>
      </p:sp>
      <p:sp>
        <p:nvSpPr>
          <p:cNvPr id="3" name="Content Placeholder 2"/>
          <p:cNvSpPr>
            <a:spLocks noGrp="1"/>
          </p:cNvSpPr>
          <p:nvPr>
            <p:ph idx="1"/>
          </p:nvPr>
        </p:nvSpPr>
        <p:spPr/>
        <p:txBody>
          <a:bodyPr>
            <a:normAutofit fontScale="92500" lnSpcReduction="10000"/>
          </a:bodyPr>
          <a:lstStyle/>
          <a:p>
            <a:pPr marL="465455" indent="-465455" algn="just">
              <a:lnSpc>
                <a:spcPct val="90000"/>
              </a:lnSpc>
              <a:buNone/>
            </a:pPr>
            <a:r>
              <a:rPr lang="en-GB" b="1" dirty="0"/>
              <a:t>Component analysis</a:t>
            </a:r>
            <a:endParaRPr lang="en-GB" b="1" dirty="0"/>
          </a:p>
          <a:p>
            <a:pPr lvl="1" algn="just">
              <a:lnSpc>
                <a:spcPct val="90000"/>
              </a:lnSpc>
            </a:pPr>
            <a:r>
              <a:rPr lang="en-GB" sz="2400" dirty="0"/>
              <a:t>Given the requirement  specification</a:t>
            </a:r>
            <a:endParaRPr lang="en-GB" sz="2400" dirty="0"/>
          </a:p>
          <a:p>
            <a:pPr lvl="1" algn="just">
              <a:lnSpc>
                <a:spcPct val="90000"/>
              </a:lnSpc>
            </a:pPr>
            <a:r>
              <a:rPr lang="en-GB" sz="2400" dirty="0"/>
              <a:t>Search is made for  components</a:t>
            </a:r>
            <a:endParaRPr lang="en-GB" sz="2400" dirty="0"/>
          </a:p>
          <a:p>
            <a:pPr lvl="1" algn="just">
              <a:lnSpc>
                <a:spcPct val="90000"/>
              </a:lnSpc>
            </a:pPr>
            <a:r>
              <a:rPr lang="en-GB" sz="2400" dirty="0"/>
              <a:t>Usually there is no exact match.</a:t>
            </a:r>
            <a:endParaRPr lang="en-GB" sz="2400" dirty="0"/>
          </a:p>
          <a:p>
            <a:pPr marL="465455" indent="-465455" algn="just">
              <a:lnSpc>
                <a:spcPct val="90000"/>
              </a:lnSpc>
              <a:buNone/>
            </a:pPr>
            <a:r>
              <a:rPr lang="en-GB" b="1" dirty="0"/>
              <a:t> Requirement Modification</a:t>
            </a:r>
            <a:endParaRPr lang="en-GB" b="1" dirty="0"/>
          </a:p>
          <a:p>
            <a:pPr lvl="1" algn="just">
              <a:lnSpc>
                <a:spcPct val="90000"/>
              </a:lnSpc>
            </a:pPr>
            <a:r>
              <a:rPr lang="en-GB" sz="2400" dirty="0"/>
              <a:t>Requirements are </a:t>
            </a:r>
            <a:r>
              <a:rPr lang="en-GB" sz="2400" dirty="0" err="1"/>
              <a:t>analyzed</a:t>
            </a:r>
            <a:r>
              <a:rPr lang="en-GB" sz="2400" dirty="0"/>
              <a:t>—using information of discovered components</a:t>
            </a:r>
            <a:endParaRPr lang="en-GB" sz="2400" dirty="0"/>
          </a:p>
          <a:p>
            <a:pPr lvl="1" algn="just">
              <a:lnSpc>
                <a:spcPct val="90000"/>
              </a:lnSpc>
            </a:pPr>
            <a:r>
              <a:rPr lang="en-GB" sz="2400" dirty="0"/>
              <a:t>If modifications are impossible— component analysis activity may be re-entered to search for alternate solution</a:t>
            </a:r>
            <a:endParaRPr lang="en-GB" sz="2400" dirty="0"/>
          </a:p>
          <a:p>
            <a:pPr marL="465455" indent="-465455" algn="just">
              <a:lnSpc>
                <a:spcPct val="90000"/>
              </a:lnSpc>
              <a:buNone/>
            </a:pPr>
            <a:r>
              <a:rPr lang="en-GB" b="1" dirty="0"/>
              <a:t>System Design with Reuse</a:t>
            </a:r>
            <a:endParaRPr lang="en-GB" b="1" dirty="0"/>
          </a:p>
          <a:p>
            <a:pPr lvl="1" algn="just">
              <a:lnSpc>
                <a:spcPct val="90000"/>
              </a:lnSpc>
            </a:pPr>
            <a:r>
              <a:rPr lang="en-GB" sz="2400" dirty="0"/>
              <a:t>Frame work of system is designed or an existing frame work is reused</a:t>
            </a:r>
            <a:r>
              <a:rPr lang="en-GB" sz="2100" dirty="0"/>
              <a:t>.</a:t>
            </a:r>
            <a:endParaRPr lang="en-GB" sz="2100" dirty="0"/>
          </a:p>
          <a:p>
            <a:pPr marL="465455" indent="-465455" algn="just">
              <a:lnSpc>
                <a:spcPct val="90000"/>
              </a:lnSpc>
              <a:buNone/>
            </a:pPr>
            <a:r>
              <a:rPr lang="en-GB" b="1" dirty="0"/>
              <a:t>Development and integration Software</a:t>
            </a:r>
            <a:endParaRPr lang="en-GB" b="1" dirty="0"/>
          </a:p>
          <a:p>
            <a:pPr lvl="1" algn="just"/>
            <a:r>
              <a:rPr lang="en-GB" sz="2400" dirty="0"/>
              <a:t>Existing software /modified and newly developed components are integrated.</a:t>
            </a:r>
            <a:endParaRPr lang="en-GB" sz="2400" dirty="0"/>
          </a:p>
          <a:p>
            <a:endParaRPr lang="en-US" dirty="0"/>
          </a:p>
        </p:txBody>
      </p:sp>
      <p:sp>
        <p:nvSpPr>
          <p:cNvPr id="9" name="Date Placeholder 8"/>
          <p:cNvSpPr>
            <a:spLocks noGrp="1"/>
          </p:cNvSpPr>
          <p:nvPr>
            <p:ph type="dt" sz="half" idx="10"/>
          </p:nvPr>
        </p:nvSpPr>
        <p:spPr/>
        <p:txBody>
          <a:bodyPr/>
          <a:lstStyle/>
          <a:p>
            <a:pPr>
              <a:defRPr/>
            </a:pPr>
            <a:fld id="{A1CB206F-F7EA-4851-A0FA-9198A02C3994}"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Component-based Software Engineering</a:t>
            </a:r>
            <a:endParaRPr lang="en-US" dirty="0"/>
          </a:p>
        </p:txBody>
      </p:sp>
      <p:sp>
        <p:nvSpPr>
          <p:cNvPr id="3" name="Content Placeholder 2"/>
          <p:cNvSpPr>
            <a:spLocks noGrp="1"/>
          </p:cNvSpPr>
          <p:nvPr>
            <p:ph idx="1"/>
          </p:nvPr>
        </p:nvSpPr>
        <p:spPr/>
        <p:txBody>
          <a:bodyPr/>
          <a:lstStyle/>
          <a:p>
            <a:pPr marL="465455" indent="-465455">
              <a:lnSpc>
                <a:spcPct val="90000"/>
              </a:lnSpc>
              <a:buNone/>
            </a:pPr>
            <a:r>
              <a:rPr lang="en-GB" b="1" dirty="0"/>
              <a:t>Advantages</a:t>
            </a:r>
            <a:endParaRPr lang="en-GB" b="1" dirty="0"/>
          </a:p>
          <a:p>
            <a:pPr lvl="1">
              <a:lnSpc>
                <a:spcPct val="90000"/>
              </a:lnSpc>
            </a:pPr>
            <a:r>
              <a:rPr lang="en-GB" sz="2400" dirty="0"/>
              <a:t>Reduce the amount of software to be developed</a:t>
            </a:r>
            <a:endParaRPr lang="en-GB" sz="2400" dirty="0"/>
          </a:p>
          <a:p>
            <a:pPr lvl="1">
              <a:lnSpc>
                <a:spcPct val="90000"/>
              </a:lnSpc>
            </a:pPr>
            <a:r>
              <a:rPr lang="en-GB" sz="2400" dirty="0"/>
              <a:t>Reducing cost and risk</a:t>
            </a:r>
            <a:endParaRPr lang="en-GB" sz="2400" dirty="0"/>
          </a:p>
          <a:p>
            <a:pPr lvl="1">
              <a:lnSpc>
                <a:spcPct val="90000"/>
              </a:lnSpc>
            </a:pPr>
            <a:r>
              <a:rPr lang="en-GB" sz="2400" dirty="0"/>
              <a:t>Faster delivery of software</a:t>
            </a:r>
            <a:endParaRPr lang="en-GB" sz="2400" dirty="0"/>
          </a:p>
          <a:p>
            <a:pPr marL="465455" indent="-465455">
              <a:lnSpc>
                <a:spcPct val="90000"/>
              </a:lnSpc>
              <a:buNone/>
            </a:pPr>
            <a:endParaRPr lang="en-GB" b="1" dirty="0"/>
          </a:p>
          <a:p>
            <a:pPr marL="465455" indent="-465455">
              <a:lnSpc>
                <a:spcPct val="90000"/>
              </a:lnSpc>
              <a:buNone/>
            </a:pPr>
            <a:r>
              <a:rPr lang="en-GB" b="1" dirty="0"/>
              <a:t>Disadvantages</a:t>
            </a:r>
            <a:endParaRPr lang="en-GB" b="1" dirty="0"/>
          </a:p>
          <a:p>
            <a:pPr lvl="1">
              <a:lnSpc>
                <a:spcPct val="90000"/>
              </a:lnSpc>
            </a:pPr>
            <a:r>
              <a:rPr lang="en-GB" sz="2400" dirty="0"/>
              <a:t>Requirement changes—may lead to a system that does not meet the real needs of users</a:t>
            </a:r>
            <a:endParaRPr lang="en-GB" sz="2400" dirty="0"/>
          </a:p>
          <a:p>
            <a:pPr lvl="1">
              <a:lnSpc>
                <a:spcPct val="90000"/>
              </a:lnSpc>
            </a:pPr>
            <a:r>
              <a:rPr lang="en-GB" sz="2400" dirty="0"/>
              <a:t>Control over the system evolution is lost</a:t>
            </a:r>
            <a:endParaRPr lang="en-GB" sz="2400" dirty="0"/>
          </a:p>
          <a:p>
            <a:endParaRPr lang="en-US" dirty="0"/>
          </a:p>
        </p:txBody>
      </p:sp>
      <p:sp>
        <p:nvSpPr>
          <p:cNvPr id="9" name="Date Placeholder 8"/>
          <p:cNvSpPr>
            <a:spLocks noGrp="1"/>
          </p:cNvSpPr>
          <p:nvPr>
            <p:ph type="dt" sz="half" idx="10"/>
          </p:nvPr>
        </p:nvSpPr>
        <p:spPr/>
        <p:txBody>
          <a:bodyPr/>
          <a:lstStyle/>
          <a:p>
            <a:pPr>
              <a:defRPr/>
            </a:pPr>
            <a:fld id="{05AE9FA1-0CAB-4009-916D-D0C5BC17722E}"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Process Iteration</a:t>
            </a:r>
            <a:endParaRPr lang="en-US" dirty="0"/>
          </a:p>
        </p:txBody>
      </p:sp>
      <p:sp>
        <p:nvSpPr>
          <p:cNvPr id="3" name="Content Placeholder 2"/>
          <p:cNvSpPr>
            <a:spLocks noGrp="1"/>
          </p:cNvSpPr>
          <p:nvPr>
            <p:ph idx="1"/>
          </p:nvPr>
        </p:nvSpPr>
        <p:spPr/>
        <p:txBody>
          <a:bodyPr/>
          <a:lstStyle/>
          <a:p>
            <a:pPr>
              <a:spcAft>
                <a:spcPct val="50000"/>
              </a:spcAft>
            </a:pPr>
            <a:endParaRPr lang="en-GB" sz="2800" dirty="0"/>
          </a:p>
          <a:p>
            <a:pPr>
              <a:buNone/>
            </a:pPr>
            <a:r>
              <a:rPr lang="en-GB" sz="2800" dirty="0"/>
              <a:t>Two (related) process models</a:t>
            </a:r>
            <a:endParaRPr lang="en-GB" sz="2800" dirty="0"/>
          </a:p>
          <a:p>
            <a:pPr>
              <a:buNone/>
            </a:pPr>
            <a:endParaRPr lang="en-GB" sz="2800" dirty="0"/>
          </a:p>
          <a:p>
            <a:pPr lvl="1"/>
            <a:r>
              <a:rPr lang="en-GB" sz="2800" dirty="0"/>
              <a:t>Incremental delivery</a:t>
            </a:r>
            <a:endParaRPr lang="en-GB" sz="2800" dirty="0"/>
          </a:p>
          <a:p>
            <a:pPr lvl="1"/>
            <a:r>
              <a:rPr lang="en-GB" sz="2800" dirty="0"/>
              <a:t>Spiral development</a:t>
            </a:r>
            <a:endParaRPr lang="en-GB" sz="2800" dirty="0"/>
          </a:p>
          <a:p>
            <a:endParaRPr lang="en-US" dirty="0"/>
          </a:p>
        </p:txBody>
      </p:sp>
      <p:sp>
        <p:nvSpPr>
          <p:cNvPr id="9" name="Date Placeholder 8"/>
          <p:cNvSpPr>
            <a:spLocks noGrp="1"/>
          </p:cNvSpPr>
          <p:nvPr>
            <p:ph type="dt" sz="half" idx="10"/>
          </p:nvPr>
        </p:nvSpPr>
        <p:spPr/>
        <p:txBody>
          <a:bodyPr/>
          <a:lstStyle/>
          <a:p>
            <a:pPr>
              <a:defRPr/>
            </a:pPr>
            <a:fld id="{85C5D5ED-89F3-49A7-A9DF-0D9101282E65}"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Incremental Approach</a:t>
            </a:r>
            <a:endParaRPr lang="en-US" dirty="0"/>
          </a:p>
        </p:txBody>
      </p:sp>
      <p:sp>
        <p:nvSpPr>
          <p:cNvPr id="3" name="Content Placeholder 2"/>
          <p:cNvSpPr>
            <a:spLocks noGrp="1"/>
          </p:cNvSpPr>
          <p:nvPr>
            <p:ph idx="1"/>
          </p:nvPr>
        </p:nvSpPr>
        <p:spPr/>
        <p:txBody>
          <a:bodyPr>
            <a:normAutofit/>
          </a:bodyPr>
          <a:lstStyle/>
          <a:p>
            <a:pPr algn="just">
              <a:spcAft>
                <a:spcPct val="50000"/>
              </a:spcAft>
              <a:buNone/>
            </a:pPr>
            <a:endParaRPr lang="en-GB" i="1" dirty="0"/>
          </a:p>
          <a:p>
            <a:pPr algn="just">
              <a:spcAft>
                <a:spcPct val="50000"/>
              </a:spcAft>
              <a:buNone/>
            </a:pPr>
            <a:r>
              <a:rPr lang="en-GB" i="1" dirty="0"/>
              <a:t>“The software specification, design and implementation are broken down into a series of increments that are each developed in turn”</a:t>
            </a:r>
            <a:endParaRPr lang="en-GB" i="1" dirty="0"/>
          </a:p>
          <a:p>
            <a:pPr algn="just">
              <a:spcAft>
                <a:spcPct val="50000"/>
              </a:spcAft>
            </a:pPr>
            <a:r>
              <a:rPr lang="en-GB" dirty="0"/>
              <a:t>System development is decomposed into increments and each delivers a proportion of the system.</a:t>
            </a:r>
            <a:endParaRPr lang="en-GB" dirty="0"/>
          </a:p>
          <a:p>
            <a:pPr algn="just">
              <a:spcAft>
                <a:spcPct val="50000"/>
              </a:spcAft>
            </a:pPr>
            <a:r>
              <a:rPr lang="en-GB" dirty="0"/>
              <a:t>Increments are developed based on their requirement priorities. </a:t>
            </a:r>
            <a:endParaRPr lang="en-GB" dirty="0"/>
          </a:p>
          <a:p>
            <a:endParaRPr lang="en-US" dirty="0"/>
          </a:p>
        </p:txBody>
      </p:sp>
      <p:sp>
        <p:nvSpPr>
          <p:cNvPr id="9" name="Date Placeholder 8"/>
          <p:cNvSpPr>
            <a:spLocks noGrp="1"/>
          </p:cNvSpPr>
          <p:nvPr>
            <p:ph type="dt" sz="half" idx="10"/>
          </p:nvPr>
        </p:nvSpPr>
        <p:spPr/>
        <p:txBody>
          <a:bodyPr/>
          <a:lstStyle/>
          <a:p>
            <a:pPr>
              <a:defRPr/>
            </a:pPr>
            <a:fld id="{B86C5FC0-ADE4-4AF9-96E8-7C2068CE40FD}"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Incremental Development</a:t>
            </a:r>
            <a:endParaRPr lang="en-US" dirty="0"/>
          </a:p>
        </p:txBody>
      </p:sp>
      <p:sp>
        <p:nvSpPr>
          <p:cNvPr id="9" name="Date Placeholder 8"/>
          <p:cNvSpPr>
            <a:spLocks noGrp="1"/>
          </p:cNvSpPr>
          <p:nvPr>
            <p:ph type="dt" sz="half" idx="10"/>
          </p:nvPr>
        </p:nvSpPr>
        <p:spPr/>
        <p:txBody>
          <a:bodyPr/>
          <a:lstStyle/>
          <a:p>
            <a:pPr>
              <a:defRPr/>
            </a:pPr>
            <a:fld id="{35034716-55F4-48FD-BF96-FBEAD9A2F916}"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pic>
        <p:nvPicPr>
          <p:cNvPr id="7" name="Picture 6" descr="2.10 Incremental-delivery.eps"/>
          <p:cNvPicPr>
            <a:picLocks noChangeAspect="1"/>
          </p:cNvPicPr>
          <p:nvPr/>
        </p:nvPicPr>
        <mc:AlternateContent xmlns:mc="http://schemas.openxmlformats.org/markup-compatibility/2006">
          <mc:Choice xmlns:mv="urn:schemas-microsoft-com:mac:vml" xmlns:ma="http://schemas.microsoft.com/office/mac/drawingml/2008/main" Requires="ma">
            <p:blipFill>
              <a:blip r:embed="rId1"/>
              <a:stretch>
                <a:fillRect/>
              </a:stretch>
            </p:blipFill>
          </mc:Choice>
          <mc:Fallback>
            <p:blipFill>
              <a:blip r:embed="rId2"/>
              <a:stretch>
                <a:fillRect/>
              </a:stretch>
            </p:blipFill>
          </mc:Fallback>
        </mc:AlternateContent>
        <p:spPr>
          <a:xfrm>
            <a:off x="533400" y="2712389"/>
            <a:ext cx="8172017" cy="2767244"/>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Incremental Delivery(Steps)</a:t>
            </a:r>
            <a:endParaRPr lang="en-US" dirty="0"/>
          </a:p>
        </p:txBody>
      </p:sp>
      <p:sp>
        <p:nvSpPr>
          <p:cNvPr id="3" name="Content Placeholder 2"/>
          <p:cNvSpPr>
            <a:spLocks noGrp="1"/>
          </p:cNvSpPr>
          <p:nvPr>
            <p:ph idx="1"/>
          </p:nvPr>
        </p:nvSpPr>
        <p:spPr/>
        <p:txBody>
          <a:bodyPr>
            <a:normAutofit lnSpcReduction="10000"/>
          </a:bodyPr>
          <a:lstStyle/>
          <a:p>
            <a:pPr marL="457200" indent="-457200" algn="just">
              <a:buFont typeface="+mj-lt"/>
              <a:buAutoNum type="arabicPeriod"/>
            </a:pPr>
            <a:r>
              <a:rPr lang="en-US" dirty="0"/>
              <a:t>Customer identify—services provided by the system</a:t>
            </a:r>
            <a:endParaRPr lang="en-US" dirty="0"/>
          </a:p>
          <a:p>
            <a:pPr marL="457200" indent="-457200" algn="just">
              <a:buFont typeface="+mj-lt"/>
              <a:buAutoNum type="arabicPeriod"/>
            </a:pPr>
            <a:r>
              <a:rPr lang="en-US" dirty="0"/>
              <a:t>Then identify which of the services  are most important and which are least important</a:t>
            </a:r>
            <a:endParaRPr lang="en-US" dirty="0"/>
          </a:p>
          <a:p>
            <a:pPr marL="457200" indent="-457200" algn="just">
              <a:buFont typeface="+mj-lt"/>
              <a:buAutoNum type="arabicPeriod"/>
            </a:pPr>
            <a:r>
              <a:rPr lang="en-US" dirty="0"/>
              <a:t>No of delivery increments are then identified with sub-set of the system functionality</a:t>
            </a:r>
            <a:endParaRPr lang="en-US" dirty="0"/>
          </a:p>
          <a:p>
            <a:pPr marL="457200" indent="-457200" algn="just">
              <a:buFont typeface="+mj-lt"/>
              <a:buAutoNum type="arabicPeriod"/>
            </a:pPr>
            <a:r>
              <a:rPr lang="en-US" dirty="0"/>
              <a:t>Highest priority services delivered first</a:t>
            </a:r>
            <a:endParaRPr lang="en-US" dirty="0"/>
          </a:p>
          <a:p>
            <a:pPr marL="457200" indent="-457200" algn="just">
              <a:buFont typeface="+mj-lt"/>
              <a:buAutoNum type="arabicPeriod"/>
            </a:pPr>
            <a:r>
              <a:rPr lang="en-US" dirty="0"/>
              <a:t>Requirements for the first increment are defined in detail</a:t>
            </a:r>
            <a:endParaRPr lang="en-US" dirty="0"/>
          </a:p>
          <a:p>
            <a:pPr marL="457200" indent="-457200" algn="just">
              <a:buFont typeface="+mj-lt"/>
              <a:buAutoNum type="arabicPeriod"/>
            </a:pPr>
            <a:r>
              <a:rPr lang="en-US" dirty="0"/>
              <a:t>First Increment is developed and delivered ..customer can put into service.(Benefit for customer?)</a:t>
            </a:r>
            <a:endParaRPr lang="en-US" dirty="0"/>
          </a:p>
          <a:p>
            <a:pPr marL="457200" indent="-457200" algn="just">
              <a:buFont typeface="+mj-lt"/>
              <a:buAutoNum type="arabicPeriod"/>
            </a:pPr>
            <a:r>
              <a:rPr lang="en-US" dirty="0"/>
              <a:t>During development ….further requirements analysis for later increments can take place</a:t>
            </a:r>
            <a:endParaRPr lang="en-US" dirty="0"/>
          </a:p>
          <a:p>
            <a:endParaRPr lang="en-US" dirty="0"/>
          </a:p>
        </p:txBody>
      </p:sp>
      <p:sp>
        <p:nvSpPr>
          <p:cNvPr id="9" name="Date Placeholder 8"/>
          <p:cNvSpPr>
            <a:spLocks noGrp="1"/>
          </p:cNvSpPr>
          <p:nvPr>
            <p:ph type="dt" sz="half" idx="10"/>
          </p:nvPr>
        </p:nvSpPr>
        <p:spPr/>
        <p:txBody>
          <a:bodyPr/>
          <a:lstStyle/>
          <a:p>
            <a:pPr>
              <a:defRPr/>
            </a:pPr>
            <a:fld id="{A8B9351E-18E6-445A-8B73-389A4E947632}"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Incremental Model</a:t>
            </a:r>
            <a:endParaRPr lang="en-US" dirty="0"/>
          </a:p>
        </p:txBody>
      </p:sp>
      <p:sp>
        <p:nvSpPr>
          <p:cNvPr id="3" name="Content Placeholder 2"/>
          <p:cNvSpPr>
            <a:spLocks noGrp="1"/>
          </p:cNvSpPr>
          <p:nvPr>
            <p:ph idx="1"/>
          </p:nvPr>
        </p:nvSpPr>
        <p:spPr/>
        <p:txBody>
          <a:bodyPr>
            <a:normAutofit fontScale="92500" lnSpcReduction="10000"/>
          </a:bodyPr>
          <a:lstStyle/>
          <a:p>
            <a:pPr algn="just">
              <a:spcAft>
                <a:spcPts val="600"/>
              </a:spcAft>
              <a:buClr>
                <a:schemeClr val="accent3">
                  <a:lumMod val="75000"/>
                </a:schemeClr>
              </a:buClr>
              <a:buSzPct val="70000"/>
              <a:buNone/>
              <a:defRPr/>
            </a:pPr>
            <a:r>
              <a:rPr lang="en-GB" sz="2300" b="1" dirty="0"/>
              <a:t>Advantages:</a:t>
            </a:r>
            <a:endParaRPr lang="en-GB" sz="2300" b="1" dirty="0"/>
          </a:p>
          <a:p>
            <a:pPr marL="525780" indent="-342900" algn="just">
              <a:spcBef>
                <a:spcPts val="0"/>
              </a:spcBef>
              <a:spcAft>
                <a:spcPts val="800"/>
              </a:spcAft>
              <a:buClr>
                <a:schemeClr val="bg1">
                  <a:lumMod val="50000"/>
                </a:schemeClr>
              </a:buClr>
              <a:buSzPct val="80000"/>
              <a:defRPr/>
            </a:pPr>
            <a:r>
              <a:rPr lang="en-GB" dirty="0"/>
              <a:t>Customer value can be delivered with each increment so system functionality is available earlier.</a:t>
            </a:r>
            <a:endParaRPr lang="en-GB" dirty="0"/>
          </a:p>
          <a:p>
            <a:pPr marL="525780" indent="-342900" algn="just">
              <a:spcBef>
                <a:spcPts val="0"/>
              </a:spcBef>
              <a:spcAft>
                <a:spcPts val="800"/>
              </a:spcAft>
              <a:buClr>
                <a:schemeClr val="bg1">
                  <a:lumMod val="50000"/>
                </a:schemeClr>
              </a:buClr>
              <a:buSzPct val="80000"/>
              <a:defRPr/>
            </a:pPr>
            <a:r>
              <a:rPr lang="en-GB" dirty="0"/>
              <a:t>Early increments act as a prototype to help elicit requirements for later increments.</a:t>
            </a:r>
            <a:endParaRPr lang="en-GB" dirty="0"/>
          </a:p>
          <a:p>
            <a:pPr marL="525780" indent="-342900" algn="just">
              <a:spcBef>
                <a:spcPts val="0"/>
              </a:spcBef>
              <a:spcAft>
                <a:spcPts val="800"/>
              </a:spcAft>
              <a:buClr>
                <a:schemeClr val="bg1">
                  <a:lumMod val="50000"/>
                </a:schemeClr>
              </a:buClr>
              <a:buSzPct val="80000"/>
              <a:defRPr/>
            </a:pPr>
            <a:r>
              <a:rPr lang="en-GB" dirty="0"/>
              <a:t>Lower risk of overall project failure.</a:t>
            </a:r>
            <a:endParaRPr lang="en-GB" dirty="0"/>
          </a:p>
          <a:p>
            <a:pPr marL="525780" indent="-342900" algn="just">
              <a:spcBef>
                <a:spcPts val="0"/>
              </a:spcBef>
              <a:spcAft>
                <a:spcPts val="800"/>
              </a:spcAft>
              <a:buClr>
                <a:schemeClr val="bg1">
                  <a:lumMod val="50000"/>
                </a:schemeClr>
              </a:buClr>
              <a:buSzPct val="80000"/>
              <a:defRPr/>
            </a:pPr>
            <a:r>
              <a:rPr lang="en-GB" dirty="0"/>
              <a:t>The highest priority system services tend to receive the most testing.</a:t>
            </a:r>
            <a:endParaRPr lang="en-GB" dirty="0"/>
          </a:p>
          <a:p>
            <a:pPr algn="just">
              <a:spcBef>
                <a:spcPts val="600"/>
              </a:spcBef>
              <a:spcAft>
                <a:spcPts val="600"/>
              </a:spcAft>
              <a:buClr>
                <a:schemeClr val="accent3">
                  <a:lumMod val="75000"/>
                </a:schemeClr>
              </a:buClr>
              <a:buSzPct val="70000"/>
              <a:buNone/>
              <a:defRPr/>
            </a:pPr>
            <a:r>
              <a:rPr lang="en-GB" sz="2300" b="1" dirty="0"/>
              <a:t>Disadvantages:</a:t>
            </a:r>
            <a:endParaRPr lang="en-GB" sz="2300" b="1" dirty="0"/>
          </a:p>
          <a:p>
            <a:pPr marL="525780" indent="-342900" algn="just">
              <a:spcBef>
                <a:spcPts val="0"/>
              </a:spcBef>
              <a:spcAft>
                <a:spcPts val="800"/>
              </a:spcAft>
              <a:buClr>
                <a:schemeClr val="bg1">
                  <a:lumMod val="50000"/>
                </a:schemeClr>
              </a:buClr>
              <a:buSzPct val="80000"/>
              <a:defRPr/>
            </a:pPr>
            <a:r>
              <a:rPr lang="en-GB" dirty="0"/>
              <a:t>Can be difficult to map the customer’s requirements onto increments of the right size.</a:t>
            </a:r>
            <a:endParaRPr lang="en-GB" dirty="0"/>
          </a:p>
          <a:p>
            <a:pPr marL="525780" indent="-342900" algn="just">
              <a:spcBef>
                <a:spcPts val="0"/>
              </a:spcBef>
              <a:spcAft>
                <a:spcPts val="800"/>
              </a:spcAft>
              <a:buClr>
                <a:schemeClr val="bg1">
                  <a:lumMod val="50000"/>
                </a:schemeClr>
              </a:buClr>
              <a:buSzPct val="80000"/>
              <a:defRPr/>
            </a:pPr>
            <a:r>
              <a:rPr lang="en-GB" dirty="0"/>
              <a:t>Hard to identify common functions.</a:t>
            </a:r>
            <a:endParaRPr lang="en-GB" dirty="0"/>
          </a:p>
          <a:p>
            <a:endParaRPr lang="en-US" dirty="0"/>
          </a:p>
        </p:txBody>
      </p:sp>
      <p:sp>
        <p:nvSpPr>
          <p:cNvPr id="9" name="Date Placeholder 8"/>
          <p:cNvSpPr>
            <a:spLocks noGrp="1"/>
          </p:cNvSpPr>
          <p:nvPr>
            <p:ph type="dt" sz="half" idx="10"/>
          </p:nvPr>
        </p:nvSpPr>
        <p:spPr/>
        <p:txBody>
          <a:bodyPr/>
          <a:lstStyle/>
          <a:p>
            <a:pPr>
              <a:defRPr/>
            </a:pPr>
            <a:fld id="{D49BE440-14C1-4B72-A4D3-F681CAFF649B}"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Spiral Model</a:t>
            </a:r>
            <a:endParaRPr lang="en-US" dirty="0"/>
          </a:p>
        </p:txBody>
      </p:sp>
      <p:sp>
        <p:nvSpPr>
          <p:cNvPr id="3" name="Content Placeholder 2"/>
          <p:cNvSpPr>
            <a:spLocks noGrp="1"/>
          </p:cNvSpPr>
          <p:nvPr>
            <p:ph idx="1"/>
          </p:nvPr>
        </p:nvSpPr>
        <p:spPr/>
        <p:txBody>
          <a:bodyPr/>
          <a:lstStyle/>
          <a:p>
            <a:pPr algn="just"/>
            <a:r>
              <a:rPr lang="en-US" dirty="0"/>
              <a:t>The software process is represented as spiral, rather than a sequence of activities with some backtracking from one activity to another.</a:t>
            </a:r>
            <a:endParaRPr lang="en-US" dirty="0"/>
          </a:p>
          <a:p>
            <a:pPr marL="0" indent="0" algn="just">
              <a:buNone/>
            </a:pPr>
            <a:endParaRPr lang="en-US" dirty="0"/>
          </a:p>
          <a:p>
            <a:pPr algn="just"/>
            <a:r>
              <a:rPr lang="en-US" dirty="0"/>
              <a:t>Each loop in spiral represents a phase of the software process</a:t>
            </a:r>
            <a:endParaRPr lang="en-US" dirty="0"/>
          </a:p>
          <a:p>
            <a:pPr marL="0" indent="0" algn="just">
              <a:buNone/>
            </a:pPr>
            <a:endParaRPr lang="en-US" dirty="0"/>
          </a:p>
          <a:p>
            <a:pPr algn="just"/>
            <a:r>
              <a:rPr lang="en-US" dirty="0"/>
              <a:t>Innermost loop might be concerned with system feasibility</a:t>
            </a:r>
            <a:endParaRPr lang="en-US" dirty="0"/>
          </a:p>
          <a:p>
            <a:pPr marL="0" indent="0" algn="just">
              <a:buNone/>
            </a:pPr>
            <a:endParaRPr lang="en-US" dirty="0"/>
          </a:p>
          <a:p>
            <a:pPr algn="just"/>
            <a:r>
              <a:rPr lang="en-US" dirty="0"/>
              <a:t>Next loop with requirements definition…next with system designed and so on.</a:t>
            </a:r>
            <a:endParaRPr lang="en-US" dirty="0"/>
          </a:p>
          <a:p>
            <a:endParaRPr lang="en-US" dirty="0"/>
          </a:p>
        </p:txBody>
      </p:sp>
      <p:sp>
        <p:nvSpPr>
          <p:cNvPr id="9" name="Date Placeholder 8"/>
          <p:cNvSpPr>
            <a:spLocks noGrp="1"/>
          </p:cNvSpPr>
          <p:nvPr>
            <p:ph type="dt" sz="half" idx="10"/>
          </p:nvPr>
        </p:nvSpPr>
        <p:spPr/>
        <p:txBody>
          <a:bodyPr/>
          <a:lstStyle/>
          <a:p>
            <a:pPr>
              <a:defRPr/>
            </a:pPr>
            <a:fld id="{8CA918BA-C4E3-4419-B502-1E7792AC96F0}"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Shape 179"/>
          <p:cNvSpPr txBox="1">
            <a:spLocks noGrp="1"/>
          </p:cNvSpPr>
          <p:nvPr>
            <p:ph type="title"/>
          </p:nvPr>
        </p:nvSpPr>
        <p:spPr>
          <a:xfrm>
            <a:off x="822960" y="286604"/>
            <a:ext cx="7543799" cy="1450757"/>
          </a:xfrm>
          <a:prstGeom prst="rect">
            <a:avLst/>
          </a:prstGeom>
          <a:noFill/>
          <a:ln>
            <a:noFill/>
          </a:ln>
        </p:spPr>
        <p:txBody>
          <a:bodyPr lIns="91425" tIns="45700" rIns="91425" bIns="45700" anchor="ctr" anchorCtr="0">
            <a:noAutofit/>
          </a:bodyPr>
          <a:lstStyle/>
          <a:p>
            <a:pPr marL="0" marR="0" lvl="0" indent="0" rtl="0">
              <a:spcBef>
                <a:spcPts val="0"/>
              </a:spcBef>
              <a:buClr>
                <a:schemeClr val="dk1"/>
              </a:buClr>
              <a:buSzPct val="25000"/>
              <a:buFont typeface="Libre Baskerville"/>
              <a:buNone/>
            </a:pPr>
            <a:r>
              <a:rPr lang="en-US" sz="4400" b="0" i="0" u="none" strike="noStrike" cap="none" dirty="0">
                <a:solidFill>
                  <a:schemeClr val="dk1"/>
                </a:solidFill>
                <a:latin typeface="Libre Baskerville"/>
                <a:ea typeface="Libre Baskerville"/>
                <a:cs typeface="Libre Baskerville"/>
                <a:sym typeface="Libre Baskerville"/>
              </a:rPr>
              <a:t>Spiral Model</a:t>
            </a:r>
            <a:endParaRPr lang="en-US" sz="4400" b="0" i="0" u="none" strike="noStrike" cap="none" dirty="0">
              <a:solidFill>
                <a:schemeClr val="dk1"/>
              </a:solidFill>
              <a:latin typeface="Libre Baskerville"/>
              <a:ea typeface="Libre Baskerville"/>
              <a:cs typeface="Libre Baskerville"/>
              <a:sym typeface="Libre Baskerville"/>
            </a:endParaRPr>
          </a:p>
        </p:txBody>
      </p:sp>
      <p:sp>
        <p:nvSpPr>
          <p:cNvPr id="180" name="Shape 180"/>
          <p:cNvSpPr txBox="1">
            <a:spLocks noGrp="1"/>
          </p:cNvSpPr>
          <p:nvPr>
            <p:ph idx="1"/>
          </p:nvPr>
        </p:nvSpPr>
        <p:spPr>
          <a:xfrm>
            <a:off x="228600" y="1737360"/>
            <a:ext cx="4881562" cy="4450715"/>
          </a:xfrm>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chemeClr val="dk1"/>
              </a:buClr>
              <a:buSzPct val="100000"/>
              <a:buFont typeface="Arial" panose="020B0604020202020204"/>
              <a:buChar char="•"/>
            </a:pPr>
            <a:r>
              <a:rPr lang="en-US" sz="2400" b="0" i="0" u="none" strike="noStrike" cap="none" dirty="0">
                <a:solidFill>
                  <a:schemeClr val="dk1"/>
                </a:solidFill>
                <a:latin typeface="Libre Baskerville"/>
                <a:ea typeface="Libre Baskerville"/>
                <a:cs typeface="Libre Baskerville"/>
                <a:sym typeface="Libre Baskerville"/>
              </a:rPr>
              <a:t>Simplified form</a:t>
            </a:r>
            <a:endParaRPr lang="en-US" sz="2400" b="0" i="0" u="none" strike="noStrike" cap="none" dirty="0">
              <a:solidFill>
                <a:schemeClr val="dk1"/>
              </a:solidFill>
              <a:latin typeface="Libre Baskerville"/>
              <a:ea typeface="Libre Baskerville"/>
              <a:cs typeface="Libre Baskerville"/>
              <a:sym typeface="Libre Baskerville"/>
            </a:endParaRPr>
          </a:p>
          <a:p>
            <a:pPr marL="742950" marR="0" lvl="1" indent="-285750" algn="l" rtl="0">
              <a:spcBef>
                <a:spcPts val="480"/>
              </a:spcBef>
              <a:spcAft>
                <a:spcPts val="0"/>
              </a:spcAft>
              <a:buClr>
                <a:schemeClr val="dk1"/>
              </a:buClr>
              <a:buSzPct val="100000"/>
              <a:buFont typeface="Arial" panose="020B0604020202020204"/>
              <a:buChar char="–"/>
            </a:pPr>
            <a:r>
              <a:rPr lang="en-US" sz="2000" b="0" i="0" u="none" strike="noStrike" cap="none" dirty="0">
                <a:solidFill>
                  <a:schemeClr val="dk1"/>
                </a:solidFill>
                <a:latin typeface="Libre Baskerville"/>
                <a:ea typeface="Libre Baskerville"/>
                <a:cs typeface="Libre Baskerville"/>
                <a:sym typeface="Libre Baskerville"/>
              </a:rPr>
              <a:t>Waterfall model plus risk analysis</a:t>
            </a:r>
            <a:endParaRPr lang="en-US" sz="2000" b="0" i="0" u="none" strike="noStrike" cap="none" dirty="0">
              <a:solidFill>
                <a:schemeClr val="dk1"/>
              </a:solidFill>
              <a:latin typeface="Libre Baskerville"/>
              <a:ea typeface="Libre Baskerville"/>
              <a:cs typeface="Libre Baskerville"/>
              <a:sym typeface="Libre Baskerville"/>
            </a:endParaRPr>
          </a:p>
          <a:p>
            <a:pPr marL="342900" marR="0" lvl="0" indent="-342900" algn="l" rtl="0">
              <a:spcBef>
                <a:spcPts val="560"/>
              </a:spcBef>
              <a:spcAft>
                <a:spcPts val="0"/>
              </a:spcAft>
              <a:buClr>
                <a:schemeClr val="dk1"/>
              </a:buClr>
              <a:buSzPct val="100000"/>
              <a:buFont typeface="Arial" panose="020B0604020202020204"/>
              <a:buChar char="•"/>
            </a:pPr>
            <a:r>
              <a:rPr lang="en-US" sz="2400" b="0" i="0" u="none" strike="noStrike" cap="none" dirty="0">
                <a:solidFill>
                  <a:schemeClr val="dk1"/>
                </a:solidFill>
                <a:latin typeface="Libre Baskerville"/>
                <a:ea typeface="Libre Baskerville"/>
                <a:cs typeface="Libre Baskerville"/>
                <a:sym typeface="Libre Baskerville"/>
              </a:rPr>
              <a:t>Precede each phase by</a:t>
            </a:r>
            <a:endParaRPr lang="en-US" sz="2400" b="0" i="0" u="none" strike="noStrike" cap="none" dirty="0">
              <a:solidFill>
                <a:schemeClr val="dk1"/>
              </a:solidFill>
              <a:latin typeface="Libre Baskerville"/>
              <a:ea typeface="Libre Baskerville"/>
              <a:cs typeface="Libre Baskerville"/>
              <a:sym typeface="Libre Baskerville"/>
            </a:endParaRPr>
          </a:p>
          <a:p>
            <a:pPr marL="742950" marR="0" lvl="1" indent="-285750" algn="l" rtl="0">
              <a:spcBef>
                <a:spcPts val="480"/>
              </a:spcBef>
              <a:spcAft>
                <a:spcPts val="0"/>
              </a:spcAft>
              <a:buClr>
                <a:schemeClr val="dk1"/>
              </a:buClr>
              <a:buSzPct val="100000"/>
              <a:buFont typeface="Arial" panose="020B0604020202020204"/>
              <a:buChar char="–"/>
            </a:pPr>
            <a:r>
              <a:rPr lang="en-US" sz="2000" b="0" i="0" u="none" strike="noStrike" cap="none" dirty="0">
                <a:solidFill>
                  <a:schemeClr val="dk1"/>
                </a:solidFill>
                <a:latin typeface="Libre Baskerville"/>
                <a:ea typeface="Libre Baskerville"/>
                <a:cs typeface="Libre Baskerville"/>
                <a:sym typeface="Libre Baskerville"/>
              </a:rPr>
              <a:t>Alternatives (build, reuse, buy, sub-contract)</a:t>
            </a:r>
            <a:endParaRPr lang="en-US" sz="2000" b="0" i="0" u="none" strike="noStrike" cap="none" dirty="0">
              <a:solidFill>
                <a:schemeClr val="dk1"/>
              </a:solidFill>
              <a:latin typeface="Libre Baskerville"/>
              <a:ea typeface="Libre Baskerville"/>
              <a:cs typeface="Libre Baskerville"/>
              <a:sym typeface="Libre Baskerville"/>
            </a:endParaRPr>
          </a:p>
          <a:p>
            <a:pPr marL="742950" marR="0" lvl="1" indent="-285750" algn="l" rtl="0">
              <a:spcBef>
                <a:spcPts val="480"/>
              </a:spcBef>
              <a:spcAft>
                <a:spcPts val="0"/>
              </a:spcAft>
              <a:buClr>
                <a:schemeClr val="dk1"/>
              </a:buClr>
              <a:buSzPct val="100000"/>
              <a:buFont typeface="Arial" panose="020B0604020202020204"/>
              <a:buChar char="–"/>
            </a:pPr>
            <a:r>
              <a:rPr lang="en-US" sz="2000" b="0" i="0" u="none" strike="noStrike" cap="none" dirty="0">
                <a:solidFill>
                  <a:schemeClr val="dk1"/>
                </a:solidFill>
                <a:latin typeface="Libre Baskerville"/>
                <a:ea typeface="Libre Baskerville"/>
                <a:cs typeface="Libre Baskerville"/>
                <a:sym typeface="Libre Baskerville"/>
              </a:rPr>
              <a:t>Risk analysis (lack of experience, new technology, tight schedules)</a:t>
            </a:r>
            <a:endParaRPr lang="en-US" sz="2000" b="0" i="0" u="none" strike="noStrike" cap="none" dirty="0">
              <a:solidFill>
                <a:schemeClr val="dk1"/>
              </a:solidFill>
              <a:latin typeface="Libre Baskerville"/>
              <a:ea typeface="Libre Baskerville"/>
              <a:cs typeface="Libre Baskerville"/>
              <a:sym typeface="Libre Baskerville"/>
            </a:endParaRPr>
          </a:p>
          <a:p>
            <a:pPr marL="342900" marR="0" lvl="0" indent="-342900" algn="l" rtl="0">
              <a:spcBef>
                <a:spcPts val="560"/>
              </a:spcBef>
              <a:spcAft>
                <a:spcPts val="0"/>
              </a:spcAft>
              <a:buClr>
                <a:schemeClr val="dk1"/>
              </a:buClr>
              <a:buSzPct val="100000"/>
              <a:buFont typeface="Arial" panose="020B0604020202020204"/>
              <a:buChar char="•"/>
            </a:pPr>
            <a:r>
              <a:rPr lang="en-US" sz="2400" b="0" i="0" u="none" strike="noStrike" cap="none" dirty="0">
                <a:solidFill>
                  <a:schemeClr val="dk1"/>
                </a:solidFill>
                <a:latin typeface="Libre Baskerville"/>
                <a:ea typeface="Libre Baskerville"/>
                <a:cs typeface="Libre Baskerville"/>
                <a:sym typeface="Libre Baskerville"/>
              </a:rPr>
              <a:t>Follow each phase by</a:t>
            </a:r>
            <a:endParaRPr lang="en-US" sz="2400" b="0" i="0" u="none" strike="noStrike" cap="none" dirty="0">
              <a:solidFill>
                <a:schemeClr val="dk1"/>
              </a:solidFill>
              <a:latin typeface="Libre Baskerville"/>
              <a:ea typeface="Libre Baskerville"/>
              <a:cs typeface="Libre Baskerville"/>
              <a:sym typeface="Libre Baskerville"/>
            </a:endParaRPr>
          </a:p>
          <a:p>
            <a:pPr marL="742950" marR="0" lvl="1" indent="-285750" algn="l" rtl="0">
              <a:spcBef>
                <a:spcPts val="480"/>
              </a:spcBef>
              <a:spcAft>
                <a:spcPts val="0"/>
              </a:spcAft>
              <a:buClr>
                <a:schemeClr val="dk1"/>
              </a:buClr>
              <a:buSzPct val="100000"/>
              <a:buFont typeface="Arial" panose="020B0604020202020204"/>
              <a:buChar char="–"/>
            </a:pPr>
            <a:r>
              <a:rPr lang="en-US" sz="2000" b="0" i="0" u="none" strike="noStrike" cap="none" dirty="0">
                <a:solidFill>
                  <a:schemeClr val="dk1"/>
                </a:solidFill>
                <a:latin typeface="Libre Baskerville"/>
                <a:ea typeface="Libre Baskerville"/>
                <a:cs typeface="Libre Baskerville"/>
                <a:sym typeface="Libre Baskerville"/>
              </a:rPr>
              <a:t>Evaluation</a:t>
            </a:r>
            <a:endParaRPr lang="en-US" sz="2000" b="0" i="0" u="none" strike="noStrike" cap="none" dirty="0">
              <a:solidFill>
                <a:schemeClr val="dk1"/>
              </a:solidFill>
              <a:latin typeface="Libre Baskerville"/>
              <a:ea typeface="Libre Baskerville"/>
              <a:cs typeface="Libre Baskerville"/>
              <a:sym typeface="Libre Baskerville"/>
            </a:endParaRPr>
          </a:p>
          <a:p>
            <a:pPr marL="742950" marR="0" lvl="1" indent="-285750" algn="l" rtl="0">
              <a:spcBef>
                <a:spcPts val="480"/>
              </a:spcBef>
              <a:buClr>
                <a:schemeClr val="dk1"/>
              </a:buClr>
              <a:buSzPct val="100000"/>
              <a:buFont typeface="Arial" panose="020B0604020202020204"/>
              <a:buChar char="–"/>
            </a:pPr>
            <a:r>
              <a:rPr lang="en-US" sz="2000" b="0" i="0" u="none" strike="noStrike" cap="none" dirty="0">
                <a:solidFill>
                  <a:schemeClr val="dk1"/>
                </a:solidFill>
                <a:latin typeface="Libre Baskerville"/>
                <a:ea typeface="Libre Baskerville"/>
                <a:cs typeface="Libre Baskerville"/>
                <a:sym typeface="Libre Baskerville"/>
              </a:rPr>
              <a:t>Planning of next phase</a:t>
            </a:r>
            <a:endParaRPr lang="en-US" sz="2000" b="0" i="0" u="none" strike="noStrike" cap="none" dirty="0">
              <a:solidFill>
                <a:schemeClr val="dk1"/>
              </a:solidFill>
              <a:latin typeface="Libre Baskerville"/>
              <a:ea typeface="Libre Baskerville"/>
              <a:cs typeface="Libre Baskerville"/>
              <a:sym typeface="Libre Baskerville"/>
            </a:endParaRPr>
          </a:p>
        </p:txBody>
      </p:sp>
      <p:pic>
        <p:nvPicPr>
          <p:cNvPr id="181" name="Shape 181"/>
          <p:cNvPicPr preferRelativeResize="0"/>
          <p:nvPr/>
        </p:nvPicPr>
        <p:blipFill rotWithShape="1">
          <a:blip r:embed="rId1"/>
          <a:srcRect/>
          <a:stretch>
            <a:fillRect/>
          </a:stretch>
        </p:blipFill>
        <p:spPr>
          <a:xfrm>
            <a:off x="5096093" y="731524"/>
            <a:ext cx="4033839" cy="5580074"/>
          </a:xfrm>
          <a:prstGeom prst="rect">
            <a:avLst/>
          </a:prstGeom>
          <a:noFill/>
          <a:ln>
            <a:noFill/>
          </a:ln>
        </p:spPr>
      </p:pic>
      <p:sp>
        <p:nvSpPr>
          <p:cNvPr id="4" name="Slide Number Placeholder 3"/>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bg1"/>
                </a:solidFill>
                <a:latin typeface="Calibri" panose="020F0502020204030204"/>
                <a:ea typeface="Calibri" panose="020F0502020204030204"/>
                <a:cs typeface="Calibri" panose="020F0502020204030204"/>
                <a:sym typeface="Calibri" panose="020F0502020204030204"/>
              </a:rPr>
            </a:fld>
            <a:endParaRPr lang="en-US" sz="1200" b="0" i="0" u="none" strike="noStrike" cap="none" dirty="0">
              <a:solidFill>
                <a:schemeClr val="bg1"/>
              </a:solidFill>
              <a:latin typeface="Calibri" panose="020F0502020204030204"/>
              <a:ea typeface="Calibri" panose="020F0502020204030204"/>
              <a:cs typeface="Calibri" panose="020F0502020204030204"/>
              <a:sym typeface="Calibri" panose="020F0502020204030204"/>
            </a:endParaRPr>
          </a:p>
        </p:txBody>
      </p:sp>
      <p:sp>
        <p:nvSpPr>
          <p:cNvPr id="2" name="Date Placeholder 1"/>
          <p:cNvSpPr>
            <a:spLocks noGrp="1"/>
          </p:cNvSpPr>
          <p:nvPr>
            <p:ph type="dt" sz="half" idx="10"/>
          </p:nvPr>
        </p:nvSpPr>
        <p:spPr/>
        <p:txBody>
          <a:bodyPr/>
          <a:lstStyle/>
          <a:p>
            <a:pPr>
              <a:defRPr/>
            </a:pPr>
            <a:fld id="{78C15B45-782E-4672-ADB2-76F1B4728DB1}" type="datetime1">
              <a:rPr lang="en-US" smtClean="0"/>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Shape 186"/>
          <p:cNvSpPr txBox="1">
            <a:spLocks noGrp="1"/>
          </p:cNvSpPr>
          <p:nvPr>
            <p:ph type="title"/>
          </p:nvPr>
        </p:nvSpPr>
        <p:spPr>
          <a:xfrm>
            <a:off x="457200" y="533400"/>
            <a:ext cx="8229600" cy="1143000"/>
          </a:xfrm>
          <a:prstGeom prst="rect">
            <a:avLst/>
          </a:prstGeom>
          <a:noFill/>
          <a:ln>
            <a:noFill/>
          </a:ln>
        </p:spPr>
        <p:txBody>
          <a:bodyPr lIns="91425" tIns="45700" rIns="91425" bIns="45700" anchor="ctr" anchorCtr="0">
            <a:noAutofit/>
          </a:bodyPr>
          <a:lstStyle/>
          <a:p>
            <a:pPr marL="0" marR="0" lvl="0" indent="0" rtl="0">
              <a:spcBef>
                <a:spcPts val="0"/>
              </a:spcBef>
              <a:buClr>
                <a:schemeClr val="dk1"/>
              </a:buClr>
              <a:buSzPct val="25000"/>
              <a:buFont typeface="Libre Baskerville"/>
              <a:buNone/>
            </a:pPr>
            <a:r>
              <a:rPr lang="en-US" sz="4000" b="0" i="0" u="none" strike="noStrike" cap="none" dirty="0">
                <a:solidFill>
                  <a:schemeClr val="dk1"/>
                </a:solidFill>
                <a:latin typeface="Libre Baskerville"/>
                <a:ea typeface="Libre Baskerville"/>
                <a:cs typeface="Libre Baskerville"/>
                <a:sym typeface="Libre Baskerville"/>
              </a:rPr>
              <a:t>Full Spiral Model</a:t>
            </a:r>
            <a:endParaRPr lang="en-US" sz="4000" b="0" i="0" u="none" strike="noStrike" cap="none" dirty="0">
              <a:solidFill>
                <a:schemeClr val="dk1"/>
              </a:solidFill>
              <a:latin typeface="Libre Baskerville"/>
              <a:ea typeface="Libre Baskerville"/>
              <a:cs typeface="Libre Baskerville"/>
              <a:sym typeface="Libre Baskerville"/>
            </a:endParaRPr>
          </a:p>
        </p:txBody>
      </p:sp>
      <p:sp>
        <p:nvSpPr>
          <p:cNvPr id="188" name="Shape 188"/>
          <p:cNvSpPr txBox="1">
            <a:spLocks noGrp="1"/>
          </p:cNvSpPr>
          <p:nvPr>
            <p:ph idx="1"/>
          </p:nvPr>
        </p:nvSpPr>
        <p:spPr>
          <a:xfrm>
            <a:off x="0" y="1884379"/>
            <a:ext cx="2982351" cy="4367427"/>
          </a:xfrm>
          <a:prstGeom prst="rect">
            <a:avLst/>
          </a:prstGeom>
          <a:noFill/>
          <a:ln>
            <a:noFill/>
          </a:ln>
        </p:spPr>
        <p:txBody>
          <a:bodyPr lIns="91425" tIns="45700" rIns="91425" bIns="45700" anchor="t" anchorCtr="0">
            <a:noAutofit/>
          </a:bodyPr>
          <a:lstStyle/>
          <a:p>
            <a:pPr marL="342900" marR="0" lvl="0" indent="-342900" algn="just" rtl="0">
              <a:lnSpc>
                <a:spcPct val="90000"/>
              </a:lnSpc>
              <a:spcBef>
                <a:spcPts val="0"/>
              </a:spcBef>
              <a:spcAft>
                <a:spcPts val="0"/>
              </a:spcAft>
              <a:buClr>
                <a:schemeClr val="dk1"/>
              </a:buClr>
              <a:buSzPct val="100000"/>
              <a:buFont typeface="Arial" panose="020B0604020202020204"/>
              <a:buChar char="•"/>
            </a:pPr>
            <a:r>
              <a:rPr lang="en-US" b="0" i="0" u="none" strike="noStrike" cap="none" dirty="0">
                <a:solidFill>
                  <a:schemeClr val="dk1"/>
                </a:solidFill>
                <a:latin typeface="Libre Baskerville"/>
                <a:ea typeface="Libre Baskerville"/>
                <a:cs typeface="Libre Baskerville"/>
                <a:sym typeface="Libre Baskerville"/>
              </a:rPr>
              <a:t>If risks cannot be resolved, project is immediately terminated</a:t>
            </a:r>
            <a:endParaRPr lang="en-US" b="0" i="0" u="none" strike="noStrike" cap="none" dirty="0">
              <a:solidFill>
                <a:schemeClr val="dk1"/>
              </a:solidFill>
              <a:latin typeface="Libre Baskerville"/>
              <a:ea typeface="Libre Baskerville"/>
              <a:cs typeface="Libre Baskerville"/>
              <a:sym typeface="Libre Baskerville"/>
            </a:endParaRPr>
          </a:p>
          <a:p>
            <a:pPr marL="342900" marR="0" lvl="0" indent="-342900" algn="just" rtl="0">
              <a:lnSpc>
                <a:spcPct val="90000"/>
              </a:lnSpc>
              <a:spcBef>
                <a:spcPts val="520"/>
              </a:spcBef>
              <a:spcAft>
                <a:spcPts val="0"/>
              </a:spcAft>
              <a:buClr>
                <a:schemeClr val="dk1"/>
              </a:buClr>
              <a:buSzPct val="100000"/>
              <a:buFont typeface="Arial" panose="020B0604020202020204"/>
              <a:buNone/>
            </a:pPr>
            <a:endParaRPr b="0" i="0" u="none" strike="noStrike" cap="none" dirty="0">
              <a:solidFill>
                <a:schemeClr val="dk1"/>
              </a:solidFill>
              <a:latin typeface="Libre Baskerville"/>
              <a:ea typeface="Libre Baskerville"/>
              <a:cs typeface="Libre Baskerville"/>
              <a:sym typeface="Libre Baskerville"/>
            </a:endParaRPr>
          </a:p>
          <a:p>
            <a:pPr marL="342900" marR="0" lvl="0" indent="-342900" algn="just" rtl="0">
              <a:lnSpc>
                <a:spcPct val="90000"/>
              </a:lnSpc>
              <a:spcBef>
                <a:spcPts val="520"/>
              </a:spcBef>
              <a:spcAft>
                <a:spcPts val="0"/>
              </a:spcAft>
              <a:buClr>
                <a:schemeClr val="dk1"/>
              </a:buClr>
              <a:buSzPct val="100000"/>
              <a:buFont typeface="Arial" panose="020B0604020202020204"/>
              <a:buChar char="•"/>
            </a:pPr>
            <a:r>
              <a:rPr lang="en-US" b="0" i="0" u="none" strike="noStrike" cap="none" dirty="0">
                <a:solidFill>
                  <a:schemeClr val="dk1"/>
                </a:solidFill>
                <a:latin typeface="Libre Baskerville"/>
                <a:ea typeface="Libre Baskerville"/>
                <a:cs typeface="Libre Baskerville"/>
                <a:sym typeface="Libre Baskerville"/>
              </a:rPr>
              <a:t>Typical activates:</a:t>
            </a:r>
            <a:endParaRPr lang="en-US" b="0" i="0" u="none" strike="noStrike" cap="none" dirty="0">
              <a:solidFill>
                <a:schemeClr val="dk1"/>
              </a:solidFill>
              <a:latin typeface="Libre Baskerville"/>
              <a:ea typeface="Libre Baskerville"/>
              <a:cs typeface="Libre Baskerville"/>
              <a:sym typeface="Libre Baskerville"/>
            </a:endParaRPr>
          </a:p>
          <a:p>
            <a:pPr marL="742950" marR="0" lvl="1" indent="-285750" algn="just" rtl="0">
              <a:lnSpc>
                <a:spcPct val="90000"/>
              </a:lnSpc>
              <a:spcBef>
                <a:spcPts val="520"/>
              </a:spcBef>
              <a:spcAft>
                <a:spcPts val="0"/>
              </a:spcAft>
              <a:buClr>
                <a:schemeClr val="dk1"/>
              </a:buClr>
              <a:buSzPct val="100000"/>
              <a:buFont typeface="Arial" panose="020B0604020202020204"/>
              <a:buChar char="–"/>
            </a:pPr>
            <a:r>
              <a:rPr lang="en-US" sz="2000" b="0" i="0" u="none" strike="noStrike" cap="none" dirty="0">
                <a:solidFill>
                  <a:schemeClr val="dk1"/>
                </a:solidFill>
                <a:latin typeface="Libre Baskerville"/>
                <a:ea typeface="Libre Baskerville"/>
                <a:cs typeface="Libre Baskerville"/>
                <a:sym typeface="Libre Baskerville"/>
              </a:rPr>
              <a:t>Create a design</a:t>
            </a:r>
            <a:endParaRPr lang="en-US" sz="2000" b="0" i="0" u="none" strike="noStrike" cap="none" dirty="0">
              <a:solidFill>
                <a:schemeClr val="dk1"/>
              </a:solidFill>
              <a:latin typeface="Libre Baskerville"/>
              <a:ea typeface="Libre Baskerville"/>
              <a:cs typeface="Libre Baskerville"/>
              <a:sym typeface="Libre Baskerville"/>
            </a:endParaRPr>
          </a:p>
          <a:p>
            <a:pPr marL="742950" marR="0" lvl="1" indent="-285750" algn="just" rtl="0">
              <a:lnSpc>
                <a:spcPct val="90000"/>
              </a:lnSpc>
              <a:spcBef>
                <a:spcPts val="520"/>
              </a:spcBef>
              <a:spcAft>
                <a:spcPts val="0"/>
              </a:spcAft>
              <a:buClr>
                <a:schemeClr val="dk1"/>
              </a:buClr>
              <a:buSzPct val="100000"/>
              <a:buFont typeface="Arial" panose="020B0604020202020204"/>
              <a:buChar char="–"/>
            </a:pPr>
            <a:r>
              <a:rPr lang="en-US" sz="2000" b="0" i="0" u="none" strike="noStrike" cap="none" dirty="0">
                <a:solidFill>
                  <a:schemeClr val="dk1"/>
                </a:solidFill>
                <a:latin typeface="Libre Baskerville"/>
                <a:ea typeface="Libre Baskerville"/>
                <a:cs typeface="Libre Baskerville"/>
                <a:sym typeface="Libre Baskerville"/>
              </a:rPr>
              <a:t>Review design</a:t>
            </a:r>
            <a:endParaRPr lang="en-US" sz="2000" b="0" i="0" u="none" strike="noStrike" cap="none" dirty="0">
              <a:solidFill>
                <a:schemeClr val="dk1"/>
              </a:solidFill>
              <a:latin typeface="Libre Baskerville"/>
              <a:ea typeface="Libre Baskerville"/>
              <a:cs typeface="Libre Baskerville"/>
              <a:sym typeface="Libre Baskerville"/>
            </a:endParaRPr>
          </a:p>
          <a:p>
            <a:pPr marL="742950" marR="0" lvl="1" indent="-285750" algn="just" rtl="0">
              <a:lnSpc>
                <a:spcPct val="90000"/>
              </a:lnSpc>
              <a:spcBef>
                <a:spcPts val="520"/>
              </a:spcBef>
              <a:spcAft>
                <a:spcPts val="0"/>
              </a:spcAft>
              <a:buClr>
                <a:schemeClr val="dk1"/>
              </a:buClr>
              <a:buSzPct val="100000"/>
              <a:buFont typeface="Arial" panose="020B0604020202020204"/>
              <a:buChar char="–"/>
            </a:pPr>
            <a:r>
              <a:rPr lang="en-US" sz="2000" b="0" i="0" u="none" strike="noStrike" cap="none" dirty="0">
                <a:solidFill>
                  <a:schemeClr val="dk1"/>
                </a:solidFill>
                <a:latin typeface="Libre Baskerville"/>
                <a:ea typeface="Libre Baskerville"/>
                <a:cs typeface="Libre Baskerville"/>
                <a:sym typeface="Libre Baskerville"/>
              </a:rPr>
              <a:t>Develop code</a:t>
            </a:r>
            <a:endParaRPr lang="en-US" sz="2000" b="0" i="0" u="none" strike="noStrike" cap="none" dirty="0">
              <a:solidFill>
                <a:schemeClr val="dk1"/>
              </a:solidFill>
              <a:latin typeface="Libre Baskerville"/>
              <a:ea typeface="Libre Baskerville"/>
              <a:cs typeface="Libre Baskerville"/>
              <a:sym typeface="Libre Baskerville"/>
            </a:endParaRPr>
          </a:p>
          <a:p>
            <a:pPr marL="742950" marR="0" lvl="1" indent="-285750" algn="just" rtl="0">
              <a:lnSpc>
                <a:spcPct val="90000"/>
              </a:lnSpc>
              <a:spcBef>
                <a:spcPts val="520"/>
              </a:spcBef>
              <a:spcAft>
                <a:spcPts val="0"/>
              </a:spcAft>
              <a:buClr>
                <a:schemeClr val="dk1"/>
              </a:buClr>
              <a:buSzPct val="100000"/>
              <a:buFont typeface="Arial" panose="020B0604020202020204"/>
              <a:buChar char="–"/>
            </a:pPr>
            <a:r>
              <a:rPr lang="en-US" sz="2000" b="0" i="0" u="none" strike="noStrike" cap="none" dirty="0">
                <a:solidFill>
                  <a:schemeClr val="dk1"/>
                </a:solidFill>
                <a:latin typeface="Libre Baskerville"/>
                <a:ea typeface="Libre Baskerville"/>
                <a:cs typeface="Libre Baskerville"/>
                <a:sym typeface="Libre Baskerville"/>
              </a:rPr>
              <a:t>Inspect code</a:t>
            </a:r>
            <a:endParaRPr lang="en-US" sz="2000" b="0" i="0" u="none" strike="noStrike" cap="none" dirty="0">
              <a:solidFill>
                <a:schemeClr val="dk1"/>
              </a:solidFill>
              <a:latin typeface="Libre Baskerville"/>
              <a:ea typeface="Libre Baskerville"/>
              <a:cs typeface="Libre Baskerville"/>
              <a:sym typeface="Libre Baskerville"/>
            </a:endParaRPr>
          </a:p>
          <a:p>
            <a:pPr marL="742950" marR="0" lvl="1" indent="-285750" algn="just" rtl="0">
              <a:lnSpc>
                <a:spcPct val="90000"/>
              </a:lnSpc>
              <a:spcBef>
                <a:spcPts val="520"/>
              </a:spcBef>
              <a:spcAft>
                <a:spcPts val="0"/>
              </a:spcAft>
              <a:buClr>
                <a:schemeClr val="dk1"/>
              </a:buClr>
              <a:buSzPct val="100000"/>
              <a:buFont typeface="Arial" panose="020B0604020202020204"/>
              <a:buChar char="–"/>
            </a:pPr>
            <a:r>
              <a:rPr lang="en-US" sz="2000" b="0" i="0" u="none" strike="noStrike" cap="none" dirty="0">
                <a:solidFill>
                  <a:schemeClr val="dk1"/>
                </a:solidFill>
                <a:latin typeface="Libre Baskerville"/>
                <a:ea typeface="Libre Baskerville"/>
                <a:cs typeface="Libre Baskerville"/>
                <a:sym typeface="Libre Baskerville"/>
              </a:rPr>
              <a:t>Test product</a:t>
            </a:r>
            <a:endParaRPr lang="en-US" sz="2000" b="0" i="0" u="none" strike="noStrike" cap="none" dirty="0">
              <a:solidFill>
                <a:schemeClr val="dk1"/>
              </a:solidFill>
              <a:latin typeface="Libre Baskerville"/>
              <a:ea typeface="Libre Baskerville"/>
              <a:cs typeface="Libre Baskerville"/>
              <a:sym typeface="Libre Baskerville"/>
            </a:endParaRPr>
          </a:p>
          <a:p>
            <a:pPr marL="342900" marR="0" lvl="0" indent="-342900" algn="just" rtl="0">
              <a:lnSpc>
                <a:spcPct val="90000"/>
              </a:lnSpc>
              <a:spcBef>
                <a:spcPts val="520"/>
              </a:spcBef>
              <a:buClr>
                <a:schemeClr val="dk1"/>
              </a:buClr>
              <a:buSzPct val="100000"/>
              <a:buFont typeface="Arial" panose="020B0604020202020204"/>
              <a:buNone/>
            </a:pPr>
            <a:endParaRPr b="0" i="0" u="none" strike="noStrike" cap="none" dirty="0">
              <a:solidFill>
                <a:schemeClr val="dk1"/>
              </a:solidFill>
              <a:latin typeface="Libre Baskerville"/>
              <a:ea typeface="Libre Baskerville"/>
              <a:cs typeface="Libre Baskerville"/>
              <a:sym typeface="Libre Baskerville"/>
            </a:endParaRPr>
          </a:p>
        </p:txBody>
      </p:sp>
      <p:pic>
        <p:nvPicPr>
          <p:cNvPr id="187" name="Shape 187"/>
          <p:cNvPicPr preferRelativeResize="0"/>
          <p:nvPr/>
        </p:nvPicPr>
        <p:blipFill rotWithShape="1">
          <a:blip r:embed="rId1"/>
          <a:srcRect/>
          <a:stretch>
            <a:fillRect/>
          </a:stretch>
        </p:blipFill>
        <p:spPr>
          <a:xfrm>
            <a:off x="2982351" y="1794457"/>
            <a:ext cx="5918111" cy="4471417"/>
          </a:xfrm>
          <a:prstGeom prst="rect">
            <a:avLst/>
          </a:prstGeom>
          <a:noFill/>
          <a:ln>
            <a:noFill/>
          </a:ln>
        </p:spPr>
      </p:pic>
      <p:sp>
        <p:nvSpPr>
          <p:cNvPr id="4" name="Slide Number Placeholder 3"/>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bg1"/>
                </a:solidFill>
                <a:latin typeface="Calibri" panose="020F0502020204030204"/>
                <a:ea typeface="Calibri" panose="020F0502020204030204"/>
                <a:cs typeface="Calibri" panose="020F0502020204030204"/>
                <a:sym typeface="Calibri" panose="020F0502020204030204"/>
              </a:rPr>
            </a:fld>
            <a:endParaRPr lang="en-US" sz="1200" b="0" i="0" u="none" strike="noStrike" cap="none" dirty="0">
              <a:solidFill>
                <a:schemeClr val="bg1"/>
              </a:solidFill>
              <a:latin typeface="Calibri" panose="020F0502020204030204"/>
              <a:ea typeface="Calibri" panose="020F0502020204030204"/>
              <a:cs typeface="Calibri" panose="020F0502020204030204"/>
              <a:sym typeface="Calibri" panose="020F0502020204030204"/>
            </a:endParaRPr>
          </a:p>
        </p:txBody>
      </p:sp>
      <p:sp>
        <p:nvSpPr>
          <p:cNvPr id="2" name="Date Placeholder 1"/>
          <p:cNvSpPr>
            <a:spLocks noGrp="1"/>
          </p:cNvSpPr>
          <p:nvPr>
            <p:ph type="dt" sz="half" idx="10"/>
          </p:nvPr>
        </p:nvSpPr>
        <p:spPr/>
        <p:txBody>
          <a:bodyPr/>
          <a:lstStyle/>
          <a:p>
            <a:pPr>
              <a:defRPr/>
            </a:pPr>
            <a:fld id="{19B1C3FF-FC48-458A-8FD9-4BCC54AA263C}" type="datetime1">
              <a:rPr lang="en-US" smtClean="0"/>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Spiral Model of the Software Process</a:t>
            </a:r>
            <a:endParaRPr lang="en-US" dirty="0"/>
          </a:p>
        </p:txBody>
      </p:sp>
      <p:pic>
        <p:nvPicPr>
          <p:cNvPr id="7" name="Picture 3"/>
          <p:cNvPicPr>
            <a:picLocks noGrp="1" noChangeArrowheads="1"/>
          </p:cNvPicPr>
          <p:nvPr>
            <p:ph idx="1"/>
          </p:nvPr>
        </p:nvPicPr>
        <p:blipFill>
          <a:blip r:embed="rId1" cstate="print"/>
          <a:srcRect/>
          <a:stretch>
            <a:fillRect/>
          </a:stretch>
        </p:blipFill>
        <p:spPr bwMode="auto">
          <a:xfrm>
            <a:off x="152400" y="1600200"/>
            <a:ext cx="8991600" cy="5029200"/>
          </a:xfrm>
          <a:prstGeom prst="rect">
            <a:avLst/>
          </a:prstGeom>
          <a:noFill/>
          <a:ln w="12700">
            <a:noFill/>
            <a:miter lim="800000"/>
            <a:headEnd/>
            <a:tailEnd/>
          </a:ln>
          <a:effectLst/>
        </p:spPr>
      </p:pic>
      <p:sp>
        <p:nvSpPr>
          <p:cNvPr id="9" name="Date Placeholder 8"/>
          <p:cNvSpPr>
            <a:spLocks noGrp="1"/>
          </p:cNvSpPr>
          <p:nvPr>
            <p:ph type="dt" sz="half" idx="10"/>
          </p:nvPr>
        </p:nvSpPr>
        <p:spPr/>
        <p:txBody>
          <a:bodyPr/>
          <a:lstStyle/>
          <a:p>
            <a:pPr>
              <a:defRPr/>
            </a:pPr>
            <a:fld id="{B1E3DC8D-9464-4224-BF70-11A886EBB18B}"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Spiral Model Sectors</a:t>
            </a:r>
            <a:endParaRPr lang="en-US" dirty="0"/>
          </a:p>
        </p:txBody>
      </p:sp>
      <p:sp>
        <p:nvSpPr>
          <p:cNvPr id="3" name="Content Placeholder 2"/>
          <p:cNvSpPr>
            <a:spLocks noGrp="1"/>
          </p:cNvSpPr>
          <p:nvPr>
            <p:ph idx="1"/>
          </p:nvPr>
        </p:nvSpPr>
        <p:spPr/>
        <p:txBody>
          <a:bodyPr/>
          <a:lstStyle/>
          <a:p>
            <a:pPr>
              <a:buNone/>
            </a:pPr>
            <a:endParaRPr lang="en-GB" sz="2200" dirty="0"/>
          </a:p>
          <a:p>
            <a:pPr>
              <a:buNone/>
            </a:pPr>
            <a:r>
              <a:rPr lang="en-GB" sz="2200" dirty="0"/>
              <a:t>Each loop in spiral is split into four sectors</a:t>
            </a:r>
            <a:endParaRPr lang="en-GB" sz="2200" dirty="0"/>
          </a:p>
          <a:p>
            <a:endParaRPr lang="en-GB" sz="2200" dirty="0"/>
          </a:p>
          <a:p>
            <a:pPr marL="0" indent="0">
              <a:buNone/>
            </a:pPr>
            <a:r>
              <a:rPr lang="en-GB" sz="2200" b="1" dirty="0"/>
              <a:t>Objective setting</a:t>
            </a:r>
            <a:endParaRPr lang="en-GB" sz="2200" b="1" dirty="0"/>
          </a:p>
          <a:p>
            <a:pPr lvl="1"/>
            <a:r>
              <a:rPr lang="en-GB" sz="2200" dirty="0"/>
              <a:t>Specific objectives for that phase of the project are identified</a:t>
            </a:r>
            <a:endParaRPr lang="en-GB" sz="2200" dirty="0"/>
          </a:p>
          <a:p>
            <a:pPr lvl="1"/>
            <a:r>
              <a:rPr lang="en-GB" sz="2200" dirty="0"/>
              <a:t> Identify Constraints </a:t>
            </a:r>
            <a:r>
              <a:rPr lang="en-GB" sz="2200" dirty="0">
                <a:sym typeface="Wingdings" panose="05000000000000000000" pitchFamily="2" charset="2"/>
              </a:rPr>
              <a:t> on process &amp; product.</a:t>
            </a:r>
            <a:endParaRPr lang="en-GB" sz="2200" dirty="0">
              <a:sym typeface="Wingdings" panose="05000000000000000000" pitchFamily="2" charset="2"/>
            </a:endParaRPr>
          </a:p>
          <a:p>
            <a:pPr lvl="1"/>
            <a:r>
              <a:rPr lang="en-GB" sz="2200" dirty="0">
                <a:sym typeface="Wingdings" panose="05000000000000000000" pitchFamily="2" charset="2"/>
              </a:rPr>
              <a:t> </a:t>
            </a:r>
            <a:r>
              <a:rPr lang="en-GB" sz="2200" dirty="0"/>
              <a:t>Detail management plan is drawn up</a:t>
            </a:r>
            <a:endParaRPr lang="en-GB" sz="2200" dirty="0"/>
          </a:p>
          <a:p>
            <a:pPr lvl="1"/>
            <a:r>
              <a:rPr lang="en-GB" sz="2200" dirty="0"/>
              <a:t> Identify Project risks</a:t>
            </a:r>
            <a:endParaRPr lang="en-GB" sz="2200" dirty="0"/>
          </a:p>
          <a:p>
            <a:pPr lvl="1"/>
            <a:r>
              <a:rPr lang="en-GB" sz="2200" dirty="0"/>
              <a:t> Alternative strategies on these risks ...may be planned </a:t>
            </a:r>
            <a:endParaRPr lang="en-GB" sz="2200" dirty="0"/>
          </a:p>
          <a:p>
            <a:endParaRPr lang="en-US" dirty="0"/>
          </a:p>
        </p:txBody>
      </p:sp>
      <p:sp>
        <p:nvSpPr>
          <p:cNvPr id="9" name="Date Placeholder 8"/>
          <p:cNvSpPr>
            <a:spLocks noGrp="1"/>
          </p:cNvSpPr>
          <p:nvPr>
            <p:ph type="dt" sz="half" idx="10"/>
          </p:nvPr>
        </p:nvSpPr>
        <p:spPr/>
        <p:txBody>
          <a:bodyPr/>
          <a:lstStyle/>
          <a:p>
            <a:pPr>
              <a:defRPr/>
            </a:pPr>
            <a:fld id="{64029AB7-2752-4C96-A8C7-4AEA8ADD387A}"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Spiral Model Sectors</a:t>
            </a:r>
            <a:endParaRPr lang="en-US" dirty="0"/>
          </a:p>
        </p:txBody>
      </p:sp>
      <p:sp>
        <p:nvSpPr>
          <p:cNvPr id="3" name="Content Placeholder 2"/>
          <p:cNvSpPr>
            <a:spLocks noGrp="1"/>
          </p:cNvSpPr>
          <p:nvPr>
            <p:ph idx="1"/>
          </p:nvPr>
        </p:nvSpPr>
        <p:spPr/>
        <p:txBody>
          <a:bodyPr>
            <a:normAutofit fontScale="92500"/>
          </a:bodyPr>
          <a:lstStyle/>
          <a:p>
            <a:pPr>
              <a:buNone/>
            </a:pPr>
            <a:r>
              <a:rPr lang="en-GB" sz="2200" b="1" dirty="0"/>
              <a:t>Risk assessment and reduction</a:t>
            </a:r>
            <a:endParaRPr lang="en-GB" sz="2200" b="1" dirty="0"/>
          </a:p>
          <a:p>
            <a:pPr marL="727075" lvl="2" indent="-342900">
              <a:buClr>
                <a:schemeClr val="bg1">
                  <a:lumMod val="50000"/>
                </a:schemeClr>
              </a:buClr>
            </a:pPr>
            <a:r>
              <a:rPr lang="en-GB" sz="2200" dirty="0"/>
              <a:t>For every identified risk </a:t>
            </a:r>
            <a:r>
              <a:rPr lang="en-GB" sz="2200" dirty="0">
                <a:sym typeface="Wingdings" panose="05000000000000000000" pitchFamily="2" charset="2"/>
              </a:rPr>
              <a:t> Detailed analysis is carried out</a:t>
            </a:r>
            <a:endParaRPr lang="en-GB" sz="2200" dirty="0">
              <a:sym typeface="Wingdings" panose="05000000000000000000" pitchFamily="2" charset="2"/>
            </a:endParaRPr>
          </a:p>
          <a:p>
            <a:pPr marL="727075" lvl="2" indent="-342900">
              <a:buClr>
                <a:schemeClr val="bg1">
                  <a:lumMod val="50000"/>
                </a:schemeClr>
              </a:buClr>
            </a:pPr>
            <a:r>
              <a:rPr lang="en-GB" sz="2200" dirty="0">
                <a:sym typeface="Wingdings" panose="05000000000000000000" pitchFamily="2" charset="2"/>
              </a:rPr>
              <a:t>Steps are taken to reduce the risk</a:t>
            </a:r>
            <a:endParaRPr lang="en-GB" sz="2200" dirty="0">
              <a:sym typeface="Wingdings" panose="05000000000000000000" pitchFamily="2" charset="2"/>
            </a:endParaRPr>
          </a:p>
          <a:p>
            <a:pPr marL="109855" lvl="1" indent="0">
              <a:buClr>
                <a:schemeClr val="bg1">
                  <a:lumMod val="50000"/>
                </a:schemeClr>
              </a:buClr>
              <a:buNone/>
            </a:pPr>
            <a:r>
              <a:rPr lang="en-GB" sz="2200" dirty="0"/>
              <a:t>E.g. </a:t>
            </a:r>
            <a:endParaRPr lang="en-GB" sz="2200" dirty="0"/>
          </a:p>
          <a:p>
            <a:pPr marL="365760" lvl="1" indent="-255905">
              <a:buClr>
                <a:schemeClr val="accent3"/>
              </a:buClr>
              <a:buNone/>
            </a:pPr>
            <a:r>
              <a:rPr lang="en-GB" sz="2200" b="1" dirty="0"/>
              <a:t>Risk : </a:t>
            </a:r>
            <a:endParaRPr lang="en-GB" sz="2200" b="1" dirty="0"/>
          </a:p>
          <a:p>
            <a:pPr marL="365760" lvl="1" indent="-255905">
              <a:buClr>
                <a:schemeClr val="accent3"/>
              </a:buClr>
              <a:buNone/>
            </a:pPr>
            <a:r>
              <a:rPr lang="en-GB" sz="2200" dirty="0"/>
              <a:t>	Requirements are inappropriate</a:t>
            </a:r>
            <a:endParaRPr lang="en-GB" sz="2200" dirty="0"/>
          </a:p>
          <a:p>
            <a:pPr marL="365760" lvl="1" indent="-255905">
              <a:buClr>
                <a:schemeClr val="accent3"/>
              </a:buClr>
              <a:buNone/>
            </a:pPr>
            <a:r>
              <a:rPr lang="en-GB" sz="2200" b="1" dirty="0"/>
              <a:t>Solution / Strategy</a:t>
            </a:r>
            <a:endParaRPr lang="en-GB" sz="2200" b="1" dirty="0"/>
          </a:p>
          <a:p>
            <a:pPr marL="365760" lvl="1" indent="-255905">
              <a:buClr>
                <a:schemeClr val="accent3"/>
              </a:buClr>
              <a:buNone/>
            </a:pPr>
            <a:r>
              <a:rPr lang="en-GB" sz="2200" dirty="0"/>
              <a:t>	A prototype system may be developed</a:t>
            </a:r>
            <a:endParaRPr lang="en-GB" sz="2200" dirty="0"/>
          </a:p>
          <a:p>
            <a:pPr>
              <a:lnSpc>
                <a:spcPct val="120000"/>
              </a:lnSpc>
              <a:buNone/>
            </a:pPr>
            <a:r>
              <a:rPr lang="en-US" sz="2200" dirty="0"/>
              <a:t>* Risks are</a:t>
            </a:r>
            <a:endParaRPr lang="en-US" sz="2200" dirty="0"/>
          </a:p>
          <a:p>
            <a:pPr marL="727075" lvl="2" indent="-342900">
              <a:buClr>
                <a:schemeClr val="bg1">
                  <a:lumMod val="50000"/>
                </a:schemeClr>
              </a:buClr>
            </a:pPr>
            <a:r>
              <a:rPr lang="en-US" sz="2200" dirty="0"/>
              <a:t>poorly understood requirements</a:t>
            </a:r>
            <a:endParaRPr lang="en-US" sz="2200" dirty="0"/>
          </a:p>
          <a:p>
            <a:pPr marL="727075" lvl="2" indent="-342900">
              <a:buClr>
                <a:schemeClr val="bg1">
                  <a:lumMod val="50000"/>
                </a:schemeClr>
              </a:buClr>
            </a:pPr>
            <a:r>
              <a:rPr lang="en-US" sz="2200" dirty="0"/>
              <a:t>poorly understood architecture</a:t>
            </a:r>
            <a:endParaRPr lang="en-US" sz="2200" dirty="0"/>
          </a:p>
          <a:p>
            <a:pPr marL="727075" lvl="2" indent="-342900">
              <a:buClr>
                <a:schemeClr val="bg1">
                  <a:lumMod val="50000"/>
                </a:schemeClr>
              </a:buClr>
            </a:pPr>
            <a:r>
              <a:rPr lang="en-US" sz="2200" dirty="0"/>
              <a:t>performance problems</a:t>
            </a:r>
            <a:endParaRPr lang="en-US" sz="2200" dirty="0"/>
          </a:p>
          <a:p>
            <a:pPr marL="727075" lvl="2" indent="-342900">
              <a:buClr>
                <a:schemeClr val="bg1">
                  <a:lumMod val="50000"/>
                </a:schemeClr>
              </a:buClr>
            </a:pPr>
            <a:r>
              <a:rPr lang="en-US" sz="2200" dirty="0"/>
              <a:t>important missing features</a:t>
            </a:r>
            <a:endParaRPr lang="en-US" sz="2200" dirty="0"/>
          </a:p>
          <a:p>
            <a:endParaRPr lang="en-US" dirty="0"/>
          </a:p>
        </p:txBody>
      </p:sp>
      <p:sp>
        <p:nvSpPr>
          <p:cNvPr id="9" name="Date Placeholder 8"/>
          <p:cNvSpPr>
            <a:spLocks noGrp="1"/>
          </p:cNvSpPr>
          <p:nvPr>
            <p:ph type="dt" sz="half" idx="10"/>
          </p:nvPr>
        </p:nvSpPr>
        <p:spPr/>
        <p:txBody>
          <a:bodyPr/>
          <a:lstStyle/>
          <a:p>
            <a:pPr>
              <a:defRPr/>
            </a:pPr>
            <a:fld id="{8E1F2FC0-D224-42CE-8024-2A1D0CF3D3D8}"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Spiral Model Sectors</a:t>
            </a:r>
            <a:endParaRPr lang="en-US" dirty="0"/>
          </a:p>
        </p:txBody>
      </p:sp>
      <p:sp>
        <p:nvSpPr>
          <p:cNvPr id="3" name="Content Placeholder 2"/>
          <p:cNvSpPr>
            <a:spLocks noGrp="1"/>
          </p:cNvSpPr>
          <p:nvPr>
            <p:ph idx="1"/>
          </p:nvPr>
        </p:nvSpPr>
        <p:spPr/>
        <p:txBody>
          <a:bodyPr/>
          <a:lstStyle/>
          <a:p>
            <a:pPr marL="0" indent="0" algn="just">
              <a:buNone/>
            </a:pPr>
            <a:r>
              <a:rPr lang="en-GB" sz="2200" b="1" dirty="0"/>
              <a:t>Development and validation</a:t>
            </a:r>
            <a:endParaRPr lang="en-GB" sz="2200" b="1" dirty="0"/>
          </a:p>
          <a:p>
            <a:pPr lvl="1" algn="just"/>
            <a:r>
              <a:rPr lang="en-GB" sz="2200" dirty="0"/>
              <a:t>A development model for the system is chosen  which can be any of the generic models</a:t>
            </a:r>
            <a:endParaRPr lang="en-GB" sz="2200" dirty="0"/>
          </a:p>
          <a:p>
            <a:pPr lvl="1" algn="just"/>
            <a:r>
              <a:rPr lang="en-GB" sz="2200" dirty="0"/>
              <a:t>For example, if user interface risks are dominant, an appropriate model may be “Evolutionary Prototyping”.</a:t>
            </a:r>
            <a:endParaRPr lang="en-GB" sz="2200" dirty="0"/>
          </a:p>
          <a:p>
            <a:pPr lvl="1" algn="just"/>
            <a:r>
              <a:rPr lang="en-GB" sz="2200" dirty="0"/>
              <a:t>Selection of model will depend on your risk analysis.</a:t>
            </a:r>
            <a:endParaRPr lang="en-GB" sz="2200" dirty="0"/>
          </a:p>
          <a:p>
            <a:pPr marL="0" indent="0" algn="just">
              <a:buNone/>
            </a:pPr>
            <a:r>
              <a:rPr lang="en-GB" sz="2200" b="1" dirty="0"/>
              <a:t>Planning</a:t>
            </a:r>
            <a:endParaRPr lang="en-GB" sz="2200" b="1" dirty="0"/>
          </a:p>
          <a:p>
            <a:pPr lvl="1" algn="just"/>
            <a:r>
              <a:rPr lang="en-GB" sz="2200" dirty="0"/>
              <a:t>The project is reviewed </a:t>
            </a:r>
            <a:endParaRPr lang="en-GB" sz="2200" dirty="0"/>
          </a:p>
          <a:p>
            <a:pPr lvl="1" algn="just"/>
            <a:r>
              <a:rPr lang="en-GB" sz="2200" dirty="0"/>
              <a:t>Decision made whether to continue with a further loop of the spiral</a:t>
            </a:r>
            <a:endParaRPr lang="en-GB" sz="2200" dirty="0"/>
          </a:p>
          <a:p>
            <a:pPr lvl="1" algn="just"/>
            <a:r>
              <a:rPr lang="en-GB" sz="2200" dirty="0"/>
              <a:t>If decided to continue, the next phase of the spiral is planned</a:t>
            </a:r>
            <a:endParaRPr lang="en-GB" sz="2200" dirty="0"/>
          </a:p>
          <a:p>
            <a:endParaRPr lang="en-US" dirty="0"/>
          </a:p>
        </p:txBody>
      </p:sp>
      <p:sp>
        <p:nvSpPr>
          <p:cNvPr id="9" name="Date Placeholder 8"/>
          <p:cNvSpPr>
            <a:spLocks noGrp="1"/>
          </p:cNvSpPr>
          <p:nvPr>
            <p:ph type="dt" sz="half" idx="10"/>
          </p:nvPr>
        </p:nvSpPr>
        <p:spPr/>
        <p:txBody>
          <a:bodyPr/>
          <a:lstStyle/>
          <a:p>
            <a:pPr>
              <a:defRPr/>
            </a:pPr>
            <a:fld id="{04C40A36-B4B9-443A-9DBB-531F464E2244}"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Spiral Model(Example)</a:t>
            </a:r>
            <a:endParaRPr lang="en-US" dirty="0"/>
          </a:p>
        </p:txBody>
      </p:sp>
      <p:sp>
        <p:nvSpPr>
          <p:cNvPr id="3" name="Content Placeholder 2"/>
          <p:cNvSpPr>
            <a:spLocks noGrp="1"/>
          </p:cNvSpPr>
          <p:nvPr>
            <p:ph idx="1"/>
          </p:nvPr>
        </p:nvSpPr>
        <p:spPr/>
        <p:txBody>
          <a:bodyPr/>
          <a:lstStyle/>
          <a:p>
            <a:pPr algn="just"/>
            <a:r>
              <a:rPr lang="en-US" dirty="0"/>
              <a:t>The evolution of Microsoft Operating System, Compilers and other operating systems. </a:t>
            </a:r>
            <a:endParaRPr lang="en-US" dirty="0"/>
          </a:p>
          <a:p>
            <a:pPr marL="0" indent="0">
              <a:buNone/>
            </a:pPr>
            <a:endParaRPr lang="en-US" dirty="0"/>
          </a:p>
        </p:txBody>
      </p:sp>
      <p:sp>
        <p:nvSpPr>
          <p:cNvPr id="9" name="Date Placeholder 8"/>
          <p:cNvSpPr>
            <a:spLocks noGrp="1"/>
          </p:cNvSpPr>
          <p:nvPr>
            <p:ph type="dt" sz="half" idx="10"/>
          </p:nvPr>
        </p:nvSpPr>
        <p:spPr/>
        <p:txBody>
          <a:bodyPr/>
          <a:lstStyle/>
          <a:p>
            <a:pPr>
              <a:defRPr/>
            </a:pPr>
            <a:fld id="{6A7C1CFD-7F1A-4E5B-AECB-735EE39563BC}" type="datetime1">
              <a:rPr lang="en-US" smtClean="0"/>
            </a:fld>
            <a:endParaRPr lang="en-US"/>
          </a:p>
        </p:txBody>
      </p:sp>
      <p:sp>
        <p:nvSpPr>
          <p:cNvPr id="11" name="Slide Number Placeholder 10"/>
          <p:cNvSpPr>
            <a:spLocks noGrp="1"/>
          </p:cNvSpPr>
          <p:nvPr>
            <p:ph type="sldNum" sz="quarter" idx="12"/>
          </p:nvPr>
        </p:nvSpPr>
        <p:spPr/>
        <p:txBody>
          <a:bodyPr/>
          <a:lstStyle/>
          <a:p>
            <a:pPr>
              <a:defRPr/>
            </a:pPr>
            <a:fld id="{4CECA143-544A-4A15-A433-D0FA028FC3E0}" type="slidenum">
              <a:rPr lang="en-US" smtClean="0"/>
            </a:fld>
            <a:endParaRPr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17548</Words>
  <Application>WPS Presentation</Application>
  <PresentationFormat>On-screen Show (4:3)</PresentationFormat>
  <Paragraphs>795</Paragraphs>
  <Slides>58</Slides>
  <Notes>2</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58</vt:i4>
      </vt:variant>
    </vt:vector>
  </HeadingPairs>
  <TitlesOfParts>
    <vt:vector size="72" baseType="lpstr">
      <vt:lpstr>Arial</vt:lpstr>
      <vt:lpstr>SimSun</vt:lpstr>
      <vt:lpstr>Wingdings</vt:lpstr>
      <vt:lpstr>Times New Roman</vt:lpstr>
      <vt:lpstr>Georgia</vt:lpstr>
      <vt:lpstr>Microsoft YaHei</vt:lpstr>
      <vt:lpstr>Arial Unicode MS</vt:lpstr>
      <vt:lpstr>Calibri</vt:lpstr>
      <vt:lpstr>Tahoma</vt:lpstr>
      <vt:lpstr>Libre Baskerville</vt:lpstr>
      <vt:lpstr>Segoe Print</vt:lpstr>
      <vt:lpstr>Arial</vt:lpstr>
      <vt:lpstr>Calibri</vt:lpstr>
      <vt:lpstr>Clarity</vt:lpstr>
      <vt:lpstr>     CSSE3113 – Introduction to Software Engineering  </vt:lpstr>
      <vt:lpstr>Software Development</vt:lpstr>
      <vt:lpstr>Figure 1: Development Activities</vt:lpstr>
      <vt:lpstr>Ad hoc Software Development</vt:lpstr>
      <vt:lpstr>Case Study : SaudiTech</vt:lpstr>
      <vt:lpstr>How can we overcome problems with ad hoc software development?</vt:lpstr>
      <vt:lpstr>The Software Process</vt:lpstr>
      <vt:lpstr>Software Process Descriptions</vt:lpstr>
      <vt:lpstr>  Plan-driven and Agile Processes </vt:lpstr>
      <vt:lpstr>  Plan-driven and Agile Processes </vt:lpstr>
      <vt:lpstr>  Plan-driven and Agile Processes </vt:lpstr>
      <vt:lpstr>Software Process/SDLC Models</vt:lpstr>
      <vt:lpstr>Waterfall Model</vt:lpstr>
      <vt:lpstr>Waterfall Model</vt:lpstr>
      <vt:lpstr>Waterfall Model</vt:lpstr>
      <vt:lpstr>Waterfall Model</vt:lpstr>
      <vt:lpstr>Waterfall Model</vt:lpstr>
      <vt:lpstr>Waterfall Model</vt:lpstr>
      <vt:lpstr>Waterfall Model</vt:lpstr>
      <vt:lpstr>V Model</vt:lpstr>
      <vt:lpstr>Verification and Validation</vt:lpstr>
      <vt:lpstr>V Model</vt:lpstr>
      <vt:lpstr>V Model Verification Phases</vt:lpstr>
      <vt:lpstr>V Model Verification Phases</vt:lpstr>
      <vt:lpstr>V Model</vt:lpstr>
      <vt:lpstr>V Model Validation Phases</vt:lpstr>
      <vt:lpstr>V Model Validation Phases</vt:lpstr>
      <vt:lpstr>V Model</vt:lpstr>
      <vt:lpstr>V Model</vt:lpstr>
      <vt:lpstr>Evolutionary Models</vt:lpstr>
      <vt:lpstr>Evolutionary Models</vt:lpstr>
      <vt:lpstr>Exploratory Models</vt:lpstr>
      <vt:lpstr>Exploratory Model</vt:lpstr>
      <vt:lpstr>Evolutionary Models</vt:lpstr>
      <vt:lpstr>Evolutionary Models</vt:lpstr>
      <vt:lpstr>Prototype Model</vt:lpstr>
      <vt:lpstr>Prototyping</vt:lpstr>
      <vt:lpstr>Prototype Model</vt:lpstr>
      <vt:lpstr>Prototype Model</vt:lpstr>
      <vt:lpstr>Component-based Software Engineering</vt:lpstr>
      <vt:lpstr> The CBD/CBSE is the Solution…</vt:lpstr>
      <vt:lpstr>Why Components!!! </vt:lpstr>
      <vt:lpstr>Component-based Software Engineering</vt:lpstr>
      <vt:lpstr>Component-based Software Engineering</vt:lpstr>
      <vt:lpstr>Component-based Software Engineering</vt:lpstr>
      <vt:lpstr>Process Iteration</vt:lpstr>
      <vt:lpstr>Incremental Approach</vt:lpstr>
      <vt:lpstr>Incremental Development</vt:lpstr>
      <vt:lpstr>Incremental Delivery(Steps)</vt:lpstr>
      <vt:lpstr>Incremental Model</vt:lpstr>
      <vt:lpstr>Spiral Model</vt:lpstr>
      <vt:lpstr>Spiral Model</vt:lpstr>
      <vt:lpstr>Full Spiral Model</vt:lpstr>
      <vt:lpstr>Spiral Model of the Software Process</vt:lpstr>
      <vt:lpstr>Spiral Model Sectors</vt:lpstr>
      <vt:lpstr>Spiral Model Sectors</vt:lpstr>
      <vt:lpstr>Spiral Model Sectors</vt:lpstr>
      <vt:lpstr>Spiral Model(Example)</vt:lpstr>
    </vt:vector>
  </TitlesOfParts>
  <Company>home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dc:title>
  <dc:creator>sidra</dc:creator>
  <cp:lastModifiedBy>WPS_1762169981</cp:lastModifiedBy>
  <cp:revision>348</cp:revision>
  <dcterms:created xsi:type="dcterms:W3CDTF">2008-08-13T03:46:00Z</dcterms:created>
  <dcterms:modified xsi:type="dcterms:W3CDTF">2026-03-06T07:37:25Z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DA78623CDE224037AC221DDCCBE04364_12</vt:lpwstr>
  </property>
  <property fmtid="{D5CDD505-2E9C-101B-9397-08002B2CF9AE}" pid="3" name="KSOProductBuildVer">
    <vt:lpwstr>1033-12.2.0.23196</vt:lpwstr>
  </property>
</Properties>
</file>