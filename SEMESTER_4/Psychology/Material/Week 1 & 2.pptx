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tiff" ContentType="image/tif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86" r:id="rId7"/>
    <p:sldId id="262" r:id="rId8"/>
    <p:sldId id="270" r:id="rId9"/>
    <p:sldId id="271" r:id="rId10"/>
    <p:sldId id="272" r:id="rId11"/>
    <p:sldId id="273" r:id="rId12"/>
    <p:sldId id="274" r:id="rId13"/>
    <p:sldId id="283" r:id="rId14"/>
    <p:sldId id="290" r:id="rId15"/>
    <p:sldId id="276" r:id="rId16"/>
    <p:sldId id="278" r:id="rId17"/>
    <p:sldId id="291" r:id="rId18"/>
    <p:sldId id="280" r:id="rId19"/>
    <p:sldId id="279" r:id="rId20"/>
    <p:sldId id="287" r:id="rId21"/>
    <p:sldId id="288" r:id="rId22"/>
    <p:sldId id="289" r:id="rId23"/>
    <p:sldId id="265" r:id="rId24"/>
    <p:sldId id="266" r:id="rId25"/>
    <p:sldId id="267" r:id="rId26"/>
    <p:sldId id="268" r:id="rId27"/>
    <p:sldId id="292"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629"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3D42643-5C11-4753-9F94-68ED45A2469A}" type="datetimeFigureOut">
              <a:rPr lang="en-US" smtClean="0"/>
              <a:t>10/1/2025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CAE06D-9919-4475-AD2C-0760DDA2941E}" type="slidenum">
              <a:rPr lang="en-US" smtClean="0"/>
              <a:t>‹#›</a:t>
            </a:fld>
            <a:endParaRPr lang="en-US"/>
          </a:p>
        </p:txBody>
      </p:sp>
    </p:spTree>
    <p:extLst>
      <p:ext uri="{BB962C8B-B14F-4D97-AF65-F5344CB8AC3E}">
        <p14:creationId xmlns:p14="http://schemas.microsoft.com/office/powerpoint/2010/main" val="37914354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3D42643-5C11-4753-9F94-68ED45A2469A}" type="datetimeFigureOut">
              <a:rPr lang="en-US" smtClean="0"/>
              <a:t>10/1/2025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CAE06D-9919-4475-AD2C-0760DDA2941E}" type="slidenum">
              <a:rPr lang="en-US" smtClean="0"/>
              <a:t>‹#›</a:t>
            </a:fld>
            <a:endParaRPr lang="en-US"/>
          </a:p>
        </p:txBody>
      </p:sp>
    </p:spTree>
    <p:extLst>
      <p:ext uri="{BB962C8B-B14F-4D97-AF65-F5344CB8AC3E}">
        <p14:creationId xmlns:p14="http://schemas.microsoft.com/office/powerpoint/2010/main" val="19004432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3D42643-5C11-4753-9F94-68ED45A2469A}" type="datetimeFigureOut">
              <a:rPr lang="en-US" smtClean="0"/>
              <a:t>10/1/2025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CAE06D-9919-4475-AD2C-0760DDA2941E}" type="slidenum">
              <a:rPr lang="en-US" smtClean="0"/>
              <a:t>‹#›</a:t>
            </a:fld>
            <a:endParaRPr lang="en-US"/>
          </a:p>
        </p:txBody>
      </p:sp>
    </p:spTree>
    <p:extLst>
      <p:ext uri="{BB962C8B-B14F-4D97-AF65-F5344CB8AC3E}">
        <p14:creationId xmlns:p14="http://schemas.microsoft.com/office/powerpoint/2010/main" val="35964310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3D42643-5C11-4753-9F94-68ED45A2469A}" type="datetimeFigureOut">
              <a:rPr lang="en-US" smtClean="0"/>
              <a:t>10/1/2025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CAE06D-9919-4475-AD2C-0760DDA2941E}" type="slidenum">
              <a:rPr lang="en-US" smtClean="0"/>
              <a:t>‹#›</a:t>
            </a:fld>
            <a:endParaRPr lang="en-US"/>
          </a:p>
        </p:txBody>
      </p:sp>
    </p:spTree>
    <p:extLst>
      <p:ext uri="{BB962C8B-B14F-4D97-AF65-F5344CB8AC3E}">
        <p14:creationId xmlns:p14="http://schemas.microsoft.com/office/powerpoint/2010/main" val="18875949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3D42643-5C11-4753-9F94-68ED45A2469A}" type="datetimeFigureOut">
              <a:rPr lang="en-US" smtClean="0"/>
              <a:t>10/1/2025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ACAE06D-9919-4475-AD2C-0760DDA2941E}" type="slidenum">
              <a:rPr lang="en-US" smtClean="0"/>
              <a:t>‹#›</a:t>
            </a:fld>
            <a:endParaRPr lang="en-US"/>
          </a:p>
        </p:txBody>
      </p:sp>
    </p:spTree>
    <p:extLst>
      <p:ext uri="{BB962C8B-B14F-4D97-AF65-F5344CB8AC3E}">
        <p14:creationId xmlns:p14="http://schemas.microsoft.com/office/powerpoint/2010/main" val="39670952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3D42643-5C11-4753-9F94-68ED45A2469A}" type="datetimeFigureOut">
              <a:rPr lang="en-US" smtClean="0"/>
              <a:t>10/1/2025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ACAE06D-9919-4475-AD2C-0760DDA2941E}" type="slidenum">
              <a:rPr lang="en-US" smtClean="0"/>
              <a:t>‹#›</a:t>
            </a:fld>
            <a:endParaRPr lang="en-US"/>
          </a:p>
        </p:txBody>
      </p:sp>
    </p:spTree>
    <p:extLst>
      <p:ext uri="{BB962C8B-B14F-4D97-AF65-F5344CB8AC3E}">
        <p14:creationId xmlns:p14="http://schemas.microsoft.com/office/powerpoint/2010/main" val="1824977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3D42643-5C11-4753-9F94-68ED45A2469A}" type="datetimeFigureOut">
              <a:rPr lang="en-US" smtClean="0"/>
              <a:t>10/1/2025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ACAE06D-9919-4475-AD2C-0760DDA2941E}" type="slidenum">
              <a:rPr lang="en-US" smtClean="0"/>
              <a:t>‹#›</a:t>
            </a:fld>
            <a:endParaRPr lang="en-US"/>
          </a:p>
        </p:txBody>
      </p:sp>
    </p:spTree>
    <p:extLst>
      <p:ext uri="{BB962C8B-B14F-4D97-AF65-F5344CB8AC3E}">
        <p14:creationId xmlns:p14="http://schemas.microsoft.com/office/powerpoint/2010/main" val="25440158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3D42643-5C11-4753-9F94-68ED45A2469A}" type="datetimeFigureOut">
              <a:rPr lang="en-US" smtClean="0"/>
              <a:t>10/1/2025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CAE06D-9919-4475-AD2C-0760DDA2941E}" type="slidenum">
              <a:rPr lang="en-US" smtClean="0"/>
              <a:t>‹#›</a:t>
            </a:fld>
            <a:endParaRPr lang="en-US"/>
          </a:p>
        </p:txBody>
      </p:sp>
    </p:spTree>
    <p:extLst>
      <p:ext uri="{BB962C8B-B14F-4D97-AF65-F5344CB8AC3E}">
        <p14:creationId xmlns:p14="http://schemas.microsoft.com/office/powerpoint/2010/main" val="2570645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3D42643-5C11-4753-9F94-68ED45A2469A}" type="datetimeFigureOut">
              <a:rPr lang="en-US" smtClean="0"/>
              <a:t>10/1/2025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CAE06D-9919-4475-AD2C-0760DDA2941E}" type="slidenum">
              <a:rPr lang="en-US" smtClean="0"/>
              <a:t>‹#›</a:t>
            </a:fld>
            <a:endParaRPr lang="en-US"/>
          </a:p>
        </p:txBody>
      </p:sp>
    </p:spTree>
    <p:extLst>
      <p:ext uri="{BB962C8B-B14F-4D97-AF65-F5344CB8AC3E}">
        <p14:creationId xmlns:p14="http://schemas.microsoft.com/office/powerpoint/2010/main" val="13362340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3D42643-5C11-4753-9F94-68ED45A2469A}" type="datetimeFigureOut">
              <a:rPr lang="en-US" smtClean="0"/>
              <a:t>10/1/2025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CAE06D-9919-4475-AD2C-0760DDA2941E}" type="slidenum">
              <a:rPr lang="en-US" smtClean="0"/>
              <a:t>‹#›</a:t>
            </a:fld>
            <a:endParaRPr lang="en-US"/>
          </a:p>
        </p:txBody>
      </p:sp>
    </p:spTree>
    <p:extLst>
      <p:ext uri="{BB962C8B-B14F-4D97-AF65-F5344CB8AC3E}">
        <p14:creationId xmlns:p14="http://schemas.microsoft.com/office/powerpoint/2010/main" val="6949785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3D42643-5C11-4753-9F94-68ED45A2469A}" type="datetimeFigureOut">
              <a:rPr lang="en-US" smtClean="0"/>
              <a:t>10/1/2025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CAE06D-9919-4475-AD2C-0760DDA2941E}" type="slidenum">
              <a:rPr lang="en-US" smtClean="0"/>
              <a:t>‹#›</a:t>
            </a:fld>
            <a:endParaRPr lang="en-US"/>
          </a:p>
        </p:txBody>
      </p:sp>
    </p:spTree>
    <p:extLst>
      <p:ext uri="{BB962C8B-B14F-4D97-AF65-F5344CB8AC3E}">
        <p14:creationId xmlns:p14="http://schemas.microsoft.com/office/powerpoint/2010/main" val="29661641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1612763-21FA-4466-B8AC-ADBF3E4BD2CD}" type="datetime4">
              <a:rPr lang="en-US" smtClean="0"/>
              <a:t>October 1, 2025</a:t>
            </a:fld>
            <a:endParaRPr lang="en-US"/>
          </a:p>
        </p:txBody>
      </p:sp>
      <p:sp>
        <p:nvSpPr>
          <p:cNvPr id="5" name="Footer Placeholder 4"/>
          <p:cNvSpPr>
            <a:spLocks noGrp="1"/>
          </p:cNvSpPr>
          <p:nvPr>
            <p:ph type="ftr" sz="quarter" idx="11"/>
          </p:nvPr>
        </p:nvSpPr>
        <p:spPr>
          <a:xfrm>
            <a:off x="609599" y="6492876"/>
            <a:ext cx="10750551" cy="283845"/>
          </a:xfrm>
        </p:spPr>
        <p:txBody>
          <a:bodyPr/>
          <a:lstStyle/>
          <a:p>
            <a:r>
              <a:rPr lang="en-US" dirty="0"/>
              <a:t>This </a:t>
            </a:r>
            <a:r>
              <a:rPr lang="en-US" dirty="0" err="1"/>
              <a:t>OpenStax</a:t>
            </a:r>
            <a:r>
              <a:rPr lang="en-US" dirty="0"/>
              <a:t> ancillary resource is © Rice University under a CC-BY 4.0 International license; it may be reproduced or modified but must be attributed to </a:t>
            </a:r>
            <a:r>
              <a:rPr lang="en-US" dirty="0" err="1"/>
              <a:t>OpenStax</a:t>
            </a:r>
            <a:r>
              <a:rPr lang="en-US" dirty="0"/>
              <a:t>, Rice University and any changes must be noted. Any images credited to other sources are similarly available for reproduction, but must be attributed to their sources.</a:t>
            </a:r>
          </a:p>
        </p:txBody>
      </p:sp>
      <p:sp>
        <p:nvSpPr>
          <p:cNvPr id="6" name="Slide Number Placeholder 5"/>
          <p:cNvSpPr>
            <a:spLocks noGrp="1"/>
          </p:cNvSpPr>
          <p:nvPr>
            <p:ph type="sldNum" sz="quarter" idx="12"/>
          </p:nvPr>
        </p:nvSpPr>
        <p:spPr/>
        <p:txBody>
          <a:bodyPr/>
          <a:lstStyle/>
          <a:p>
            <a:fld id="{F38DF745-7D3F-47F4-83A3-874385CFAA69}" type="slidenum">
              <a:rPr lang="en-US" smtClean="0"/>
              <a:pPr/>
              <a:t>‹#›</a:t>
            </a:fld>
            <a:endParaRPr lang="en-US"/>
          </a:p>
        </p:txBody>
      </p:sp>
      <p:sp>
        <p:nvSpPr>
          <p:cNvPr id="7" name="Title 1"/>
          <p:cNvSpPr>
            <a:spLocks noGrp="1"/>
          </p:cNvSpPr>
          <p:nvPr>
            <p:ph type="title"/>
          </p:nvPr>
        </p:nvSpPr>
        <p:spPr>
          <a:xfrm>
            <a:off x="609600" y="241327"/>
            <a:ext cx="10750549" cy="659535"/>
          </a:xfrm>
        </p:spPr>
        <p:txBody>
          <a:bodyPr/>
          <a:lstStyle/>
          <a:p>
            <a:r>
              <a:rPr lang="en-US" dirty="0"/>
              <a:t>Click to edit</a:t>
            </a:r>
          </a:p>
        </p:txBody>
      </p:sp>
      <p:sp>
        <p:nvSpPr>
          <p:cNvPr id="8" name="Picture Placeholder 8"/>
          <p:cNvSpPr>
            <a:spLocks noGrp="1"/>
          </p:cNvSpPr>
          <p:nvPr>
            <p:ph type="pic" sz="quarter" idx="13"/>
          </p:nvPr>
        </p:nvSpPr>
        <p:spPr>
          <a:xfrm>
            <a:off x="609599" y="1122387"/>
            <a:ext cx="10750551" cy="3500071"/>
          </a:xfrm>
        </p:spPr>
        <p:txBody>
          <a:bodyPr/>
          <a:lstStyle/>
          <a:p>
            <a:endParaRPr lang="en-US" dirty="0"/>
          </a:p>
        </p:txBody>
      </p:sp>
      <p:sp>
        <p:nvSpPr>
          <p:cNvPr id="9" name="Text Placeholder 10"/>
          <p:cNvSpPr>
            <a:spLocks noGrp="1"/>
          </p:cNvSpPr>
          <p:nvPr>
            <p:ph type="body" sz="quarter" idx="14"/>
          </p:nvPr>
        </p:nvSpPr>
        <p:spPr>
          <a:xfrm>
            <a:off x="609600" y="4843982"/>
            <a:ext cx="10750549" cy="1166382"/>
          </a:xfrm>
        </p:spPr>
        <p:txBody>
          <a:bodyPr/>
          <a:lstStyle>
            <a:lvl1pPr>
              <a:buClr>
                <a:srgbClr val="6CB255"/>
              </a:buClr>
              <a:defRPr>
                <a:solidFill>
                  <a:srgbClr val="000000"/>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3775441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1612763-21FA-4466-B8AC-ADBF3E4BD2CD}" type="datetime4">
              <a:rPr lang="en-US" smtClean="0"/>
              <a:t>October 1, 2025</a:t>
            </a:fld>
            <a:endParaRPr lang="en-US"/>
          </a:p>
        </p:txBody>
      </p:sp>
      <p:sp>
        <p:nvSpPr>
          <p:cNvPr id="5" name="Footer Placeholder 4"/>
          <p:cNvSpPr>
            <a:spLocks noGrp="1"/>
          </p:cNvSpPr>
          <p:nvPr>
            <p:ph type="ftr" sz="quarter" idx="11"/>
          </p:nvPr>
        </p:nvSpPr>
        <p:spPr>
          <a:xfrm>
            <a:off x="609599" y="6492876"/>
            <a:ext cx="10750551" cy="283845"/>
          </a:xfrm>
        </p:spPr>
        <p:txBody>
          <a:bodyPr/>
          <a:lstStyle/>
          <a:p>
            <a:r>
              <a:rPr lang="en-US" dirty="0"/>
              <a:t>This </a:t>
            </a:r>
            <a:r>
              <a:rPr lang="en-US" dirty="0" err="1"/>
              <a:t>OpenStax</a:t>
            </a:r>
            <a:r>
              <a:rPr lang="en-US" dirty="0"/>
              <a:t> ancillary resource is © Rice University under a CC-BY 4.0 International license; it may be reproduced or modified but must be attributed to </a:t>
            </a:r>
            <a:r>
              <a:rPr lang="en-US" dirty="0" err="1"/>
              <a:t>OpenStax</a:t>
            </a:r>
            <a:r>
              <a:rPr lang="en-US" dirty="0"/>
              <a:t>, Rice University and any changes must be noted. Any images credited to other sources are similarly available for reproduction, but must be attributed to their sources.</a:t>
            </a:r>
          </a:p>
        </p:txBody>
      </p:sp>
      <p:sp>
        <p:nvSpPr>
          <p:cNvPr id="6" name="Slide Number Placeholder 5"/>
          <p:cNvSpPr>
            <a:spLocks noGrp="1"/>
          </p:cNvSpPr>
          <p:nvPr>
            <p:ph type="sldNum" sz="quarter" idx="12"/>
          </p:nvPr>
        </p:nvSpPr>
        <p:spPr/>
        <p:txBody>
          <a:bodyPr/>
          <a:lstStyle/>
          <a:p>
            <a:fld id="{F38DF745-7D3F-47F4-83A3-874385CFAA69}" type="slidenum">
              <a:rPr lang="en-US" smtClean="0"/>
              <a:pPr/>
              <a:t>‹#›</a:t>
            </a:fld>
            <a:endParaRPr lang="en-US"/>
          </a:p>
        </p:txBody>
      </p:sp>
      <p:sp>
        <p:nvSpPr>
          <p:cNvPr id="7" name="Title 1"/>
          <p:cNvSpPr>
            <a:spLocks noGrp="1"/>
          </p:cNvSpPr>
          <p:nvPr>
            <p:ph type="title"/>
          </p:nvPr>
        </p:nvSpPr>
        <p:spPr>
          <a:xfrm>
            <a:off x="609600" y="241327"/>
            <a:ext cx="10750549" cy="659535"/>
          </a:xfrm>
        </p:spPr>
        <p:txBody>
          <a:bodyPr/>
          <a:lstStyle/>
          <a:p>
            <a:r>
              <a:rPr lang="en-US" dirty="0"/>
              <a:t>Click to edit</a:t>
            </a:r>
          </a:p>
        </p:txBody>
      </p:sp>
      <p:sp>
        <p:nvSpPr>
          <p:cNvPr id="8" name="Picture Placeholder 8"/>
          <p:cNvSpPr>
            <a:spLocks noGrp="1"/>
          </p:cNvSpPr>
          <p:nvPr>
            <p:ph type="pic" sz="quarter" idx="13"/>
          </p:nvPr>
        </p:nvSpPr>
        <p:spPr>
          <a:xfrm>
            <a:off x="609599" y="1122387"/>
            <a:ext cx="10750551" cy="3500071"/>
          </a:xfrm>
        </p:spPr>
        <p:txBody>
          <a:bodyPr/>
          <a:lstStyle/>
          <a:p>
            <a:endParaRPr lang="en-US" dirty="0"/>
          </a:p>
        </p:txBody>
      </p:sp>
      <p:sp>
        <p:nvSpPr>
          <p:cNvPr id="9" name="Text Placeholder 10"/>
          <p:cNvSpPr>
            <a:spLocks noGrp="1"/>
          </p:cNvSpPr>
          <p:nvPr>
            <p:ph type="body" sz="quarter" idx="14"/>
          </p:nvPr>
        </p:nvSpPr>
        <p:spPr>
          <a:xfrm>
            <a:off x="609600" y="4843982"/>
            <a:ext cx="10750549" cy="1166382"/>
          </a:xfrm>
        </p:spPr>
        <p:txBody>
          <a:bodyPr/>
          <a:lstStyle>
            <a:lvl1pPr>
              <a:buClr>
                <a:srgbClr val="6CB255"/>
              </a:buClr>
              <a:defRPr>
                <a:solidFill>
                  <a:srgbClr val="000000"/>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871544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1612763-21FA-4466-B8AC-ADBF3E4BD2CD}" type="datetime4">
              <a:rPr lang="en-US" smtClean="0"/>
              <a:t>October 1, 2025</a:t>
            </a:fld>
            <a:endParaRPr lang="en-US"/>
          </a:p>
        </p:txBody>
      </p:sp>
      <p:sp>
        <p:nvSpPr>
          <p:cNvPr id="5" name="Footer Placeholder 4"/>
          <p:cNvSpPr>
            <a:spLocks noGrp="1"/>
          </p:cNvSpPr>
          <p:nvPr>
            <p:ph type="ftr" sz="quarter" idx="11"/>
          </p:nvPr>
        </p:nvSpPr>
        <p:spPr>
          <a:xfrm>
            <a:off x="609599" y="6492876"/>
            <a:ext cx="10750551" cy="283845"/>
          </a:xfrm>
        </p:spPr>
        <p:txBody>
          <a:bodyPr/>
          <a:lstStyle/>
          <a:p>
            <a:r>
              <a:rPr lang="en-US" dirty="0"/>
              <a:t>This </a:t>
            </a:r>
            <a:r>
              <a:rPr lang="en-US" dirty="0" err="1"/>
              <a:t>OpenStax</a:t>
            </a:r>
            <a:r>
              <a:rPr lang="en-US" dirty="0"/>
              <a:t> ancillary resource is © Rice University under a CC-BY 4.0 International license; it may be reproduced or modified but must be attributed to </a:t>
            </a:r>
            <a:r>
              <a:rPr lang="en-US" dirty="0" err="1"/>
              <a:t>OpenStax</a:t>
            </a:r>
            <a:r>
              <a:rPr lang="en-US" dirty="0"/>
              <a:t>, Rice University and any changes must be noted. Any images credited to other sources are similarly available for reproduction, but must be attributed to their sources.</a:t>
            </a:r>
          </a:p>
        </p:txBody>
      </p:sp>
      <p:sp>
        <p:nvSpPr>
          <p:cNvPr id="6" name="Slide Number Placeholder 5"/>
          <p:cNvSpPr>
            <a:spLocks noGrp="1"/>
          </p:cNvSpPr>
          <p:nvPr>
            <p:ph type="sldNum" sz="quarter" idx="12"/>
          </p:nvPr>
        </p:nvSpPr>
        <p:spPr/>
        <p:txBody>
          <a:bodyPr/>
          <a:lstStyle/>
          <a:p>
            <a:fld id="{F38DF745-7D3F-47F4-83A3-874385CFAA69}" type="slidenum">
              <a:rPr lang="en-US" smtClean="0"/>
              <a:pPr/>
              <a:t>‹#›</a:t>
            </a:fld>
            <a:endParaRPr lang="en-US"/>
          </a:p>
        </p:txBody>
      </p:sp>
      <p:sp>
        <p:nvSpPr>
          <p:cNvPr id="7" name="Title 1"/>
          <p:cNvSpPr>
            <a:spLocks noGrp="1"/>
          </p:cNvSpPr>
          <p:nvPr>
            <p:ph type="title"/>
          </p:nvPr>
        </p:nvSpPr>
        <p:spPr>
          <a:xfrm>
            <a:off x="609600" y="241327"/>
            <a:ext cx="10750549" cy="659535"/>
          </a:xfrm>
        </p:spPr>
        <p:txBody>
          <a:bodyPr/>
          <a:lstStyle/>
          <a:p>
            <a:r>
              <a:rPr lang="en-US" dirty="0"/>
              <a:t>Click to edit</a:t>
            </a:r>
          </a:p>
        </p:txBody>
      </p:sp>
      <p:sp>
        <p:nvSpPr>
          <p:cNvPr id="8" name="Picture Placeholder 8"/>
          <p:cNvSpPr>
            <a:spLocks noGrp="1"/>
          </p:cNvSpPr>
          <p:nvPr>
            <p:ph type="pic" sz="quarter" idx="13"/>
          </p:nvPr>
        </p:nvSpPr>
        <p:spPr>
          <a:xfrm>
            <a:off x="609599" y="1122387"/>
            <a:ext cx="10750551" cy="3500071"/>
          </a:xfrm>
        </p:spPr>
        <p:txBody>
          <a:bodyPr/>
          <a:lstStyle/>
          <a:p>
            <a:endParaRPr lang="en-US" dirty="0"/>
          </a:p>
        </p:txBody>
      </p:sp>
      <p:sp>
        <p:nvSpPr>
          <p:cNvPr id="9" name="Text Placeholder 10"/>
          <p:cNvSpPr>
            <a:spLocks noGrp="1"/>
          </p:cNvSpPr>
          <p:nvPr>
            <p:ph type="body" sz="quarter" idx="14"/>
          </p:nvPr>
        </p:nvSpPr>
        <p:spPr>
          <a:xfrm>
            <a:off x="609600" y="4843982"/>
            <a:ext cx="10750549" cy="1166382"/>
          </a:xfrm>
        </p:spPr>
        <p:txBody>
          <a:bodyPr/>
          <a:lstStyle>
            <a:lvl1pPr>
              <a:buClr>
                <a:srgbClr val="6CB255"/>
              </a:buClr>
              <a:defRPr>
                <a:solidFill>
                  <a:srgbClr val="000000"/>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58560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1612763-21FA-4466-B8AC-ADBF3E4BD2CD}" type="datetime4">
              <a:rPr lang="en-US" smtClean="0"/>
              <a:t>October 1, 2025</a:t>
            </a:fld>
            <a:endParaRPr lang="en-US"/>
          </a:p>
        </p:txBody>
      </p:sp>
      <p:sp>
        <p:nvSpPr>
          <p:cNvPr id="5" name="Footer Placeholder 4"/>
          <p:cNvSpPr>
            <a:spLocks noGrp="1"/>
          </p:cNvSpPr>
          <p:nvPr>
            <p:ph type="ftr" sz="quarter" idx="11"/>
          </p:nvPr>
        </p:nvSpPr>
        <p:spPr>
          <a:xfrm>
            <a:off x="609599" y="6492876"/>
            <a:ext cx="10750551" cy="283845"/>
          </a:xfrm>
        </p:spPr>
        <p:txBody>
          <a:bodyPr/>
          <a:lstStyle/>
          <a:p>
            <a:r>
              <a:rPr lang="en-US" dirty="0"/>
              <a:t>This </a:t>
            </a:r>
            <a:r>
              <a:rPr lang="en-US" dirty="0" err="1"/>
              <a:t>OpenStax</a:t>
            </a:r>
            <a:r>
              <a:rPr lang="en-US" dirty="0"/>
              <a:t> ancillary resource is © Rice University under a CC-BY 4.0 International license; it may be reproduced or modified but must be attributed to </a:t>
            </a:r>
            <a:r>
              <a:rPr lang="en-US" dirty="0" err="1"/>
              <a:t>OpenStax</a:t>
            </a:r>
            <a:r>
              <a:rPr lang="en-US" dirty="0"/>
              <a:t>, Rice University and any changes must be noted. Any images credited to other sources are similarly available for reproduction, but must be attributed to their sources.</a:t>
            </a:r>
          </a:p>
        </p:txBody>
      </p:sp>
      <p:sp>
        <p:nvSpPr>
          <p:cNvPr id="6" name="Slide Number Placeholder 5"/>
          <p:cNvSpPr>
            <a:spLocks noGrp="1"/>
          </p:cNvSpPr>
          <p:nvPr>
            <p:ph type="sldNum" sz="quarter" idx="12"/>
          </p:nvPr>
        </p:nvSpPr>
        <p:spPr/>
        <p:txBody>
          <a:bodyPr/>
          <a:lstStyle/>
          <a:p>
            <a:fld id="{F38DF745-7D3F-47F4-83A3-874385CFAA69}" type="slidenum">
              <a:rPr lang="en-US" smtClean="0"/>
              <a:pPr/>
              <a:t>‹#›</a:t>
            </a:fld>
            <a:endParaRPr lang="en-US"/>
          </a:p>
        </p:txBody>
      </p:sp>
      <p:sp>
        <p:nvSpPr>
          <p:cNvPr id="7" name="Title 1"/>
          <p:cNvSpPr>
            <a:spLocks noGrp="1"/>
          </p:cNvSpPr>
          <p:nvPr>
            <p:ph type="title"/>
          </p:nvPr>
        </p:nvSpPr>
        <p:spPr>
          <a:xfrm>
            <a:off x="609600" y="241327"/>
            <a:ext cx="10750549" cy="659535"/>
          </a:xfrm>
        </p:spPr>
        <p:txBody>
          <a:bodyPr/>
          <a:lstStyle/>
          <a:p>
            <a:r>
              <a:rPr lang="en-US" dirty="0"/>
              <a:t>Click to edit</a:t>
            </a:r>
          </a:p>
        </p:txBody>
      </p:sp>
      <p:sp>
        <p:nvSpPr>
          <p:cNvPr id="8" name="Picture Placeholder 8"/>
          <p:cNvSpPr>
            <a:spLocks noGrp="1"/>
          </p:cNvSpPr>
          <p:nvPr>
            <p:ph type="pic" sz="quarter" idx="13"/>
          </p:nvPr>
        </p:nvSpPr>
        <p:spPr>
          <a:xfrm>
            <a:off x="609599" y="1122387"/>
            <a:ext cx="10750551" cy="3500071"/>
          </a:xfrm>
        </p:spPr>
        <p:txBody>
          <a:bodyPr/>
          <a:lstStyle/>
          <a:p>
            <a:endParaRPr lang="en-US" dirty="0"/>
          </a:p>
        </p:txBody>
      </p:sp>
      <p:sp>
        <p:nvSpPr>
          <p:cNvPr id="9" name="Text Placeholder 10"/>
          <p:cNvSpPr>
            <a:spLocks noGrp="1"/>
          </p:cNvSpPr>
          <p:nvPr>
            <p:ph type="body" sz="quarter" idx="14"/>
          </p:nvPr>
        </p:nvSpPr>
        <p:spPr>
          <a:xfrm>
            <a:off x="609600" y="4843982"/>
            <a:ext cx="10750549" cy="1166382"/>
          </a:xfrm>
        </p:spPr>
        <p:txBody>
          <a:bodyPr/>
          <a:lstStyle>
            <a:lvl1pPr>
              <a:buClr>
                <a:srgbClr val="6CB255"/>
              </a:buClr>
              <a:defRPr>
                <a:solidFill>
                  <a:srgbClr val="000000"/>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273548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1612763-21FA-4466-B8AC-ADBF3E4BD2CD}" type="datetime4">
              <a:rPr lang="en-US" smtClean="0"/>
              <a:t>October 1, 2025</a:t>
            </a:fld>
            <a:endParaRPr lang="en-US"/>
          </a:p>
        </p:txBody>
      </p:sp>
      <p:sp>
        <p:nvSpPr>
          <p:cNvPr id="5" name="Footer Placeholder 4"/>
          <p:cNvSpPr>
            <a:spLocks noGrp="1"/>
          </p:cNvSpPr>
          <p:nvPr>
            <p:ph type="ftr" sz="quarter" idx="11"/>
          </p:nvPr>
        </p:nvSpPr>
        <p:spPr>
          <a:xfrm>
            <a:off x="609599" y="6492876"/>
            <a:ext cx="10750551" cy="283845"/>
          </a:xfrm>
        </p:spPr>
        <p:txBody>
          <a:bodyPr/>
          <a:lstStyle/>
          <a:p>
            <a:r>
              <a:rPr lang="en-US" dirty="0"/>
              <a:t>This </a:t>
            </a:r>
            <a:r>
              <a:rPr lang="en-US" dirty="0" err="1"/>
              <a:t>OpenStax</a:t>
            </a:r>
            <a:r>
              <a:rPr lang="en-US" dirty="0"/>
              <a:t> ancillary resource is © Rice University under a CC-BY 4.0 International license; it may be reproduced or modified but must be attributed to </a:t>
            </a:r>
            <a:r>
              <a:rPr lang="en-US" dirty="0" err="1"/>
              <a:t>OpenStax</a:t>
            </a:r>
            <a:r>
              <a:rPr lang="en-US" dirty="0"/>
              <a:t>, Rice University and any changes must be noted. Any images credited to other sources are similarly available for reproduction, but must be attributed to their sources.</a:t>
            </a:r>
          </a:p>
        </p:txBody>
      </p:sp>
      <p:sp>
        <p:nvSpPr>
          <p:cNvPr id="6" name="Slide Number Placeholder 5"/>
          <p:cNvSpPr>
            <a:spLocks noGrp="1"/>
          </p:cNvSpPr>
          <p:nvPr>
            <p:ph type="sldNum" sz="quarter" idx="12"/>
          </p:nvPr>
        </p:nvSpPr>
        <p:spPr/>
        <p:txBody>
          <a:bodyPr/>
          <a:lstStyle/>
          <a:p>
            <a:fld id="{F38DF745-7D3F-47F4-83A3-874385CFAA69}" type="slidenum">
              <a:rPr lang="en-US" smtClean="0"/>
              <a:pPr/>
              <a:t>‹#›</a:t>
            </a:fld>
            <a:endParaRPr lang="en-US"/>
          </a:p>
        </p:txBody>
      </p:sp>
      <p:sp>
        <p:nvSpPr>
          <p:cNvPr id="7" name="Title 1"/>
          <p:cNvSpPr>
            <a:spLocks noGrp="1"/>
          </p:cNvSpPr>
          <p:nvPr>
            <p:ph type="title"/>
          </p:nvPr>
        </p:nvSpPr>
        <p:spPr>
          <a:xfrm>
            <a:off x="609600" y="241327"/>
            <a:ext cx="10750549" cy="659535"/>
          </a:xfrm>
        </p:spPr>
        <p:txBody>
          <a:bodyPr/>
          <a:lstStyle/>
          <a:p>
            <a:r>
              <a:rPr lang="en-US" dirty="0"/>
              <a:t>Click to edit</a:t>
            </a:r>
          </a:p>
        </p:txBody>
      </p:sp>
      <p:sp>
        <p:nvSpPr>
          <p:cNvPr id="8" name="Picture Placeholder 8"/>
          <p:cNvSpPr>
            <a:spLocks noGrp="1"/>
          </p:cNvSpPr>
          <p:nvPr>
            <p:ph type="pic" sz="quarter" idx="13"/>
          </p:nvPr>
        </p:nvSpPr>
        <p:spPr>
          <a:xfrm>
            <a:off x="609599" y="1122387"/>
            <a:ext cx="10750551" cy="3500071"/>
          </a:xfrm>
        </p:spPr>
        <p:txBody>
          <a:bodyPr/>
          <a:lstStyle/>
          <a:p>
            <a:endParaRPr lang="en-US" dirty="0"/>
          </a:p>
        </p:txBody>
      </p:sp>
      <p:sp>
        <p:nvSpPr>
          <p:cNvPr id="9" name="Text Placeholder 10"/>
          <p:cNvSpPr>
            <a:spLocks noGrp="1"/>
          </p:cNvSpPr>
          <p:nvPr>
            <p:ph type="body" sz="quarter" idx="14"/>
          </p:nvPr>
        </p:nvSpPr>
        <p:spPr>
          <a:xfrm>
            <a:off x="609600" y="4843982"/>
            <a:ext cx="10750549" cy="1166382"/>
          </a:xfrm>
        </p:spPr>
        <p:txBody>
          <a:bodyPr/>
          <a:lstStyle>
            <a:lvl1pPr>
              <a:buClr>
                <a:srgbClr val="6CB255"/>
              </a:buClr>
              <a:defRPr>
                <a:solidFill>
                  <a:srgbClr val="000000"/>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521803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1612763-21FA-4466-B8AC-ADBF3E4BD2CD}" type="datetime4">
              <a:rPr lang="en-US" smtClean="0"/>
              <a:t>October 1, 2025</a:t>
            </a:fld>
            <a:endParaRPr lang="en-US"/>
          </a:p>
        </p:txBody>
      </p:sp>
      <p:sp>
        <p:nvSpPr>
          <p:cNvPr id="5" name="Footer Placeholder 4"/>
          <p:cNvSpPr>
            <a:spLocks noGrp="1"/>
          </p:cNvSpPr>
          <p:nvPr>
            <p:ph type="ftr" sz="quarter" idx="11"/>
          </p:nvPr>
        </p:nvSpPr>
        <p:spPr>
          <a:xfrm>
            <a:off x="609599" y="6492876"/>
            <a:ext cx="10750551" cy="283845"/>
          </a:xfrm>
        </p:spPr>
        <p:txBody>
          <a:bodyPr/>
          <a:lstStyle/>
          <a:p>
            <a:r>
              <a:rPr lang="en-US" dirty="0"/>
              <a:t>This </a:t>
            </a:r>
            <a:r>
              <a:rPr lang="en-US" dirty="0" err="1"/>
              <a:t>OpenStax</a:t>
            </a:r>
            <a:r>
              <a:rPr lang="en-US" dirty="0"/>
              <a:t> ancillary resource is © Rice University under a CC-BY 4.0 International license; it may be reproduced or modified but must be attributed to </a:t>
            </a:r>
            <a:r>
              <a:rPr lang="en-US" dirty="0" err="1"/>
              <a:t>OpenStax</a:t>
            </a:r>
            <a:r>
              <a:rPr lang="en-US" dirty="0"/>
              <a:t>, Rice University and any changes must be noted. Any images credited to other sources are similarly available for reproduction, but must be attributed to their sources.</a:t>
            </a:r>
          </a:p>
        </p:txBody>
      </p:sp>
      <p:sp>
        <p:nvSpPr>
          <p:cNvPr id="6" name="Slide Number Placeholder 5"/>
          <p:cNvSpPr>
            <a:spLocks noGrp="1"/>
          </p:cNvSpPr>
          <p:nvPr>
            <p:ph type="sldNum" sz="quarter" idx="12"/>
          </p:nvPr>
        </p:nvSpPr>
        <p:spPr/>
        <p:txBody>
          <a:bodyPr/>
          <a:lstStyle/>
          <a:p>
            <a:fld id="{F38DF745-7D3F-47F4-83A3-874385CFAA69}" type="slidenum">
              <a:rPr lang="en-US" smtClean="0"/>
              <a:pPr/>
              <a:t>‹#›</a:t>
            </a:fld>
            <a:endParaRPr lang="en-US"/>
          </a:p>
        </p:txBody>
      </p:sp>
      <p:sp>
        <p:nvSpPr>
          <p:cNvPr id="7" name="Title 1"/>
          <p:cNvSpPr>
            <a:spLocks noGrp="1"/>
          </p:cNvSpPr>
          <p:nvPr>
            <p:ph type="title"/>
          </p:nvPr>
        </p:nvSpPr>
        <p:spPr>
          <a:xfrm>
            <a:off x="609600" y="241327"/>
            <a:ext cx="10750549" cy="659535"/>
          </a:xfrm>
        </p:spPr>
        <p:txBody>
          <a:bodyPr/>
          <a:lstStyle/>
          <a:p>
            <a:r>
              <a:rPr lang="en-US" dirty="0"/>
              <a:t>Click to edit</a:t>
            </a:r>
          </a:p>
        </p:txBody>
      </p:sp>
      <p:sp>
        <p:nvSpPr>
          <p:cNvPr id="8" name="Picture Placeholder 8"/>
          <p:cNvSpPr>
            <a:spLocks noGrp="1"/>
          </p:cNvSpPr>
          <p:nvPr>
            <p:ph type="pic" sz="quarter" idx="13"/>
          </p:nvPr>
        </p:nvSpPr>
        <p:spPr>
          <a:xfrm>
            <a:off x="609599" y="1122387"/>
            <a:ext cx="10750551" cy="3500071"/>
          </a:xfrm>
        </p:spPr>
        <p:txBody>
          <a:bodyPr/>
          <a:lstStyle/>
          <a:p>
            <a:endParaRPr lang="en-US" dirty="0"/>
          </a:p>
        </p:txBody>
      </p:sp>
      <p:sp>
        <p:nvSpPr>
          <p:cNvPr id="9" name="Text Placeholder 10"/>
          <p:cNvSpPr>
            <a:spLocks noGrp="1"/>
          </p:cNvSpPr>
          <p:nvPr>
            <p:ph type="body" sz="quarter" idx="14"/>
          </p:nvPr>
        </p:nvSpPr>
        <p:spPr>
          <a:xfrm>
            <a:off x="609600" y="4843982"/>
            <a:ext cx="10750549" cy="1166382"/>
          </a:xfrm>
        </p:spPr>
        <p:txBody>
          <a:bodyPr/>
          <a:lstStyle>
            <a:lvl1pPr>
              <a:buClr>
                <a:srgbClr val="6CB255"/>
              </a:buClr>
              <a:defRPr>
                <a:solidFill>
                  <a:srgbClr val="000000"/>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879408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D42643-5C11-4753-9F94-68ED45A2469A}" type="datetimeFigureOut">
              <a:rPr lang="en-US" smtClean="0"/>
              <a:t>10/1/2025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CAE06D-9919-4475-AD2C-0760DDA2941E}" type="slidenum">
              <a:rPr lang="en-US" smtClean="0"/>
              <a:t>‹#›</a:t>
            </a:fld>
            <a:endParaRPr lang="en-US"/>
          </a:p>
        </p:txBody>
      </p:sp>
    </p:spTree>
    <p:extLst>
      <p:ext uri="{BB962C8B-B14F-4D97-AF65-F5344CB8AC3E}">
        <p14:creationId xmlns:p14="http://schemas.microsoft.com/office/powerpoint/2010/main" val="7752912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5" r:id="rId16"/>
    <p:sldLayoutId id="2147483666"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image" Target="../media/image4.tiff"/><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image" Target="../media/image6.tiff"/><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mtClean="0">
                <a:solidFill>
                  <a:srgbClr val="00B050"/>
                </a:solidFill>
                <a:latin typeface="Times New Roman" panose="02020603050405020304" pitchFamily="18" charset="0"/>
                <a:cs typeface="Times New Roman" panose="02020603050405020304" pitchFamily="18" charset="0"/>
              </a:rPr>
              <a:t>Fundamentals of </a:t>
            </a:r>
            <a:r>
              <a:rPr lang="en-US" smtClean="0">
                <a:solidFill>
                  <a:srgbClr val="00B050"/>
                </a:solidFill>
                <a:latin typeface="Times New Roman" panose="02020603050405020304" pitchFamily="18" charset="0"/>
                <a:cs typeface="Times New Roman" panose="02020603050405020304" pitchFamily="18" charset="0"/>
              </a:rPr>
              <a:t> </a:t>
            </a:r>
            <a:r>
              <a:rPr lang="en-US" dirty="0" smtClean="0">
                <a:solidFill>
                  <a:srgbClr val="00B050"/>
                </a:solidFill>
                <a:latin typeface="Times New Roman" panose="02020603050405020304" pitchFamily="18" charset="0"/>
                <a:cs typeface="Times New Roman" panose="02020603050405020304" pitchFamily="18" charset="0"/>
              </a:rPr>
              <a:t/>
            </a:r>
            <a:br>
              <a:rPr lang="en-US" dirty="0" smtClean="0">
                <a:solidFill>
                  <a:srgbClr val="00B050"/>
                </a:solidFill>
                <a:latin typeface="Times New Roman" panose="02020603050405020304" pitchFamily="18" charset="0"/>
                <a:cs typeface="Times New Roman" panose="02020603050405020304" pitchFamily="18" charset="0"/>
              </a:rPr>
            </a:br>
            <a:r>
              <a:rPr lang="en-US" dirty="0" smtClean="0">
                <a:solidFill>
                  <a:srgbClr val="00B050"/>
                </a:solidFill>
                <a:latin typeface="Times New Roman" panose="02020603050405020304" pitchFamily="18" charset="0"/>
                <a:cs typeface="Times New Roman" panose="02020603050405020304" pitchFamily="18" charset="0"/>
              </a:rPr>
              <a:t>Psychology</a:t>
            </a:r>
            <a:endParaRPr lang="en-US"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p:txBody>
          <a:bodyPr>
            <a:normAutofit fontScale="92500"/>
          </a:bodyPr>
          <a:lstStyle/>
          <a:p>
            <a:r>
              <a:rPr lang="en-US" sz="3200" b="1" cap="none" dirty="0" smtClean="0">
                <a:solidFill>
                  <a:srgbClr val="212F62"/>
                </a:solidFill>
                <a:latin typeface="Times New Roman" panose="02020603050405020304" pitchFamily="18" charset="0"/>
                <a:cs typeface="Times New Roman" panose="02020603050405020304" pitchFamily="18" charset="0"/>
              </a:rPr>
              <a:t>Chapter # 1 INTRODUCTION TO PSYCHOLOGY</a:t>
            </a:r>
          </a:p>
          <a:p>
            <a:r>
              <a:rPr lang="en-US" dirty="0" smtClean="0">
                <a:solidFill>
                  <a:srgbClr val="212F62"/>
                </a:solidFill>
                <a:latin typeface="Times New Roman" panose="02020603050405020304" pitchFamily="18" charset="0"/>
                <a:cs typeface="Times New Roman" panose="02020603050405020304" pitchFamily="18" charset="0"/>
              </a:rPr>
              <a:t>Sadia Qazi</a:t>
            </a:r>
            <a:endParaRPr lang="en-US" cap="none" dirty="0" smtClean="0">
              <a:solidFill>
                <a:srgbClr val="212F62"/>
              </a:solidFill>
              <a:latin typeface="Times New Roman" panose="02020603050405020304" pitchFamily="18" charset="0"/>
              <a:cs typeface="Times New Roman" panose="02020603050405020304" pitchFamily="18" charset="0"/>
            </a:endParaRPr>
          </a:p>
          <a:p>
            <a:r>
              <a:rPr lang="en-US" dirty="0" smtClean="0">
                <a:solidFill>
                  <a:srgbClr val="212F62"/>
                </a:solidFill>
                <a:latin typeface="Times New Roman" panose="02020603050405020304" pitchFamily="18" charset="0"/>
                <a:cs typeface="Times New Roman" panose="02020603050405020304" pitchFamily="18" charset="0"/>
              </a:rPr>
              <a:t>Sadia.qazi</a:t>
            </a:r>
            <a:r>
              <a:rPr lang="en-US" cap="none" dirty="0" smtClean="0">
                <a:solidFill>
                  <a:srgbClr val="212F62"/>
                </a:solidFill>
                <a:latin typeface="Times New Roman" panose="02020603050405020304" pitchFamily="18" charset="0"/>
                <a:cs typeface="Times New Roman" panose="02020603050405020304" pitchFamily="18" charset="0"/>
              </a:rPr>
              <a:t>@ucp.edu.pk</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3465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65632" y="929513"/>
            <a:ext cx="10515600" cy="4351338"/>
          </a:xfrm>
        </p:spPr>
        <p:txBody>
          <a:bodyPr>
            <a:normAutofit fontScale="92500" lnSpcReduction="10000"/>
          </a:bodyPr>
          <a:lstStyle/>
          <a:p>
            <a:r>
              <a:rPr lang="en-US" dirty="0" smtClean="0">
                <a:latin typeface="Times New Roman" panose="02020603050405020304" pitchFamily="18" charset="0"/>
                <a:cs typeface="Times New Roman" panose="02020603050405020304" pitchFamily="18" charset="0"/>
              </a:rPr>
              <a:t>Understanding about behavior</a:t>
            </a:r>
          </a:p>
          <a:p>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Everyone wants to know about oneself and other people around them.</a:t>
            </a:r>
          </a:p>
          <a:p>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Psychology requires scientific approach</a:t>
            </a:r>
          </a:p>
          <a:p>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Natural settings, laboratories, schools, colleges, universities, parks, markets, organizations……. Every social setting.</a:t>
            </a:r>
          </a:p>
          <a:p>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Study about HOW, WHAT and WHY of human behavior.</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334612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6"/>
                </a:solidFill>
                <a:latin typeface="Times New Roman" panose="02020603050405020304" pitchFamily="18" charset="0"/>
                <a:cs typeface="Times New Roman" panose="02020603050405020304" pitchFamily="18" charset="0"/>
              </a:rPr>
              <a:t>Defining Psychology</a:t>
            </a:r>
            <a:endParaRPr lang="en-US" b="1" dirty="0">
              <a:solidFill>
                <a:schemeClr val="accent6"/>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0" indent="0">
              <a:buNone/>
            </a:pPr>
            <a:r>
              <a:rPr lang="en-US" dirty="0" smtClean="0">
                <a:latin typeface="Times New Roman" panose="02020603050405020304" pitchFamily="18" charset="0"/>
                <a:cs typeface="Times New Roman" panose="02020603050405020304" pitchFamily="18" charset="0"/>
              </a:rPr>
              <a:t>Psychology………….. </a:t>
            </a:r>
          </a:p>
          <a:p>
            <a:endParaRPr lang="en-US" dirty="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Psyche (soul/mind)</a:t>
            </a:r>
          </a:p>
          <a:p>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Logy (study)</a:t>
            </a:r>
          </a:p>
          <a:p>
            <a:endParaRPr lang="en-US"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306569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59536"/>
            <a:ext cx="10515600" cy="831152"/>
          </a:xfrm>
        </p:spPr>
        <p:txBody>
          <a:bodyPr>
            <a:normAutofit fontScale="90000"/>
          </a:bodyPr>
          <a:lstStyle/>
          <a:p>
            <a:r>
              <a:rPr lang="en-US" b="1" dirty="0" smtClean="0">
                <a:solidFill>
                  <a:schemeClr val="accent6"/>
                </a:solidFill>
                <a:latin typeface="Times New Roman" panose="02020603050405020304" pitchFamily="18" charset="0"/>
                <a:cs typeface="Times New Roman" panose="02020603050405020304" pitchFamily="18" charset="0"/>
              </a:rPr>
              <a:t>Definition of Psychology</a:t>
            </a:r>
            <a:r>
              <a:rPr lang="en-US" dirty="0" smtClean="0"/>
              <a:t/>
            </a:r>
            <a:br>
              <a:rPr lang="en-US" dirty="0" smtClean="0"/>
            </a:br>
            <a:endParaRPr lang="en-US" dirty="0"/>
          </a:p>
        </p:txBody>
      </p:sp>
      <p:sp>
        <p:nvSpPr>
          <p:cNvPr id="3" name="Content Placeholder 2"/>
          <p:cNvSpPr>
            <a:spLocks noGrp="1"/>
          </p:cNvSpPr>
          <p:nvPr>
            <p:ph idx="1"/>
          </p:nvPr>
        </p:nvSpPr>
        <p:spPr>
          <a:xfrm>
            <a:off x="838200" y="1441577"/>
            <a:ext cx="10515600" cy="4351338"/>
          </a:xfrm>
        </p:spPr>
        <p:txBody>
          <a:bodyPr>
            <a:normAutofit fontScale="85000" lnSpcReduction="20000"/>
          </a:bodyPr>
          <a:lstStyle/>
          <a:p>
            <a:endParaRPr lang="en-US" dirty="0" smtClean="0"/>
          </a:p>
          <a:p>
            <a:r>
              <a:rPr lang="en-US" dirty="0" smtClean="0">
                <a:latin typeface="Times New Roman" panose="02020603050405020304" pitchFamily="18" charset="0"/>
                <a:cs typeface="Times New Roman" panose="02020603050405020304" pitchFamily="18" charset="0"/>
              </a:rPr>
              <a:t>Psychology is the “scientific study of mental processes and behavior”.</a:t>
            </a:r>
          </a:p>
          <a:p>
            <a:endParaRPr lang="en-US" dirty="0" smtClean="0">
              <a:latin typeface="Times New Roman" panose="02020603050405020304" pitchFamily="18" charset="0"/>
              <a:cs typeface="Times New Roman" panose="02020603050405020304" pitchFamily="18" charset="0"/>
            </a:endParaRPr>
          </a:p>
          <a:p>
            <a:pPr marL="0" indent="0" algn="ctr">
              <a:buNone/>
            </a:pPr>
            <a:r>
              <a:rPr lang="en-US" dirty="0" smtClean="0">
                <a:latin typeface="Times New Roman" panose="02020603050405020304" pitchFamily="18" charset="0"/>
                <a:cs typeface="Times New Roman" panose="02020603050405020304" pitchFamily="18" charset="0"/>
              </a:rPr>
              <a:t>It encompasses not just what people do but also their thoughts, emotions, perceptions, reasoning processes, memories, and even the biological activities that maintain bodily functioning.</a:t>
            </a:r>
          </a:p>
          <a:p>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Scientific study</a:t>
            </a:r>
          </a:p>
          <a:p>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Mental processes</a:t>
            </a:r>
          </a:p>
          <a:p>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Behavior</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850461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05256"/>
            <a:ext cx="10515600" cy="996696"/>
          </a:xfrm>
        </p:spPr>
        <p:txBody>
          <a:bodyPr>
            <a:normAutofit fontScale="90000"/>
          </a:bodyPr>
          <a:lstStyle/>
          <a:p>
            <a:r>
              <a:rPr lang="en-US" b="1" dirty="0" smtClean="0">
                <a:solidFill>
                  <a:schemeClr val="accent6"/>
                </a:solidFill>
                <a:latin typeface="Times New Roman" panose="02020603050405020304" pitchFamily="18" charset="0"/>
                <a:cs typeface="Times New Roman" panose="02020603050405020304" pitchFamily="18" charset="0"/>
              </a:rPr>
              <a:t>Goals of psychology</a:t>
            </a:r>
            <a:r>
              <a:rPr lang="en-US" dirty="0" smtClean="0">
                <a:solidFill>
                  <a:schemeClr val="accent6"/>
                </a:solidFill>
              </a:rPr>
              <a:t/>
            </a:r>
            <a:br>
              <a:rPr lang="en-US" dirty="0" smtClean="0">
                <a:solidFill>
                  <a:schemeClr val="accent6"/>
                </a:solidFill>
              </a:rPr>
            </a:br>
            <a:endParaRPr lang="en-US" dirty="0">
              <a:solidFill>
                <a:schemeClr val="accent6"/>
              </a:solidFill>
            </a:endParaRPr>
          </a:p>
        </p:txBody>
      </p:sp>
      <p:sp>
        <p:nvSpPr>
          <p:cNvPr id="3" name="Content Placeholder 2"/>
          <p:cNvSpPr>
            <a:spLocks noGrp="1"/>
          </p:cNvSpPr>
          <p:nvPr>
            <p:ph idx="1"/>
          </p:nvPr>
        </p:nvSpPr>
        <p:spPr>
          <a:xfrm>
            <a:off x="774192" y="1661033"/>
            <a:ext cx="10515600" cy="4351338"/>
          </a:xfrm>
        </p:spPr>
        <p:txBody>
          <a:bodyPr>
            <a:normAutofit fontScale="92500" lnSpcReduction="20000"/>
          </a:bodyPr>
          <a:lstStyle/>
          <a:p>
            <a:endParaRPr lang="en-US" dirty="0" smtClean="0">
              <a:latin typeface="Times New Roman" panose="02020603050405020304" pitchFamily="18" charset="0"/>
              <a:cs typeface="Times New Roman" panose="02020603050405020304" pitchFamily="18" charset="0"/>
            </a:endParaRPr>
          </a:p>
          <a:p>
            <a:pPr marL="0" indent="0">
              <a:buNone/>
            </a:pPr>
            <a:r>
              <a:rPr lang="en-US" b="1" dirty="0" smtClean="0">
                <a:latin typeface="Times New Roman" panose="02020603050405020304" pitchFamily="18" charset="0"/>
                <a:cs typeface="Times New Roman" panose="02020603050405020304" pitchFamily="18" charset="0"/>
              </a:rPr>
              <a:t>To Describe</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The first goal of psychology is to describe how humans and animals behave in different situations. Through continued observation we can define what kind of behavior is considered normal or healthy and what may be seemed as abnormal or unhealthy.</a:t>
            </a:r>
          </a:p>
          <a:p>
            <a:endParaRPr lang="en-US" dirty="0" smtClean="0">
              <a:latin typeface="Times New Roman" panose="02020603050405020304" pitchFamily="18" charset="0"/>
              <a:cs typeface="Times New Roman" panose="02020603050405020304" pitchFamily="18" charset="0"/>
            </a:endParaRPr>
          </a:p>
          <a:p>
            <a:pPr marL="0" indent="0">
              <a:buNone/>
            </a:pPr>
            <a:r>
              <a:rPr lang="en-US" b="1" dirty="0" smtClean="0">
                <a:latin typeface="Times New Roman" panose="02020603050405020304" pitchFamily="18" charset="0"/>
                <a:cs typeface="Times New Roman" panose="02020603050405020304" pitchFamily="18" charset="0"/>
              </a:rPr>
              <a:t>To Explain</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Why does this behavior occur? Under what circumstances will it occur again? In order to explain a behavior, psychologists must conduct experiments to ensure that the behavior is not an anomaly. They have to consider which factors trigger certain behavior, as well as formulate certain theories which will help explain the same.</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384976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4192" y="402336"/>
            <a:ext cx="10515600" cy="1088136"/>
          </a:xfrm>
        </p:spPr>
        <p:txBody>
          <a:bodyPr>
            <a:normAutofit fontScale="90000"/>
          </a:bodyPr>
          <a:lstStyle/>
          <a:p>
            <a:r>
              <a:rPr lang="en-US" b="1" dirty="0" smtClean="0">
                <a:solidFill>
                  <a:schemeClr val="accent6"/>
                </a:solidFill>
                <a:latin typeface="Times New Roman" panose="02020603050405020304" pitchFamily="18" charset="0"/>
                <a:cs typeface="Times New Roman" panose="02020603050405020304" pitchFamily="18" charset="0"/>
              </a:rPr>
              <a:t>Goals of psychology</a:t>
            </a:r>
            <a:r>
              <a:rPr lang="en-US" dirty="0" smtClean="0">
                <a:solidFill>
                  <a:schemeClr val="accent6"/>
                </a:solidFill>
              </a:rPr>
              <a:t/>
            </a:r>
            <a:br>
              <a:rPr lang="en-US" dirty="0" smtClean="0">
                <a:solidFill>
                  <a:schemeClr val="accent6"/>
                </a:solidFill>
              </a:rPr>
            </a:br>
            <a:endParaRPr lang="en-US" dirty="0">
              <a:solidFill>
                <a:schemeClr val="accent6"/>
              </a:solidFill>
            </a:endParaRPr>
          </a:p>
        </p:txBody>
      </p:sp>
      <p:sp>
        <p:nvSpPr>
          <p:cNvPr id="3" name="Content Placeholder 2"/>
          <p:cNvSpPr>
            <a:spLocks noGrp="1"/>
          </p:cNvSpPr>
          <p:nvPr>
            <p:ph idx="1"/>
          </p:nvPr>
        </p:nvSpPr>
        <p:spPr>
          <a:xfrm>
            <a:off x="774192" y="1188720"/>
            <a:ext cx="10515600" cy="5193791"/>
          </a:xfrm>
        </p:spPr>
        <p:txBody>
          <a:bodyPr>
            <a:normAutofit fontScale="92500" lnSpcReduction="10000"/>
          </a:bodyPr>
          <a:lstStyle/>
          <a:p>
            <a:endParaRPr lang="en-US" dirty="0" smtClean="0">
              <a:latin typeface="Times New Roman" panose="02020603050405020304" pitchFamily="18" charset="0"/>
              <a:cs typeface="Times New Roman" panose="02020603050405020304" pitchFamily="18" charset="0"/>
            </a:endParaRPr>
          </a:p>
          <a:p>
            <a:pPr marL="0" indent="0">
              <a:buNone/>
            </a:pPr>
            <a:r>
              <a:rPr lang="en-US" b="1" dirty="0" smtClean="0">
                <a:latin typeface="Times New Roman" panose="02020603050405020304" pitchFamily="18" charset="0"/>
                <a:cs typeface="Times New Roman" panose="02020603050405020304" pitchFamily="18" charset="0"/>
              </a:rPr>
              <a:t>Predict</a:t>
            </a:r>
            <a:endParaRPr lang="en-US" dirty="0" smtClean="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Making predictions based on how people previously thought and acted is one of the primary goals of social psychology. By analyzing past observed behavior, psychological studies aim to predict and anticipate how a certain behavior will appear again in the future. This allows psychologists to form a pattern of behavior and better understand the underlying causes of people’s actions.</a:t>
            </a:r>
            <a:endParaRPr lang="en-US" dirty="0" smtClean="0">
              <a:latin typeface="Times New Roman" panose="02020603050405020304" pitchFamily="18" charset="0"/>
              <a:cs typeface="Times New Roman" panose="02020603050405020304" pitchFamily="18" charset="0"/>
            </a:endParaRPr>
          </a:p>
          <a:p>
            <a:pPr marL="0" indent="0">
              <a:buNone/>
            </a:pPr>
            <a:r>
              <a:rPr lang="en-US" b="1" dirty="0" smtClean="0">
                <a:latin typeface="Times New Roman" panose="02020603050405020304" pitchFamily="18" charset="0"/>
                <a:cs typeface="Times New Roman" panose="02020603050405020304" pitchFamily="18" charset="0"/>
              </a:rPr>
              <a:t>Control </a:t>
            </a:r>
          </a:p>
          <a:p>
            <a:pPr marL="0" indent="0">
              <a:buNone/>
            </a:pPr>
            <a:r>
              <a:rPr lang="en-US" dirty="0">
                <a:latin typeface="Times New Roman" panose="02020603050405020304" pitchFamily="18" charset="0"/>
                <a:cs typeface="Times New Roman" panose="02020603050405020304" pitchFamily="18" charset="0"/>
              </a:rPr>
              <a:t>Aside from treating mental illnesses and enhancing well-being, changing or controlling human behavior is one of the primary goals of research in psychology (“How the goals of psychology," </a:t>
            </a:r>
            <a:r>
              <a:rPr lang="en-US" dirty="0" err="1">
                <a:latin typeface="Times New Roman" panose="02020603050405020304" pitchFamily="18" charset="0"/>
                <a:cs typeface="Times New Roman" panose="02020603050405020304" pitchFamily="18" charset="0"/>
              </a:rPr>
              <a:t>n.d.</a:t>
            </a:r>
            <a:r>
              <a:rPr lang="en-US" dirty="0">
                <a:latin typeface="Times New Roman" panose="02020603050405020304" pitchFamily="18" charset="0"/>
                <a:cs typeface="Times New Roman" panose="02020603050405020304" pitchFamily="18" charset="0"/>
              </a:rPr>
              <a:t>). Various psychological studies about human behavior are used to influence, change, or control behavior using previously gathered data about human behavior.</a:t>
            </a:r>
            <a:endParaRPr lang="en-US"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66085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6"/>
                </a:solidFill>
                <a:latin typeface="Times New Roman" panose="02020603050405020304" pitchFamily="18" charset="0"/>
                <a:cs typeface="Times New Roman" panose="02020603050405020304" pitchFamily="18" charset="0"/>
              </a:rPr>
              <a:t>Example</a:t>
            </a:r>
            <a:r>
              <a:rPr lang="en-US" dirty="0" smtClean="0"/>
              <a:t/>
            </a:r>
            <a:br>
              <a:rPr lang="en-US" dirty="0" smtClean="0"/>
            </a:br>
            <a:endParaRPr lang="en-US" dirty="0"/>
          </a:p>
        </p:txBody>
      </p:sp>
      <p:sp>
        <p:nvSpPr>
          <p:cNvPr id="3" name="Content Placeholder 2"/>
          <p:cNvSpPr>
            <a:spLocks noGrp="1"/>
          </p:cNvSpPr>
          <p:nvPr>
            <p:ph idx="1"/>
          </p:nvPr>
        </p:nvSpPr>
        <p:spPr>
          <a:xfrm>
            <a:off x="838200" y="1435608"/>
            <a:ext cx="10515600" cy="4741355"/>
          </a:xfrm>
        </p:spPr>
        <p:txBody>
          <a:bodyPr>
            <a:normAutofit fontScale="85000" lnSpcReduction="20000"/>
          </a:bodyPr>
          <a:lstStyle/>
          <a:p>
            <a:endParaRPr lang="en-US" dirty="0" smtClean="0"/>
          </a:p>
          <a:p>
            <a:r>
              <a:rPr lang="en-US" dirty="0" smtClean="0">
                <a:latin typeface="Times New Roman" panose="02020603050405020304" pitchFamily="18" charset="0"/>
                <a:cs typeface="Times New Roman" panose="02020603050405020304" pitchFamily="18" charset="0"/>
              </a:rPr>
              <a:t>Someone did something that they weren't supposed to do that had a negative impact on their life. You want to try to help/solve the problem and naturally, the following questions might run through your mind:</a:t>
            </a:r>
          </a:p>
          <a:p>
            <a:r>
              <a:rPr lang="en-US" dirty="0" smtClean="0">
                <a:latin typeface="Times New Roman" panose="02020603050405020304" pitchFamily="18" charset="0"/>
                <a:cs typeface="Times New Roman" panose="02020603050405020304" pitchFamily="18" charset="0"/>
              </a:rPr>
              <a:t>"What happened?" (describing),</a:t>
            </a:r>
          </a:p>
          <a:p>
            <a:r>
              <a:rPr lang="en-US" dirty="0" smtClean="0">
                <a:latin typeface="Times New Roman" panose="02020603050405020304" pitchFamily="18" charset="0"/>
                <a:cs typeface="Times New Roman" panose="02020603050405020304" pitchFamily="18" charset="0"/>
              </a:rPr>
              <a:t>"Why did she do that?" (explaining),</a:t>
            </a:r>
          </a:p>
          <a:p>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"What would happen if she did this?" (predicting)</a:t>
            </a:r>
          </a:p>
          <a:p>
            <a:r>
              <a:rPr lang="en-US" dirty="0" smtClean="0">
                <a:latin typeface="Times New Roman" panose="02020603050405020304" pitchFamily="18" charset="0"/>
                <a:cs typeface="Times New Roman" panose="02020603050405020304" pitchFamily="18" charset="0"/>
              </a:rPr>
              <a:t>"What can she do next time to have a different outcome?" (changing).</a:t>
            </a:r>
          </a:p>
          <a:p>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The main difference between us asking these questions and psychologists and professional mental health professionals asking these questions is that there is a high level of education and training in the explaining, predicting and changing process that facilitates lasting positive change for individuals.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752740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41327"/>
            <a:ext cx="8062912" cy="591187"/>
          </a:xfrm>
        </p:spPr>
        <p:txBody>
          <a:bodyPr>
            <a:normAutofit fontScale="90000"/>
          </a:bodyPr>
          <a:lstStyle/>
          <a:p>
            <a:r>
              <a:rPr lang="en-US" b="1" dirty="0" err="1">
                <a:latin typeface="Times New Roman" panose="02020603050405020304" pitchFamily="18" charset="0"/>
                <a:cs typeface="Times New Roman" panose="02020603050405020304" pitchFamily="18" charset="0"/>
              </a:rPr>
              <a:t>hISTORY</a:t>
            </a:r>
            <a:r>
              <a:rPr lang="en-US" b="1" dirty="0">
                <a:latin typeface="Times New Roman" panose="02020603050405020304" pitchFamily="18" charset="0"/>
                <a:cs typeface="Times New Roman" panose="02020603050405020304" pitchFamily="18" charset="0"/>
              </a:rPr>
              <a:t> OF PSYCHOLOGY</a:t>
            </a:r>
            <a:endParaRPr lang="en-US" sz="1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sz="quarter" idx="14"/>
          </p:nvPr>
        </p:nvSpPr>
        <p:spPr>
          <a:xfrm>
            <a:off x="1981200" y="1132765"/>
            <a:ext cx="8062912" cy="5349923"/>
          </a:xfrm>
        </p:spPr>
        <p:txBody>
          <a:bodyPr>
            <a:normAutofit lnSpcReduction="10000"/>
          </a:bodyPr>
          <a:lstStyle/>
          <a:p>
            <a:r>
              <a:rPr lang="en-US" sz="1800" b="1" u="sng" dirty="0">
                <a:solidFill>
                  <a:srgbClr val="6CB255"/>
                </a:solidFill>
                <a:latin typeface="Times New Roman" panose="02020603050405020304" pitchFamily="18" charset="0"/>
                <a:cs typeface="Times New Roman" panose="02020603050405020304" pitchFamily="18" charset="0"/>
              </a:rPr>
              <a:t>Psychological perspectives</a:t>
            </a:r>
          </a:p>
          <a:p>
            <a:r>
              <a:rPr lang="en-US" sz="1600" b="1" dirty="0">
                <a:solidFill>
                  <a:schemeClr val="tx1"/>
                </a:solidFill>
                <a:latin typeface="Times New Roman" panose="02020603050405020304" pitchFamily="18" charset="0"/>
                <a:cs typeface="Times New Roman" panose="02020603050405020304" pitchFamily="18" charset="0"/>
              </a:rPr>
              <a:t>Structuralism</a:t>
            </a:r>
            <a:r>
              <a:rPr lang="en-US" sz="1600" dirty="0">
                <a:solidFill>
                  <a:schemeClr val="tx1"/>
                </a:solidFill>
                <a:latin typeface="Times New Roman" panose="02020603050405020304" pitchFamily="18" charset="0"/>
                <a:cs typeface="Times New Roman" panose="02020603050405020304" pitchFamily="18" charset="0"/>
              </a:rPr>
              <a:t> </a:t>
            </a:r>
            <a:r>
              <a:rPr lang="mr-IN" sz="1600" dirty="0">
                <a:solidFill>
                  <a:schemeClr val="tx1"/>
                </a:solidFill>
                <a:latin typeface="Times New Roman" panose="02020603050405020304" pitchFamily="18" charset="0"/>
              </a:rPr>
              <a:t>–</a:t>
            </a:r>
            <a:r>
              <a:rPr lang="en-US" sz="1600" dirty="0">
                <a:solidFill>
                  <a:schemeClr val="tx1"/>
                </a:solidFill>
                <a:latin typeface="Times New Roman" panose="02020603050405020304" pitchFamily="18" charset="0"/>
                <a:cs typeface="Times New Roman" panose="02020603050405020304" pitchFamily="18" charset="0"/>
              </a:rPr>
              <a:t> understanding the conscious experience through introspection.</a:t>
            </a:r>
            <a:endParaRPr lang="en-US" sz="1600" dirty="0">
              <a:solidFill>
                <a:srgbClr val="6CB255"/>
              </a:solidFill>
              <a:latin typeface="Times New Roman" panose="02020603050405020304" pitchFamily="18" charset="0"/>
              <a:cs typeface="Times New Roman" panose="02020603050405020304" pitchFamily="18" charset="0"/>
            </a:endParaRPr>
          </a:p>
          <a:p>
            <a:pPr marL="285750" indent="-285750">
              <a:buFontTx/>
              <a:buChar char="-"/>
            </a:pPr>
            <a:r>
              <a:rPr lang="en-US" sz="1600" dirty="0">
                <a:latin typeface="Times New Roman" panose="02020603050405020304" pitchFamily="18" charset="0"/>
                <a:cs typeface="Times New Roman" panose="02020603050405020304" pitchFamily="18" charset="0"/>
              </a:rPr>
              <a:t>Wilhelm Wundt </a:t>
            </a:r>
          </a:p>
          <a:p>
            <a:r>
              <a:rPr lang="en-US" sz="1600" b="1" dirty="0">
                <a:solidFill>
                  <a:schemeClr val="tx1"/>
                </a:solidFill>
                <a:latin typeface="Times New Roman" panose="02020603050405020304" pitchFamily="18" charset="0"/>
                <a:cs typeface="Times New Roman" panose="02020603050405020304" pitchFamily="18" charset="0"/>
              </a:rPr>
              <a:t>Functionalism </a:t>
            </a:r>
            <a:r>
              <a:rPr lang="mr-IN" sz="1600" dirty="0">
                <a:solidFill>
                  <a:schemeClr val="tx1"/>
                </a:solidFill>
                <a:latin typeface="Times New Roman" panose="02020603050405020304" pitchFamily="18" charset="0"/>
              </a:rPr>
              <a:t>–</a:t>
            </a:r>
            <a:r>
              <a:rPr lang="en-US" sz="1600" dirty="0">
                <a:solidFill>
                  <a:schemeClr val="tx1"/>
                </a:solidFill>
                <a:latin typeface="Times New Roman" panose="02020603050405020304" pitchFamily="18" charset="0"/>
                <a:cs typeface="Times New Roman" panose="02020603050405020304" pitchFamily="18" charset="0"/>
              </a:rPr>
              <a:t> focused on how mental activities helped an organism adapt to its environment.</a:t>
            </a:r>
            <a:endParaRPr lang="en-US" sz="1600" dirty="0">
              <a:solidFill>
                <a:srgbClr val="6CB255"/>
              </a:solidFill>
              <a:latin typeface="Times New Roman" panose="02020603050405020304" pitchFamily="18" charset="0"/>
              <a:cs typeface="Times New Roman" panose="02020603050405020304" pitchFamily="18" charset="0"/>
            </a:endParaRPr>
          </a:p>
          <a:p>
            <a:pPr marL="285750" indent="-285750">
              <a:buFontTx/>
              <a:buChar char="-"/>
            </a:pPr>
            <a:r>
              <a:rPr lang="en-US" sz="1600" dirty="0">
                <a:latin typeface="Times New Roman" panose="02020603050405020304" pitchFamily="18" charset="0"/>
                <a:cs typeface="Times New Roman" panose="02020603050405020304" pitchFamily="18" charset="0"/>
              </a:rPr>
              <a:t>William James</a:t>
            </a:r>
          </a:p>
          <a:p>
            <a:r>
              <a:rPr lang="en-US" sz="1600" b="1" dirty="0" smtClean="0">
                <a:solidFill>
                  <a:schemeClr val="tx1"/>
                </a:solidFill>
                <a:latin typeface="Times New Roman" panose="02020603050405020304" pitchFamily="18" charset="0"/>
                <a:cs typeface="Times New Roman" panose="02020603050405020304" pitchFamily="18" charset="0"/>
              </a:rPr>
              <a:t>Psychodynamic </a:t>
            </a:r>
            <a:r>
              <a:rPr lang="mr-IN" sz="1600" dirty="0">
                <a:solidFill>
                  <a:schemeClr val="tx1"/>
                </a:solidFill>
                <a:latin typeface="Times New Roman" panose="02020603050405020304" pitchFamily="18" charset="0"/>
              </a:rPr>
              <a:t>–</a:t>
            </a:r>
            <a:r>
              <a:rPr lang="en-US" sz="1600" dirty="0">
                <a:solidFill>
                  <a:schemeClr val="tx1"/>
                </a:solidFill>
                <a:latin typeface="Times New Roman" panose="02020603050405020304" pitchFamily="18" charset="0"/>
                <a:cs typeface="Times New Roman" panose="02020603050405020304" pitchFamily="18" charset="0"/>
              </a:rPr>
              <a:t> focuses on the role of the unconscious in affecting conscious behavior.</a:t>
            </a:r>
            <a:endParaRPr lang="en-US" sz="1600" dirty="0">
              <a:solidFill>
                <a:srgbClr val="6CB255"/>
              </a:solidFill>
              <a:latin typeface="Times New Roman" panose="02020603050405020304" pitchFamily="18" charset="0"/>
              <a:cs typeface="Times New Roman" panose="02020603050405020304" pitchFamily="18" charset="0"/>
            </a:endParaRPr>
          </a:p>
          <a:p>
            <a:pPr marL="285750" indent="-285750">
              <a:buFontTx/>
              <a:buChar char="-"/>
            </a:pPr>
            <a:r>
              <a:rPr lang="en-US" sz="1600" dirty="0">
                <a:latin typeface="Times New Roman" panose="02020603050405020304" pitchFamily="18" charset="0"/>
                <a:cs typeface="Times New Roman" panose="02020603050405020304" pitchFamily="18" charset="0"/>
              </a:rPr>
              <a:t>Sigmund Freud</a:t>
            </a:r>
          </a:p>
          <a:p>
            <a:r>
              <a:rPr lang="en-US" sz="1600" b="1" dirty="0">
                <a:solidFill>
                  <a:schemeClr val="tx1"/>
                </a:solidFill>
                <a:latin typeface="Times New Roman" panose="02020603050405020304" pitchFamily="18" charset="0"/>
                <a:cs typeface="Times New Roman" panose="02020603050405020304" pitchFamily="18" charset="0"/>
              </a:rPr>
              <a:t>Gestalt Psychology </a:t>
            </a:r>
            <a:r>
              <a:rPr lang="mr-IN" sz="1600" dirty="0">
                <a:solidFill>
                  <a:schemeClr val="tx1"/>
                </a:solidFill>
                <a:latin typeface="Times New Roman" panose="02020603050405020304" pitchFamily="18" charset="0"/>
              </a:rPr>
              <a:t>–</a:t>
            </a:r>
            <a:r>
              <a:rPr lang="en-US" sz="1600" dirty="0">
                <a:solidFill>
                  <a:schemeClr val="tx1"/>
                </a:solidFill>
                <a:latin typeface="Times New Roman" panose="02020603050405020304" pitchFamily="18" charset="0"/>
                <a:cs typeface="Times New Roman" panose="02020603050405020304" pitchFamily="18" charset="0"/>
              </a:rPr>
              <a:t> Focuses on humans as a whole rather than individual parts.</a:t>
            </a:r>
            <a:endParaRPr lang="en-US" sz="1600" dirty="0">
              <a:solidFill>
                <a:srgbClr val="6CB255"/>
              </a:solidFill>
              <a:latin typeface="Times New Roman" panose="02020603050405020304" pitchFamily="18" charset="0"/>
              <a:cs typeface="Times New Roman" panose="02020603050405020304" pitchFamily="18" charset="0"/>
            </a:endParaRPr>
          </a:p>
          <a:p>
            <a:pPr marL="285750" indent="-285750">
              <a:buFontTx/>
              <a:buChar char="-"/>
            </a:pPr>
            <a:r>
              <a:rPr lang="en-US" sz="1600" dirty="0">
                <a:latin typeface="Times New Roman" panose="02020603050405020304" pitchFamily="18" charset="0"/>
                <a:cs typeface="Times New Roman" panose="02020603050405020304" pitchFamily="18" charset="0"/>
              </a:rPr>
              <a:t>Wertheimer, </a:t>
            </a:r>
            <a:r>
              <a:rPr lang="en-US" sz="1600" dirty="0" err="1">
                <a:latin typeface="Times New Roman" panose="02020603050405020304" pitchFamily="18" charset="0"/>
                <a:cs typeface="Times New Roman" panose="02020603050405020304" pitchFamily="18" charset="0"/>
              </a:rPr>
              <a:t>Koffka</a:t>
            </a:r>
            <a:r>
              <a:rPr lang="en-US" sz="1600" dirty="0">
                <a:latin typeface="Times New Roman" panose="02020603050405020304" pitchFamily="18" charset="0"/>
                <a:cs typeface="Times New Roman" panose="02020603050405020304" pitchFamily="18" charset="0"/>
              </a:rPr>
              <a:t>, Kohler</a:t>
            </a:r>
          </a:p>
          <a:p>
            <a:r>
              <a:rPr lang="en-US" sz="1600" b="1" dirty="0">
                <a:solidFill>
                  <a:schemeClr val="tx1"/>
                </a:solidFill>
                <a:latin typeface="Times New Roman" panose="02020603050405020304" pitchFamily="18" charset="0"/>
                <a:cs typeface="Times New Roman" panose="02020603050405020304" pitchFamily="18" charset="0"/>
              </a:rPr>
              <a:t>Behaviorism </a:t>
            </a:r>
            <a:r>
              <a:rPr lang="mr-IN" sz="1600" dirty="0">
                <a:solidFill>
                  <a:schemeClr val="tx1"/>
                </a:solidFill>
                <a:latin typeface="Times New Roman" panose="02020603050405020304" pitchFamily="18" charset="0"/>
              </a:rPr>
              <a:t>–</a:t>
            </a:r>
            <a:r>
              <a:rPr lang="en-US" sz="1600" dirty="0">
                <a:solidFill>
                  <a:schemeClr val="tx1"/>
                </a:solidFill>
                <a:latin typeface="Times New Roman" panose="02020603050405020304" pitchFamily="18" charset="0"/>
                <a:cs typeface="Times New Roman" panose="02020603050405020304" pitchFamily="18" charset="0"/>
              </a:rPr>
              <a:t> focuses on observing and controlling behavior.</a:t>
            </a:r>
            <a:endParaRPr lang="en-US" sz="1600" dirty="0">
              <a:solidFill>
                <a:srgbClr val="6CB255"/>
              </a:solidFill>
              <a:latin typeface="Times New Roman" panose="02020603050405020304" pitchFamily="18" charset="0"/>
              <a:cs typeface="Times New Roman" panose="02020603050405020304" pitchFamily="18" charset="0"/>
            </a:endParaRPr>
          </a:p>
          <a:p>
            <a:pPr marL="285750" indent="-285750">
              <a:buFontTx/>
              <a:buChar char="-"/>
            </a:pPr>
            <a:r>
              <a:rPr lang="en-US" sz="1600" dirty="0">
                <a:latin typeface="Times New Roman" panose="02020603050405020304" pitchFamily="18" charset="0"/>
                <a:cs typeface="Times New Roman" panose="02020603050405020304" pitchFamily="18" charset="0"/>
              </a:rPr>
              <a:t>Pavlov, Watson, Skinner</a:t>
            </a:r>
          </a:p>
          <a:p>
            <a:r>
              <a:rPr lang="en-US" sz="1600" b="1" dirty="0">
                <a:solidFill>
                  <a:schemeClr val="tx1"/>
                </a:solidFill>
                <a:latin typeface="Times New Roman" panose="02020603050405020304" pitchFamily="18" charset="0"/>
                <a:cs typeface="Times New Roman" panose="02020603050405020304" pitchFamily="18" charset="0"/>
              </a:rPr>
              <a:t>Humanism </a:t>
            </a:r>
            <a:r>
              <a:rPr lang="en-US" sz="1600" dirty="0">
                <a:latin typeface="Times New Roman" panose="02020603050405020304" pitchFamily="18" charset="0"/>
                <a:cs typeface="Times New Roman" panose="02020603050405020304" pitchFamily="18" charset="0"/>
              </a:rPr>
              <a:t>- emphasizes the potential for good that is innate to all humans.</a:t>
            </a:r>
          </a:p>
          <a:p>
            <a:pPr marL="285750" indent="-285750">
              <a:buFontTx/>
              <a:buChar char="-"/>
            </a:pPr>
            <a:r>
              <a:rPr lang="en-US" sz="1600" dirty="0">
                <a:latin typeface="Times New Roman" panose="02020603050405020304" pitchFamily="18" charset="0"/>
                <a:cs typeface="Times New Roman" panose="02020603050405020304" pitchFamily="18" charset="0"/>
              </a:rPr>
              <a:t>Abraham Maslow and Carl </a:t>
            </a:r>
            <a:r>
              <a:rPr lang="en-US" sz="1600" dirty="0" smtClean="0">
                <a:latin typeface="Times New Roman" panose="02020603050405020304" pitchFamily="18" charset="0"/>
                <a:cs typeface="Times New Roman" panose="02020603050405020304" pitchFamily="18" charset="0"/>
              </a:rPr>
              <a:t>Rogers</a:t>
            </a:r>
          </a:p>
          <a:p>
            <a:pPr marL="285750" indent="-285750">
              <a:buFontTx/>
              <a:buChar char="-"/>
            </a:pPr>
            <a:r>
              <a:rPr lang="en-US" sz="1600" b="1" dirty="0" smtClean="0">
                <a:latin typeface="Times New Roman" panose="02020603050405020304" pitchFamily="18" charset="0"/>
                <a:cs typeface="Times New Roman" panose="02020603050405020304" pitchFamily="18" charset="0"/>
              </a:rPr>
              <a:t>Biological</a:t>
            </a:r>
          </a:p>
          <a:p>
            <a:pPr marL="285750" indent="-285750">
              <a:buFontTx/>
              <a:buChar char="-"/>
            </a:pPr>
            <a:r>
              <a:rPr lang="en-US" sz="1600" b="1" dirty="0" smtClean="0">
                <a:latin typeface="Times New Roman" panose="02020603050405020304" pitchFamily="18" charset="0"/>
                <a:cs typeface="Times New Roman" panose="02020603050405020304" pitchFamily="18" charset="0"/>
              </a:rPr>
              <a:t>Cognitive</a:t>
            </a:r>
          </a:p>
          <a:p>
            <a:pPr marL="285750" indent="-285750">
              <a:buFontTx/>
              <a:buChar char="-"/>
            </a:pPr>
            <a:r>
              <a:rPr lang="en-US" sz="1600" b="1" dirty="0" smtClean="0">
                <a:latin typeface="Times New Roman" panose="02020603050405020304" pitchFamily="18" charset="0"/>
                <a:cs typeface="Times New Roman" panose="02020603050405020304" pitchFamily="18" charset="0"/>
              </a:rPr>
              <a:t>Sociocultural </a:t>
            </a:r>
            <a:endParaRPr lang="en-US"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94278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igure Legend"/>
          <p:cNvSpPr>
            <a:spLocks noGrp="1"/>
          </p:cNvSpPr>
          <p:nvPr>
            <p:ph type="body" sz="quarter" idx="14"/>
          </p:nvPr>
        </p:nvSpPr>
        <p:spPr/>
        <p:txBody>
          <a:bodyPr>
            <a:normAutofit fontScale="92500"/>
          </a:bodyPr>
          <a:lstStyle/>
          <a:p>
            <a:r>
              <a:rPr lang="en-US" sz="1600" dirty="0">
                <a:latin typeface="Times New Roman" panose="02020603050405020304" pitchFamily="18" charset="0"/>
                <a:cs typeface="Times New Roman" panose="02020603050405020304" pitchFamily="18" charset="0"/>
              </a:rPr>
              <a:t>Wilhelm Wundt is credited as one of the founders of psychology. He created the first laboratory for psychological research.</a:t>
            </a:r>
          </a:p>
          <a:p>
            <a:r>
              <a:rPr lang="en-US" sz="1600" dirty="0">
                <a:latin typeface="Times New Roman" panose="02020603050405020304" pitchFamily="18" charset="0"/>
                <a:cs typeface="Times New Roman" panose="02020603050405020304" pitchFamily="18" charset="0"/>
              </a:rPr>
              <a:t>Wundt emphasized structuralism. He focused on understanding the structure and characteristics of the mind through introspection.</a:t>
            </a:r>
          </a:p>
          <a:p>
            <a:r>
              <a:rPr lang="en-US" sz="1600" dirty="0">
                <a:latin typeface="Times New Roman" panose="02020603050405020304" pitchFamily="18" charset="0"/>
                <a:cs typeface="Times New Roman" panose="02020603050405020304" pitchFamily="18" charset="0"/>
              </a:rPr>
              <a:t>Introspection - Process by which someone examines their own conscious experience in an attempt to break it into its component parts</a:t>
            </a:r>
          </a:p>
        </p:txBody>
      </p:sp>
      <p:pic>
        <p:nvPicPr>
          <p:cNvPr id="2" name="Figure" descr="Photograph A shows Wilhelm Wundt. Photograph B shows Wundt and five other people gathered around a desk with equipment on top of it."/>
          <p:cNvPicPr>
            <a:picLocks noGrp="1" noChangeAspect="1"/>
          </p:cNvPicPr>
          <p:nvPr>
            <p:ph type="pic" sz="quarter" idx="13"/>
          </p:nvPr>
        </p:nvPicPr>
        <p:blipFill rotWithShape="1">
          <a:blip r:embed="rId2">
            <a:extLst>
              <a:ext uri="{28A0092B-C50C-407E-A947-70E740481C1C}">
                <a14:useLocalDpi xmlns:a14="http://schemas.microsoft.com/office/drawing/2010/main" val="0"/>
              </a:ext>
            </a:extLst>
          </a:blip>
          <a:srcRect l="-8300" t="327" r="65721" b="1"/>
          <a:stretch/>
        </p:blipFill>
        <p:spPr>
          <a:xfrm>
            <a:off x="609599" y="1133856"/>
            <a:ext cx="3925825" cy="3488602"/>
          </a:xfrm>
        </p:spPr>
      </p:pic>
      <p:sp>
        <p:nvSpPr>
          <p:cNvPr id="5" name="Figure Number"/>
          <p:cNvSpPr>
            <a:spLocks noGrp="1"/>
          </p:cNvSpPr>
          <p:nvPr>
            <p:ph type="title"/>
          </p:nvPr>
        </p:nvSpPr>
        <p:spPr>
          <a:xfrm>
            <a:off x="4681728" y="768095"/>
            <a:ext cx="7355077" cy="3538729"/>
          </a:xfrm>
        </p:spPr>
        <p:txBody>
          <a:bodyPr>
            <a:normAutofit fontScale="90000"/>
          </a:bodyPr>
          <a:lstStyle/>
          <a:p>
            <a:pPr lvl="0" eaLnBrk="0" fontAlgn="base" hangingPunct="0">
              <a:lnSpc>
                <a:spcPct val="100000"/>
              </a:lnSpc>
              <a:spcAft>
                <a:spcPct val="0"/>
              </a:spcAft>
            </a:pPr>
            <a:r>
              <a:rPr lang="en-US" b="1" dirty="0">
                <a:solidFill>
                  <a:schemeClr val="accent6"/>
                </a:solidFill>
                <a:latin typeface="Times New Roman" panose="02020603050405020304" pitchFamily="18" charset="0"/>
                <a:cs typeface="Times New Roman" panose="02020603050405020304" pitchFamily="18" charset="0"/>
              </a:rPr>
              <a:t>S</a:t>
            </a:r>
            <a:r>
              <a:rPr lang="en-US" b="1" dirty="0" smtClean="0">
                <a:solidFill>
                  <a:schemeClr val="accent6"/>
                </a:solidFill>
                <a:latin typeface="Times New Roman" panose="02020603050405020304" pitchFamily="18" charset="0"/>
                <a:cs typeface="Times New Roman" panose="02020603050405020304" pitchFamily="18" charset="0"/>
              </a:rPr>
              <a:t>tructuralism </a:t>
            </a:r>
            <a:r>
              <a:rPr lang="en-US" sz="2700" b="1" dirty="0" smtClean="0">
                <a:solidFill>
                  <a:schemeClr val="accent6"/>
                </a:solidFill>
                <a:latin typeface="Times New Roman" panose="02020603050405020304" pitchFamily="18" charset="0"/>
                <a:cs typeface="Times New Roman" panose="02020603050405020304" pitchFamily="18" charset="0"/>
              </a:rPr>
              <a:t>(WILHELM </a:t>
            </a:r>
            <a:r>
              <a:rPr lang="en-US" sz="2700" b="1" dirty="0">
                <a:solidFill>
                  <a:schemeClr val="accent6"/>
                </a:solidFill>
                <a:latin typeface="Times New Roman" panose="02020603050405020304" pitchFamily="18" charset="0"/>
                <a:cs typeface="Times New Roman" panose="02020603050405020304" pitchFamily="18" charset="0"/>
              </a:rPr>
              <a:t>WUNDT </a:t>
            </a:r>
            <a:r>
              <a:rPr lang="en-US" sz="2700" b="1" dirty="0" smtClean="0">
                <a:solidFill>
                  <a:schemeClr val="accent6"/>
                </a:solidFill>
                <a:latin typeface="Times New Roman" panose="02020603050405020304" pitchFamily="18" charset="0"/>
                <a:cs typeface="Times New Roman" panose="02020603050405020304" pitchFamily="18" charset="0"/>
              </a:rPr>
              <a:t>)</a:t>
            </a:r>
            <a:r>
              <a:rPr lang="en-US" b="1" dirty="0">
                <a:latin typeface="Arial" panose="020B0604020202020204" pitchFamily="34" charset="0"/>
              </a:rPr>
              <a:t> </a:t>
            </a:r>
            <a:r>
              <a:rPr lang="en-US" b="1" dirty="0" smtClean="0">
                <a:latin typeface="Arial" panose="020B0604020202020204" pitchFamily="34" charset="0"/>
              </a:rPr>
              <a:t/>
            </a:r>
            <a:br>
              <a:rPr lang="en-US" b="1" dirty="0" smtClean="0">
                <a:latin typeface="Arial" panose="020B0604020202020204" pitchFamily="34" charset="0"/>
              </a:rPr>
            </a:br>
            <a:r>
              <a:rPr lang="en-US" b="1" dirty="0" smtClean="0">
                <a:latin typeface="Arial" panose="020B0604020202020204" pitchFamily="34" charset="0"/>
              </a:rPr>
              <a:t/>
            </a:r>
            <a:br>
              <a:rPr lang="en-US" b="1" dirty="0" smtClean="0">
                <a:latin typeface="Arial" panose="020B0604020202020204" pitchFamily="34" charset="0"/>
              </a:rPr>
            </a:br>
            <a:r>
              <a:rPr lang="en-US" sz="2000" b="1" dirty="0" smtClean="0">
                <a:latin typeface="Times New Roman" panose="02020603050405020304" pitchFamily="18" charset="0"/>
                <a:cs typeface="Times New Roman" panose="02020603050405020304" pitchFamily="18" charset="0"/>
              </a:rPr>
              <a:t>Focus</a:t>
            </a:r>
            <a:r>
              <a:rPr lang="en-US" sz="2000" b="1"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The </a:t>
            </a:r>
            <a:r>
              <a:rPr lang="en-US" sz="2000" i="1" dirty="0">
                <a:latin typeface="Times New Roman" panose="02020603050405020304" pitchFamily="18" charset="0"/>
                <a:cs typeface="Times New Roman" panose="02020603050405020304" pitchFamily="18" charset="0"/>
              </a:rPr>
              <a:t>structure of consciousness</a:t>
            </a:r>
            <a:r>
              <a:rPr lang="en-US" sz="2000" dirty="0">
                <a:latin typeface="Times New Roman" panose="02020603050405020304" pitchFamily="18" charset="0"/>
                <a:cs typeface="Times New Roman" panose="02020603050405020304" pitchFamily="18" charset="0"/>
              </a:rPr>
              <a:t> — breaking mental processes into their smallest parts (sensations, thoughts, feelings).</a:t>
            </a:r>
            <a:br>
              <a:rPr lang="en-US" sz="2000" dirty="0">
                <a:latin typeface="Times New Roman" panose="02020603050405020304" pitchFamily="18" charset="0"/>
                <a:cs typeface="Times New Roman" panose="02020603050405020304" pitchFamily="18" charset="0"/>
              </a:rPr>
            </a:br>
            <a:r>
              <a:rPr lang="en-US" sz="2000" dirty="0" smtClean="0">
                <a:latin typeface="Times New Roman" panose="02020603050405020304" pitchFamily="18" charset="0"/>
                <a:cs typeface="Times New Roman" panose="02020603050405020304" pitchFamily="18" charset="0"/>
              </a:rPr>
              <a:t/>
            </a:r>
            <a:br>
              <a:rPr lang="en-US" sz="2000" dirty="0" smtClean="0">
                <a:latin typeface="Times New Roman" panose="02020603050405020304" pitchFamily="18" charset="0"/>
                <a:cs typeface="Times New Roman" panose="02020603050405020304" pitchFamily="18" charset="0"/>
              </a:rPr>
            </a:br>
            <a:r>
              <a:rPr lang="en-US" sz="2000" b="1" dirty="0" smtClean="0">
                <a:latin typeface="Times New Roman" panose="02020603050405020304" pitchFamily="18" charset="0"/>
                <a:cs typeface="Times New Roman" panose="02020603050405020304" pitchFamily="18" charset="0"/>
              </a:rPr>
              <a:t>Method</a:t>
            </a:r>
            <a:r>
              <a:rPr lang="en-US" sz="2000" b="1"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Introspection</a:t>
            </a:r>
            <a:r>
              <a:rPr lang="en-US" sz="2000" dirty="0">
                <a:latin typeface="Times New Roman" panose="02020603050405020304" pitchFamily="18" charset="0"/>
                <a:cs typeface="Times New Roman" panose="02020603050405020304" pitchFamily="18" charset="0"/>
              </a:rPr>
              <a:t> → trained participants reported their conscious experiences while being exposed to stimuli.</a:t>
            </a:r>
            <a:br>
              <a:rPr lang="en-US" sz="2000" dirty="0">
                <a:latin typeface="Times New Roman" panose="02020603050405020304" pitchFamily="18" charset="0"/>
                <a:cs typeface="Times New Roman" panose="02020603050405020304" pitchFamily="18" charset="0"/>
              </a:rPr>
            </a:br>
            <a:r>
              <a:rPr lang="en-US" sz="2000" dirty="0" smtClean="0">
                <a:latin typeface="Times New Roman" panose="02020603050405020304" pitchFamily="18" charset="0"/>
                <a:cs typeface="Times New Roman" panose="02020603050405020304" pitchFamily="18" charset="0"/>
              </a:rPr>
              <a:t/>
            </a:r>
            <a:br>
              <a:rPr lang="en-US" sz="2000" dirty="0" smtClean="0">
                <a:latin typeface="Times New Roman" panose="02020603050405020304" pitchFamily="18" charset="0"/>
                <a:cs typeface="Times New Roman" panose="02020603050405020304" pitchFamily="18" charset="0"/>
              </a:rPr>
            </a:br>
            <a:r>
              <a:rPr lang="en-US" sz="2000" b="1" dirty="0" smtClean="0">
                <a:latin typeface="Times New Roman" panose="02020603050405020304" pitchFamily="18" charset="0"/>
                <a:cs typeface="Times New Roman" panose="02020603050405020304" pitchFamily="18" charset="0"/>
              </a:rPr>
              <a:t>Example</a:t>
            </a:r>
            <a:r>
              <a:rPr lang="en-US" sz="2000" b="1"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Looking at a rose and describing sensations (color, smell, texture).</a:t>
            </a:r>
            <a:br>
              <a:rPr lang="en-US" sz="2000" dirty="0">
                <a:latin typeface="Times New Roman" panose="02020603050405020304" pitchFamily="18" charset="0"/>
                <a:cs typeface="Times New Roman" panose="02020603050405020304" pitchFamily="18" charset="0"/>
              </a:rPr>
            </a:br>
            <a:r>
              <a:rPr lang="en-US" sz="2000" dirty="0" smtClean="0">
                <a:latin typeface="Times New Roman" panose="02020603050405020304" pitchFamily="18" charset="0"/>
                <a:cs typeface="Times New Roman" panose="02020603050405020304" pitchFamily="18" charset="0"/>
              </a:rPr>
              <a:t/>
            </a:r>
            <a:br>
              <a:rPr lang="en-US" sz="2000" dirty="0" smtClean="0">
                <a:latin typeface="Times New Roman" panose="02020603050405020304" pitchFamily="18" charset="0"/>
                <a:cs typeface="Times New Roman" panose="02020603050405020304" pitchFamily="18" charset="0"/>
              </a:rPr>
            </a:br>
            <a:r>
              <a:rPr lang="en-US" sz="2000" b="1" dirty="0" smtClean="0">
                <a:latin typeface="Times New Roman" panose="02020603050405020304" pitchFamily="18" charset="0"/>
                <a:cs typeface="Times New Roman" panose="02020603050405020304" pitchFamily="18" charset="0"/>
              </a:rPr>
              <a:t>Criticism</a:t>
            </a:r>
            <a:r>
              <a:rPr lang="en-US" sz="2000" b="1"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Highly subjective, not scientific enough.</a:t>
            </a:r>
            <a:r>
              <a:rPr lang="en-US" sz="6600" dirty="0">
                <a:latin typeface="Arial" panose="020B0604020202020204" pitchFamily="34" charset="0"/>
              </a:rPr>
              <a:t/>
            </a:r>
            <a:br>
              <a:rPr lang="en-US" sz="6600" dirty="0">
                <a:latin typeface="Arial" panose="020B0604020202020204" pitchFamily="34" charset="0"/>
              </a:rPr>
            </a:br>
            <a:endParaRPr lang="en-US" sz="6600" b="1" dirty="0">
              <a:solidFill>
                <a:schemeClr val="accent6"/>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087538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igure Legend"/>
          <p:cNvSpPr>
            <a:spLocks noGrp="1"/>
          </p:cNvSpPr>
          <p:nvPr>
            <p:ph type="body" sz="quarter" idx="4294967295"/>
          </p:nvPr>
        </p:nvSpPr>
        <p:spPr>
          <a:xfrm>
            <a:off x="5010912" y="1107618"/>
            <a:ext cx="6342888" cy="5256973"/>
          </a:xfrm>
          <a:prstGeom prst="rect">
            <a:avLst/>
          </a:prstGeom>
        </p:spPr>
        <p:txBody>
          <a:bodyPr>
            <a:noAutofit/>
          </a:bodyPr>
          <a:lstStyle/>
          <a:p>
            <a:r>
              <a:rPr lang="en-US" sz="2000" dirty="0">
                <a:solidFill>
                  <a:schemeClr val="tx1"/>
                </a:solidFill>
                <a:latin typeface="Times New Roman" panose="02020603050405020304" pitchFamily="18" charset="0"/>
                <a:cs typeface="Times New Roman" panose="02020603050405020304" pitchFamily="18" charset="0"/>
              </a:rPr>
              <a:t>William James, shown here in a self-portrait, was the first American psychologist.</a:t>
            </a:r>
          </a:p>
          <a:p>
            <a:r>
              <a:rPr lang="en-US" sz="2000" dirty="0">
                <a:solidFill>
                  <a:schemeClr val="tx1"/>
                </a:solidFill>
                <a:latin typeface="Times New Roman" panose="02020603050405020304" pitchFamily="18" charset="0"/>
                <a:cs typeface="Times New Roman" panose="02020603050405020304" pitchFamily="18" charset="0"/>
              </a:rPr>
              <a:t>James drew from the functionality of cognitive processes, establishing functionalism.</a:t>
            </a:r>
          </a:p>
          <a:p>
            <a:r>
              <a:rPr lang="en-US" sz="2000" dirty="0">
                <a:solidFill>
                  <a:schemeClr val="tx1"/>
                </a:solidFill>
                <a:latin typeface="Times New Roman" panose="02020603050405020304" pitchFamily="18" charset="0"/>
                <a:cs typeface="Times New Roman" panose="02020603050405020304" pitchFamily="18" charset="0"/>
              </a:rPr>
              <a:t>Functionalism - emphasized how mental activities contributed to basic environmental survival</a:t>
            </a:r>
            <a:r>
              <a:rPr lang="en-US" sz="2000" dirty="0" smtClean="0">
                <a:solidFill>
                  <a:schemeClr val="tx1"/>
                </a:solidFill>
                <a:latin typeface="Times New Roman" panose="02020603050405020304" pitchFamily="18" charset="0"/>
                <a:cs typeface="Times New Roman" panose="02020603050405020304" pitchFamily="18" charset="0"/>
              </a:rPr>
              <a:t>.</a:t>
            </a:r>
          </a:p>
          <a:p>
            <a:r>
              <a:rPr lang="en-US" sz="2000" b="1" dirty="0">
                <a:latin typeface="Times New Roman" panose="02020603050405020304" pitchFamily="18" charset="0"/>
                <a:cs typeface="Times New Roman" panose="02020603050405020304" pitchFamily="18" charset="0"/>
              </a:rPr>
              <a:t>Focus: </a:t>
            </a:r>
            <a:r>
              <a:rPr lang="en-US" sz="2000" dirty="0">
                <a:latin typeface="Times New Roman" panose="02020603050405020304" pitchFamily="18" charset="0"/>
                <a:cs typeface="Times New Roman" panose="02020603050405020304" pitchFamily="18" charset="0"/>
              </a:rPr>
              <a:t>The function of mental </a:t>
            </a:r>
            <a:r>
              <a:rPr lang="en-US" sz="2000" dirty="0" smtClean="0">
                <a:latin typeface="Times New Roman" panose="02020603050405020304" pitchFamily="18" charset="0"/>
                <a:cs typeface="Times New Roman" panose="02020603050405020304" pitchFamily="18" charset="0"/>
              </a:rPr>
              <a:t>processes, how </a:t>
            </a:r>
            <a:r>
              <a:rPr lang="en-US" sz="2000" dirty="0">
                <a:latin typeface="Times New Roman" panose="02020603050405020304" pitchFamily="18" charset="0"/>
                <a:cs typeface="Times New Roman" panose="02020603050405020304" pitchFamily="18" charset="0"/>
              </a:rPr>
              <a:t>consciousness helps humans adapt to their environment</a:t>
            </a:r>
            <a:r>
              <a:rPr lang="en-US" sz="2000" dirty="0" smtClean="0">
                <a:latin typeface="Times New Roman" panose="02020603050405020304" pitchFamily="18" charset="0"/>
                <a:cs typeface="Times New Roman" panose="02020603050405020304" pitchFamily="18" charset="0"/>
              </a:rPr>
              <a:t>.</a:t>
            </a:r>
          </a:p>
          <a:p>
            <a:r>
              <a:rPr lang="en-US" sz="2000" b="1" dirty="0" smtClean="0">
                <a:latin typeface="Times New Roman" panose="02020603050405020304" pitchFamily="18" charset="0"/>
                <a:cs typeface="Times New Roman" panose="02020603050405020304" pitchFamily="18" charset="0"/>
              </a:rPr>
              <a:t>Belief</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 mind is like a "toolbox" for survival</a:t>
            </a:r>
            <a:r>
              <a:rPr lang="en-US" sz="2000" dirty="0" smtClean="0">
                <a:latin typeface="Times New Roman" panose="02020603050405020304" pitchFamily="18" charset="0"/>
                <a:cs typeface="Times New Roman" panose="02020603050405020304" pitchFamily="18" charset="0"/>
              </a:rPr>
              <a:t>.</a:t>
            </a:r>
          </a:p>
          <a:p>
            <a:r>
              <a:rPr lang="en-US" sz="2000" b="1" dirty="0" smtClean="0">
                <a:latin typeface="Times New Roman" panose="02020603050405020304" pitchFamily="18" charset="0"/>
                <a:cs typeface="Times New Roman" panose="02020603050405020304" pitchFamily="18" charset="0"/>
              </a:rPr>
              <a:t>Methods</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More practical than structuralism </a:t>
            </a:r>
            <a:r>
              <a:rPr lang="en-US" sz="2000" dirty="0" smtClean="0">
                <a:latin typeface="Times New Roman" panose="02020603050405020304" pitchFamily="18" charset="0"/>
                <a:cs typeface="Times New Roman" panose="02020603050405020304" pitchFamily="18" charset="0"/>
              </a:rPr>
              <a:t>, used </a:t>
            </a:r>
            <a:r>
              <a:rPr lang="en-US" sz="2000" dirty="0">
                <a:latin typeface="Times New Roman" panose="02020603050405020304" pitchFamily="18" charset="0"/>
                <a:cs typeface="Times New Roman" panose="02020603050405020304" pitchFamily="18" charset="0"/>
              </a:rPr>
              <a:t>observation, experimentation</a:t>
            </a:r>
            <a:r>
              <a:rPr lang="en-US" sz="2000" dirty="0" smtClean="0">
                <a:latin typeface="Times New Roman" panose="02020603050405020304" pitchFamily="18" charset="0"/>
                <a:cs typeface="Times New Roman" panose="02020603050405020304" pitchFamily="18" charset="0"/>
              </a:rPr>
              <a:t>.</a:t>
            </a:r>
          </a:p>
          <a:p>
            <a:r>
              <a:rPr lang="en-US" sz="2000" b="1" dirty="0" smtClean="0">
                <a:latin typeface="Times New Roman" panose="02020603050405020304" pitchFamily="18" charset="0"/>
                <a:cs typeface="Times New Roman" panose="02020603050405020304" pitchFamily="18" charset="0"/>
              </a:rPr>
              <a:t>Legacy</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Opened the door to applied psychology (education, workplace psychology).</a:t>
            </a:r>
            <a:endParaRPr lang="en-US" sz="2000" dirty="0">
              <a:solidFill>
                <a:schemeClr val="tx1"/>
              </a:solidFill>
              <a:latin typeface="Times New Roman" panose="02020603050405020304" pitchFamily="18" charset="0"/>
              <a:cs typeface="Times New Roman" panose="02020603050405020304" pitchFamily="18" charset="0"/>
            </a:endParaRPr>
          </a:p>
        </p:txBody>
      </p:sp>
      <p:pic>
        <p:nvPicPr>
          <p:cNvPr id="2" name="Figure" descr="A drawing depicts the William James."/>
          <p:cNvPicPr>
            <a:picLocks noGrp="1" noChangeAspect="1"/>
          </p:cNvPicPr>
          <p:nvPr>
            <p:ph type="pic" sz="quarter" idx="4294967295"/>
          </p:nvPr>
        </p:nvPicPr>
        <p:blipFill>
          <a:blip r:embed="rId2">
            <a:extLst>
              <a:ext uri="{28A0092B-C50C-407E-A947-70E740481C1C}">
                <a14:useLocalDpi xmlns:a14="http://schemas.microsoft.com/office/drawing/2010/main" val="0"/>
              </a:ext>
            </a:extLst>
          </a:blip>
          <a:srcRect l="-1247" r="-1247"/>
          <a:stretch>
            <a:fillRect/>
          </a:stretch>
        </p:blipFill>
        <p:spPr>
          <a:xfrm>
            <a:off x="788988" y="1034924"/>
            <a:ext cx="4032250" cy="5256213"/>
          </a:xfrm>
          <a:prstGeom prst="rect">
            <a:avLst/>
          </a:prstGeom>
        </p:spPr>
      </p:pic>
      <p:sp>
        <p:nvSpPr>
          <p:cNvPr id="5" name="Figure Number"/>
          <p:cNvSpPr>
            <a:spLocks noGrp="1"/>
          </p:cNvSpPr>
          <p:nvPr>
            <p:ph type="title"/>
          </p:nvPr>
        </p:nvSpPr>
        <p:spPr>
          <a:xfrm>
            <a:off x="838200" y="365125"/>
            <a:ext cx="10515600" cy="742493"/>
          </a:xfrm>
        </p:spPr>
        <p:txBody>
          <a:bodyPr>
            <a:normAutofit/>
          </a:bodyPr>
          <a:lstStyle/>
          <a:p>
            <a:r>
              <a:rPr lang="en-US" dirty="0">
                <a:solidFill>
                  <a:schemeClr val="accent6"/>
                </a:solidFill>
                <a:latin typeface="Times New Roman" panose="02020603050405020304" pitchFamily="18" charset="0"/>
                <a:cs typeface="Times New Roman" panose="02020603050405020304" pitchFamily="18" charset="0"/>
              </a:rPr>
              <a:t>Functionalism </a:t>
            </a:r>
            <a:r>
              <a:rPr lang="en-US" sz="3200" dirty="0">
                <a:solidFill>
                  <a:schemeClr val="accent6"/>
                </a:solidFill>
                <a:latin typeface="Times New Roman" panose="02020603050405020304" pitchFamily="18" charset="0"/>
                <a:cs typeface="Times New Roman" panose="02020603050405020304" pitchFamily="18" charset="0"/>
              </a:rPr>
              <a:t>(WILLIAM JAMES </a:t>
            </a:r>
            <a:r>
              <a:rPr lang="en-US" sz="3200" dirty="0" smtClean="0">
                <a:solidFill>
                  <a:schemeClr val="accent6"/>
                </a:solidFill>
                <a:latin typeface="Times New Roman" panose="02020603050405020304" pitchFamily="18" charset="0"/>
                <a:cs typeface="Times New Roman" panose="02020603050405020304" pitchFamily="18" charset="0"/>
              </a:rPr>
              <a:t>)</a:t>
            </a:r>
            <a:endParaRPr lang="en-US" dirty="0">
              <a:solidFill>
                <a:schemeClr val="accent6"/>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73132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igure Legend"/>
          <p:cNvSpPr>
            <a:spLocks noGrp="1"/>
          </p:cNvSpPr>
          <p:nvPr>
            <p:ph type="body" sz="quarter" idx="14"/>
          </p:nvPr>
        </p:nvSpPr>
        <p:spPr>
          <a:xfrm>
            <a:off x="609601" y="1289304"/>
            <a:ext cx="8077200" cy="4721060"/>
          </a:xfrm>
        </p:spPr>
        <p:txBody>
          <a:bodyPr>
            <a:normAutofit/>
          </a:bodyPr>
          <a:lstStyle/>
          <a:p>
            <a:pPr marL="342900" indent="-342900">
              <a:buAutoNum type="alphaLcParenBoth"/>
            </a:pPr>
            <a:endParaRPr lang="en-US" sz="1600" dirty="0" smtClean="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Focus:</a:t>
            </a:r>
            <a:r>
              <a:rPr lang="en-US" sz="2000" dirty="0">
                <a:latin typeface="Times New Roman" panose="02020603050405020304" pitchFamily="18" charset="0"/>
                <a:cs typeface="Times New Roman" panose="02020603050405020304" pitchFamily="18" charset="0"/>
              </a:rPr>
              <a:t> The </a:t>
            </a:r>
            <a:r>
              <a:rPr lang="en-US" sz="2000" b="1" dirty="0">
                <a:latin typeface="Times New Roman" panose="02020603050405020304" pitchFamily="18" charset="0"/>
                <a:cs typeface="Times New Roman" panose="02020603050405020304" pitchFamily="18" charset="0"/>
              </a:rPr>
              <a:t>unconscious mind</a:t>
            </a:r>
            <a:r>
              <a:rPr lang="en-US" sz="2000" dirty="0">
                <a:latin typeface="Times New Roman" panose="02020603050405020304" pitchFamily="18" charset="0"/>
                <a:cs typeface="Times New Roman" panose="02020603050405020304" pitchFamily="18" charset="0"/>
              </a:rPr>
              <a:t> — hidden desires, fears, and conflicts influence behavior.</a:t>
            </a:r>
          </a:p>
          <a:p>
            <a:r>
              <a:rPr lang="en-US" sz="2000" b="1" dirty="0">
                <a:latin typeface="Times New Roman" panose="02020603050405020304" pitchFamily="18" charset="0"/>
                <a:cs typeface="Times New Roman" panose="02020603050405020304" pitchFamily="18" charset="0"/>
              </a:rPr>
              <a:t>Key Concepts:</a:t>
            </a:r>
            <a:r>
              <a:rPr lang="en-US" sz="2000" dirty="0">
                <a:latin typeface="Times New Roman" panose="02020603050405020304" pitchFamily="18" charset="0"/>
                <a:cs typeface="Times New Roman" panose="02020603050405020304" pitchFamily="18" charset="0"/>
              </a:rPr>
              <a:t> Id, Ego, Superego; defense mechanisms; psychosexual stages of development.</a:t>
            </a:r>
          </a:p>
          <a:p>
            <a:r>
              <a:rPr lang="en-US" sz="2000" b="1" dirty="0">
                <a:latin typeface="Times New Roman" panose="02020603050405020304" pitchFamily="18" charset="0"/>
                <a:cs typeface="Times New Roman" panose="02020603050405020304" pitchFamily="18" charset="0"/>
              </a:rPr>
              <a:t>Method:</a:t>
            </a:r>
            <a:r>
              <a:rPr lang="en-US" sz="2000" dirty="0">
                <a:latin typeface="Times New Roman" panose="02020603050405020304" pitchFamily="18" charset="0"/>
                <a:cs typeface="Times New Roman" panose="02020603050405020304" pitchFamily="18" charset="0"/>
              </a:rPr>
              <a:t> Dream analysis, free association, talk therapy.</a:t>
            </a:r>
          </a:p>
          <a:p>
            <a:r>
              <a:rPr lang="en-US" sz="2000" b="1" dirty="0">
                <a:latin typeface="Times New Roman" panose="02020603050405020304" pitchFamily="18" charset="0"/>
                <a:cs typeface="Times New Roman" panose="02020603050405020304" pitchFamily="18" charset="0"/>
              </a:rPr>
              <a:t>Legacy:</a:t>
            </a:r>
            <a:r>
              <a:rPr lang="en-US" sz="2000" dirty="0">
                <a:latin typeface="Times New Roman" panose="02020603050405020304" pitchFamily="18" charset="0"/>
                <a:cs typeface="Times New Roman" panose="02020603050405020304" pitchFamily="18" charset="0"/>
              </a:rPr>
              <a:t> Inspired modern psychotherapy, though criticized for lack of scientific rigor.</a:t>
            </a:r>
          </a:p>
          <a:p>
            <a:pPr marL="0" indent="0">
              <a:buNone/>
            </a:pPr>
            <a:endParaRPr lang="en-US" sz="2000" dirty="0" smtClean="0">
              <a:latin typeface="Times New Roman" panose="02020603050405020304" pitchFamily="18" charset="0"/>
              <a:cs typeface="Times New Roman" panose="02020603050405020304" pitchFamily="18" charset="0"/>
            </a:endParaRPr>
          </a:p>
          <a:p>
            <a:pPr marL="342900" indent="-342900">
              <a:buAutoNum type="alphaLcParenBoth"/>
            </a:pPr>
            <a:r>
              <a:rPr lang="en-US" sz="2000" dirty="0" smtClean="0">
                <a:latin typeface="Times New Roman" panose="02020603050405020304" pitchFamily="18" charset="0"/>
                <a:cs typeface="Times New Roman" panose="02020603050405020304" pitchFamily="18" charset="0"/>
              </a:rPr>
              <a:t>Sigmund </a:t>
            </a:r>
            <a:r>
              <a:rPr lang="en-US" sz="2000" dirty="0">
                <a:latin typeface="Times New Roman" panose="02020603050405020304" pitchFamily="18" charset="0"/>
                <a:cs typeface="Times New Roman" panose="02020603050405020304" pitchFamily="18" charset="0"/>
              </a:rPr>
              <a:t>Freud was a highly influential figure in the history of psychology.</a:t>
            </a:r>
          </a:p>
          <a:p>
            <a:pPr marL="342900" indent="-342900">
              <a:buAutoNum type="alphaLcParenBoth"/>
            </a:pPr>
            <a:r>
              <a:rPr lang="en-US" sz="2000" dirty="0">
                <a:latin typeface="Times New Roman" panose="02020603050405020304" pitchFamily="18" charset="0"/>
                <a:cs typeface="Times New Roman" panose="02020603050405020304" pitchFamily="18" charset="0"/>
              </a:rPr>
              <a:t>One of his many books</a:t>
            </a:r>
            <a:r>
              <a:rPr lang="en-US" sz="2000" i="1" dirty="0">
                <a:latin typeface="Times New Roman" panose="02020603050405020304" pitchFamily="18" charset="0"/>
                <a:cs typeface="Times New Roman" panose="02020603050405020304" pitchFamily="18" charset="0"/>
              </a:rPr>
              <a:t>, A General Introduction to Psychoanalysis</a:t>
            </a:r>
            <a:r>
              <a:rPr lang="en-US" sz="2000" dirty="0">
                <a:latin typeface="Times New Roman" panose="02020603050405020304" pitchFamily="18" charset="0"/>
                <a:cs typeface="Times New Roman" panose="02020603050405020304" pitchFamily="18" charset="0"/>
              </a:rPr>
              <a:t>, shared his ideas about psychoanalytical therapy; it was published in 1922.</a:t>
            </a:r>
          </a:p>
        </p:txBody>
      </p:sp>
      <p:pic>
        <p:nvPicPr>
          <p:cNvPr id="2" name="Figure" descr="Photograph A shows Sigmund Freud. Image B shows the title page of his book, A General Introduction to Psychoanalysis."/>
          <p:cNvPicPr>
            <a:picLocks noGrp="1" noChangeAspect="1"/>
          </p:cNvPicPr>
          <p:nvPr>
            <p:ph type="pic" sz="quarter" idx="13"/>
          </p:nvPr>
        </p:nvPicPr>
        <p:blipFill rotWithShape="1">
          <a:blip r:embed="rId2" cstate="email">
            <a:extLst>
              <a:ext uri="{28A0092B-C50C-407E-A947-70E740481C1C}">
                <a14:useLocalDpi xmlns:a14="http://schemas.microsoft.com/office/drawing/2010/main" val="0"/>
              </a:ext>
            </a:extLst>
          </a:blip>
          <a:srcRect l="-4096" r="47796"/>
          <a:stretch/>
        </p:blipFill>
        <p:spPr>
          <a:xfrm>
            <a:off x="8808720" y="241327"/>
            <a:ext cx="3383280" cy="3500071"/>
          </a:xfrm>
        </p:spPr>
      </p:pic>
      <p:sp>
        <p:nvSpPr>
          <p:cNvPr id="5" name="Figure Number"/>
          <p:cNvSpPr>
            <a:spLocks noGrp="1"/>
          </p:cNvSpPr>
          <p:nvPr>
            <p:ph type="title"/>
          </p:nvPr>
        </p:nvSpPr>
        <p:spPr/>
        <p:txBody>
          <a:bodyPr>
            <a:normAutofit fontScale="90000"/>
          </a:bodyPr>
          <a:lstStyle/>
          <a:p>
            <a:r>
              <a:rPr lang="en-US" dirty="0" smtClean="0">
                <a:solidFill>
                  <a:schemeClr val="accent6"/>
                </a:solidFill>
                <a:latin typeface="Times New Roman" panose="02020603050405020304" pitchFamily="18" charset="0"/>
                <a:cs typeface="Times New Roman" panose="02020603050405020304" pitchFamily="18" charset="0"/>
              </a:rPr>
              <a:t>Psychodynamic </a:t>
            </a:r>
            <a:r>
              <a:rPr lang="en-US" sz="3600" dirty="0" smtClean="0">
                <a:solidFill>
                  <a:schemeClr val="accent6"/>
                </a:solidFill>
                <a:latin typeface="Times New Roman" panose="02020603050405020304" pitchFamily="18" charset="0"/>
                <a:cs typeface="Times New Roman" panose="02020603050405020304" pitchFamily="18" charset="0"/>
              </a:rPr>
              <a:t>(SIGMUND FREUD)</a:t>
            </a:r>
            <a:endParaRPr lang="en-US" dirty="0">
              <a:solidFill>
                <a:schemeClr val="accent6"/>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06962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34312" y="159031"/>
            <a:ext cx="8062913" cy="986973"/>
          </a:xfrm>
        </p:spPr>
        <p:txBody>
          <a:bodyPr>
            <a:noAutofit/>
          </a:bodyPr>
          <a:lstStyle/>
          <a:p>
            <a:r>
              <a:rPr lang="en-US" dirty="0">
                <a:latin typeface="Times New Roman" panose="02020603050405020304" pitchFamily="18" charset="0"/>
                <a:cs typeface="Times New Roman" panose="02020603050405020304" pitchFamily="18" charset="0"/>
              </a:rPr>
              <a:t>SIGMUND FREUD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(psychoanalytic theory</a:t>
            </a:r>
            <a:r>
              <a:rPr lang="en-US" dirty="0"/>
              <a:t>)</a:t>
            </a:r>
          </a:p>
        </p:txBody>
      </p:sp>
      <p:sp>
        <p:nvSpPr>
          <p:cNvPr id="4" name="Text Placeholder 3"/>
          <p:cNvSpPr>
            <a:spLocks noGrp="1"/>
          </p:cNvSpPr>
          <p:nvPr>
            <p:ph type="body" sz="quarter" idx="14"/>
          </p:nvPr>
        </p:nvSpPr>
        <p:spPr>
          <a:xfrm>
            <a:off x="1981201" y="1487607"/>
            <a:ext cx="4032913" cy="4790363"/>
          </a:xfrm>
        </p:spPr>
        <p:txBody>
          <a:bodyPr>
            <a:normAutofit/>
          </a:bodyPr>
          <a:lstStyle/>
          <a:p>
            <a:r>
              <a:rPr lang="en-US" sz="1800" dirty="0">
                <a:latin typeface="Times New Roman" panose="02020603050405020304" pitchFamily="18" charset="0"/>
                <a:cs typeface="Times New Roman" panose="02020603050405020304" pitchFamily="18" charset="0"/>
              </a:rPr>
              <a:t>Founded Psychoanalytic theory, a perspective which dominated clinical psychology for many decades.</a:t>
            </a:r>
          </a:p>
          <a:p>
            <a:r>
              <a:rPr lang="en-US" sz="1800" dirty="0">
                <a:latin typeface="Times New Roman" panose="02020603050405020304" pitchFamily="18" charset="0"/>
                <a:cs typeface="Times New Roman" panose="02020603050405020304" pitchFamily="18" charset="0"/>
              </a:rPr>
              <a:t>Studied “hysteria” and neurosis.</a:t>
            </a:r>
          </a:p>
          <a:p>
            <a:r>
              <a:rPr lang="en-US" sz="1800" dirty="0">
                <a:latin typeface="Times New Roman" panose="02020603050405020304" pitchFamily="18" charset="0"/>
                <a:cs typeface="Times New Roman" panose="02020603050405020304" pitchFamily="18" charset="0"/>
              </a:rPr>
              <a:t>Theorized that many of his patients’ problems arose from the unconscious mind. </a:t>
            </a:r>
          </a:p>
          <a:p>
            <a:r>
              <a:rPr lang="en-US" sz="1800" dirty="0">
                <a:latin typeface="Times New Roman" panose="02020603050405020304" pitchFamily="18" charset="0"/>
                <a:cs typeface="Times New Roman" panose="02020603050405020304" pitchFamily="18" charset="0"/>
              </a:rPr>
              <a:t>Believed that one way the unconscious mind could be accessed was through dream analysis.</a:t>
            </a:r>
          </a:p>
          <a:p>
            <a:r>
              <a:rPr lang="en-US" sz="1800" dirty="0">
                <a:latin typeface="Times New Roman" panose="02020603050405020304" pitchFamily="18" charset="0"/>
                <a:cs typeface="Times New Roman" panose="02020603050405020304" pitchFamily="18" charset="0"/>
              </a:rPr>
              <a:t>Psychoanalytic theory focuses on the role of a person’s unconscious and early childhood experiences.</a:t>
            </a:r>
          </a:p>
        </p:txBody>
      </p:sp>
      <p:pic>
        <p:nvPicPr>
          <p:cNvPr id="5" name="Picture 4"/>
          <p:cNvPicPr>
            <a:picLocks noChangeAspect="1"/>
          </p:cNvPicPr>
          <p:nvPr/>
        </p:nvPicPr>
        <p:blipFill>
          <a:blip r:embed="rId2"/>
          <a:stretch>
            <a:fillRect/>
          </a:stretch>
        </p:blipFill>
        <p:spPr>
          <a:xfrm>
            <a:off x="6161035" y="1487607"/>
            <a:ext cx="4187386" cy="3616655"/>
          </a:xfrm>
          <a:prstGeom prst="rect">
            <a:avLst/>
          </a:prstGeom>
        </p:spPr>
      </p:pic>
      <p:sp>
        <p:nvSpPr>
          <p:cNvPr id="3" name="TextBox 2"/>
          <p:cNvSpPr txBox="1"/>
          <p:nvPr/>
        </p:nvSpPr>
        <p:spPr>
          <a:xfrm>
            <a:off x="6273421" y="5275667"/>
            <a:ext cx="3193576" cy="584775"/>
          </a:xfrm>
          <a:prstGeom prst="rect">
            <a:avLst/>
          </a:prstGeom>
          <a:noFill/>
        </p:spPr>
        <p:txBody>
          <a:bodyPr wrap="square" rtlCol="0">
            <a:spAutoFit/>
          </a:bodyPr>
          <a:lstStyle/>
          <a:p>
            <a:r>
              <a:rPr lang="en-US" sz="1400" dirty="0"/>
              <a:t>Freud’s Couch (credit: BBC)</a:t>
            </a:r>
          </a:p>
          <a:p>
            <a:endParaRPr lang="en-US" dirty="0"/>
          </a:p>
        </p:txBody>
      </p:sp>
    </p:spTree>
    <p:extLst>
      <p:ext uri="{BB962C8B-B14F-4D97-AF65-F5344CB8AC3E}">
        <p14:creationId xmlns:p14="http://schemas.microsoft.com/office/powerpoint/2010/main" val="4406153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solidFill>
                  <a:schemeClr val="accent6"/>
                </a:solidFill>
                <a:latin typeface="Times New Roman" panose="02020603050405020304" pitchFamily="18" charset="0"/>
                <a:cs typeface="Times New Roman" panose="02020603050405020304" pitchFamily="18" charset="0"/>
              </a:rPr>
              <a:t>BEHAVIORISM (John </a:t>
            </a:r>
            <a:r>
              <a:rPr lang="en-US" dirty="0" err="1" smtClean="0">
                <a:solidFill>
                  <a:schemeClr val="accent6"/>
                </a:solidFill>
                <a:latin typeface="Times New Roman" panose="02020603050405020304" pitchFamily="18" charset="0"/>
                <a:cs typeface="Times New Roman" panose="02020603050405020304" pitchFamily="18" charset="0"/>
              </a:rPr>
              <a:t>b.Watson</a:t>
            </a:r>
            <a:r>
              <a:rPr lang="en-US" dirty="0" smtClean="0">
                <a:solidFill>
                  <a:schemeClr val="accent6"/>
                </a:solidFill>
                <a:latin typeface="Times New Roman" panose="02020603050405020304" pitchFamily="18" charset="0"/>
                <a:cs typeface="Times New Roman" panose="02020603050405020304" pitchFamily="18" charset="0"/>
              </a:rPr>
              <a:t>)</a:t>
            </a:r>
            <a:endParaRPr lang="en-US" dirty="0">
              <a:solidFill>
                <a:schemeClr val="accent6"/>
              </a:solidFill>
              <a:latin typeface="Times New Roman" panose="02020603050405020304" pitchFamily="18" charset="0"/>
              <a:cs typeface="Times New Roman" panose="02020603050405020304" pitchFamily="18" charset="0"/>
            </a:endParaRPr>
          </a:p>
        </p:txBody>
      </p:sp>
      <p:sp>
        <p:nvSpPr>
          <p:cNvPr id="8" name="Content Placeholder 7"/>
          <p:cNvSpPr>
            <a:spLocks noGrp="1"/>
          </p:cNvSpPr>
          <p:nvPr>
            <p:ph sz="half" idx="2"/>
          </p:nvPr>
        </p:nvSpPr>
        <p:spPr>
          <a:xfrm>
            <a:off x="839788" y="1700213"/>
            <a:ext cx="5157787" cy="4489450"/>
          </a:xfrm>
        </p:spPr>
        <p:txBody>
          <a:bodyPr>
            <a:normAutofit lnSpcReduction="10000"/>
          </a:bodyPr>
          <a:lstStyle/>
          <a:p>
            <a:r>
              <a:rPr lang="en-US" dirty="0" smtClean="0">
                <a:solidFill>
                  <a:srgbClr val="000000"/>
                </a:solidFill>
                <a:latin typeface="Times New Roman" panose="02020603050405020304" pitchFamily="18" charset="0"/>
                <a:cs typeface="Times New Roman" panose="02020603050405020304" pitchFamily="18" charset="0"/>
              </a:rPr>
              <a:t>John B. Watson is known as the father of behaviorism within psychology.</a:t>
            </a:r>
          </a:p>
          <a:p>
            <a:r>
              <a:rPr lang="en-US" dirty="0" smtClean="0">
                <a:solidFill>
                  <a:srgbClr val="000000"/>
                </a:solidFill>
                <a:latin typeface="Times New Roman" panose="02020603050405020304" pitchFamily="18" charset="0"/>
                <a:cs typeface="Times New Roman" panose="02020603050405020304" pitchFamily="18" charset="0"/>
              </a:rPr>
              <a:t>Believed that objective analysis of the mind was impossible. </a:t>
            </a:r>
          </a:p>
          <a:p>
            <a:r>
              <a:rPr lang="en-US" dirty="0" smtClean="0">
                <a:solidFill>
                  <a:srgbClr val="000000"/>
                </a:solidFill>
                <a:latin typeface="Times New Roman" panose="02020603050405020304" pitchFamily="18" charset="0"/>
                <a:cs typeface="Times New Roman" panose="02020603050405020304" pitchFamily="18" charset="0"/>
              </a:rPr>
              <a:t>Instead he focused on observable behavior and ways to bring that behavior under control.</a:t>
            </a:r>
          </a:p>
          <a:p>
            <a:r>
              <a:rPr lang="en-US" dirty="0" smtClean="0">
                <a:solidFill>
                  <a:srgbClr val="000000"/>
                </a:solidFill>
                <a:latin typeface="Times New Roman" panose="02020603050405020304" pitchFamily="18" charset="0"/>
                <a:cs typeface="Times New Roman" panose="02020603050405020304" pitchFamily="18" charset="0"/>
              </a:rPr>
              <a:t>Today, behaviorism is used in behavioral and cognitive-behavioral therapy. </a:t>
            </a:r>
          </a:p>
          <a:p>
            <a:endParaRPr lang="en-US" dirty="0"/>
          </a:p>
        </p:txBody>
      </p:sp>
      <p:sp>
        <p:nvSpPr>
          <p:cNvPr id="9" name="Text Placeholder 8"/>
          <p:cNvSpPr>
            <a:spLocks noGrp="1"/>
          </p:cNvSpPr>
          <p:nvPr>
            <p:ph type="body" sz="quarter" idx="3"/>
          </p:nvPr>
        </p:nvSpPr>
        <p:spPr/>
        <p:txBody>
          <a:bodyPr/>
          <a:lstStyle/>
          <a:p>
            <a:endParaRPr lang="en-US"/>
          </a:p>
        </p:txBody>
      </p:sp>
      <p:pic>
        <p:nvPicPr>
          <p:cNvPr id="11" name="Figure" descr="A photograph shows John B. Watson."/>
          <p:cNvPicPr>
            <a:picLocks noGrp="1" noChangeAspect="1"/>
          </p:cNvPicPr>
          <p:nvPr>
            <p:ph sz="quarter" idx="4"/>
          </p:nvPr>
        </p:nvPicPr>
        <p:blipFill>
          <a:blip r:embed="rId2">
            <a:extLst>
              <a:ext uri="{28A0092B-C50C-407E-A947-70E740481C1C}">
                <a14:useLocalDpi xmlns:a14="http://schemas.microsoft.com/office/drawing/2010/main" val="0"/>
              </a:ext>
            </a:extLst>
          </a:blip>
          <a:srcRect l="-3899" r="-3899"/>
          <a:stretch>
            <a:fillRect/>
          </a:stretch>
        </p:blipFill>
        <p:spPr>
          <a:xfrm>
            <a:off x="5997575" y="1690688"/>
            <a:ext cx="5551297" cy="4498975"/>
          </a:xfrm>
          <a:prstGeom prst="rect">
            <a:avLst/>
          </a:prstGeom>
        </p:spPr>
      </p:pic>
    </p:spTree>
    <p:extLst>
      <p:ext uri="{BB962C8B-B14F-4D97-AF65-F5344CB8AC3E}">
        <p14:creationId xmlns:p14="http://schemas.microsoft.com/office/powerpoint/2010/main" val="12087919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chemeClr val="accent6"/>
                </a:solidFill>
                <a:latin typeface="Times New Roman" panose="02020603050405020304" pitchFamily="18" charset="0"/>
                <a:cs typeface="Times New Roman" panose="02020603050405020304" pitchFamily="18" charset="0"/>
              </a:rPr>
              <a:t>IVAN PAVLOV (CLASSICAL CONDITIONING)</a:t>
            </a:r>
          </a:p>
        </p:txBody>
      </p:sp>
      <p:sp>
        <p:nvSpPr>
          <p:cNvPr id="4" name="Text Placeholder 3"/>
          <p:cNvSpPr>
            <a:spLocks noGrp="1"/>
          </p:cNvSpPr>
          <p:nvPr>
            <p:ph type="body" sz="quarter" idx="14"/>
          </p:nvPr>
        </p:nvSpPr>
        <p:spPr>
          <a:xfrm>
            <a:off x="1353312" y="1187356"/>
            <a:ext cx="8995109" cy="4692236"/>
          </a:xfrm>
        </p:spPr>
        <p:txBody>
          <a:bodyPr>
            <a:normAutofit/>
          </a:bodyPr>
          <a:lstStyle/>
          <a:p>
            <a:endParaRPr lang="en-US" dirty="0">
              <a:latin typeface="Times New Roman" panose="02020603050405020304" pitchFamily="18" charset="0"/>
              <a:cs typeface="Times New Roman" panose="02020603050405020304" pitchFamily="18" charset="0"/>
            </a:endParaRPr>
          </a:p>
          <a:p>
            <a:endParaRPr lang="en-US" dirty="0"/>
          </a:p>
        </p:txBody>
      </p:sp>
      <p:sp>
        <p:nvSpPr>
          <p:cNvPr id="5" name="Rectangle 4"/>
          <p:cNvSpPr/>
          <p:nvPr/>
        </p:nvSpPr>
        <p:spPr>
          <a:xfrm>
            <a:off x="1353312" y="1292412"/>
            <a:ext cx="8494776" cy="4524315"/>
          </a:xfrm>
          <a:prstGeom prst="rect">
            <a:avLst/>
          </a:prstGeom>
        </p:spPr>
        <p:txBody>
          <a:bodyPr wrap="square">
            <a:spAutoFit/>
          </a:bodyPr>
          <a:lstStyle/>
          <a:p>
            <a:r>
              <a:rPr lang="en-US" sz="2400" b="1" dirty="0">
                <a:latin typeface="Times New Roman" panose="02020603050405020304" pitchFamily="18" charset="0"/>
                <a:cs typeface="Times New Roman" panose="02020603050405020304" pitchFamily="18" charset="0"/>
              </a:rPr>
              <a:t>Founders:</a:t>
            </a:r>
            <a:r>
              <a:rPr lang="en-US" sz="2400" dirty="0">
                <a:latin typeface="Times New Roman" panose="02020603050405020304" pitchFamily="18" charset="0"/>
                <a:cs typeface="Times New Roman" panose="02020603050405020304" pitchFamily="18" charset="0"/>
              </a:rPr>
              <a:t> John B. Watson, later B.F. Skinner.</a:t>
            </a:r>
          </a:p>
          <a:p>
            <a:r>
              <a:rPr lang="en-US" sz="2400" b="1" dirty="0">
                <a:latin typeface="Times New Roman" panose="02020603050405020304" pitchFamily="18" charset="0"/>
                <a:cs typeface="Times New Roman" panose="02020603050405020304" pitchFamily="18" charset="0"/>
              </a:rPr>
              <a:t>Focus:</a:t>
            </a:r>
            <a:r>
              <a:rPr lang="en-US" sz="2400" dirty="0">
                <a:latin typeface="Times New Roman" panose="02020603050405020304" pitchFamily="18" charset="0"/>
                <a:cs typeface="Times New Roman" panose="02020603050405020304" pitchFamily="18" charset="0"/>
              </a:rPr>
              <a:t> Observable behavior only (not thoughts/feelings).</a:t>
            </a:r>
          </a:p>
          <a:p>
            <a:r>
              <a:rPr lang="en-US" sz="2400" b="1" dirty="0">
                <a:latin typeface="Times New Roman" panose="02020603050405020304" pitchFamily="18" charset="0"/>
                <a:cs typeface="Times New Roman" panose="02020603050405020304" pitchFamily="18" charset="0"/>
              </a:rPr>
              <a:t>Belief:</a:t>
            </a:r>
            <a:r>
              <a:rPr lang="en-US" sz="2400" dirty="0">
                <a:latin typeface="Times New Roman" panose="02020603050405020304" pitchFamily="18" charset="0"/>
                <a:cs typeface="Times New Roman" panose="02020603050405020304" pitchFamily="18" charset="0"/>
              </a:rPr>
              <a:t> Behavior is shaped by the environment through </a:t>
            </a:r>
            <a:r>
              <a:rPr lang="en-US" sz="2400" b="1" dirty="0">
                <a:latin typeface="Times New Roman" panose="02020603050405020304" pitchFamily="18" charset="0"/>
                <a:cs typeface="Times New Roman" panose="02020603050405020304" pitchFamily="18" charset="0"/>
              </a:rPr>
              <a:t>conditioning</a:t>
            </a:r>
            <a:r>
              <a:rPr lang="en-US" sz="2400" dirty="0">
                <a:latin typeface="Times New Roman" panose="02020603050405020304" pitchFamily="18" charset="0"/>
                <a:cs typeface="Times New Roman" panose="02020603050405020304" pitchFamily="18" charset="0"/>
              </a:rPr>
              <a:t>.</a:t>
            </a:r>
          </a:p>
          <a:p>
            <a:endParaRPr lang="en-US" sz="2400" b="1" dirty="0" smtClean="0">
              <a:latin typeface="Times New Roman" panose="02020603050405020304" pitchFamily="18" charset="0"/>
              <a:cs typeface="Times New Roman" panose="02020603050405020304" pitchFamily="18" charset="0"/>
            </a:endParaRPr>
          </a:p>
          <a:p>
            <a:r>
              <a:rPr lang="en-US" sz="2400" b="1" dirty="0" smtClean="0">
                <a:latin typeface="Times New Roman" panose="02020603050405020304" pitchFamily="18" charset="0"/>
                <a:cs typeface="Times New Roman" panose="02020603050405020304" pitchFamily="18" charset="0"/>
              </a:rPr>
              <a:t>Key </a:t>
            </a:r>
            <a:r>
              <a:rPr lang="en-US" sz="2400" b="1" dirty="0">
                <a:latin typeface="Times New Roman" panose="02020603050405020304" pitchFamily="18" charset="0"/>
                <a:cs typeface="Times New Roman" panose="02020603050405020304" pitchFamily="18" charset="0"/>
              </a:rPr>
              <a:t>Experiments:</a:t>
            </a:r>
            <a:endParaRPr lang="en-US" sz="24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Pavlov’s Dogs → Classical Conditioning.</a:t>
            </a:r>
          </a:p>
          <a:p>
            <a:pPr marL="742950" lvl="1"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Watson’s Little Albert → Conditioning fear.</a:t>
            </a:r>
          </a:p>
          <a:p>
            <a:pPr marL="742950" lvl="1"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Skinner’s Box → Operant Conditioning (rewards &amp; punishments).</a:t>
            </a:r>
          </a:p>
          <a:p>
            <a:r>
              <a:rPr lang="en-US" sz="2400" b="1" dirty="0">
                <a:latin typeface="Times New Roman" panose="02020603050405020304" pitchFamily="18" charset="0"/>
                <a:cs typeface="Times New Roman" panose="02020603050405020304" pitchFamily="18" charset="0"/>
              </a:rPr>
              <a:t>Legacy:</a:t>
            </a:r>
            <a:r>
              <a:rPr lang="en-US" sz="2400" dirty="0">
                <a:latin typeface="Times New Roman" panose="02020603050405020304" pitchFamily="18" charset="0"/>
                <a:cs typeface="Times New Roman" panose="02020603050405020304" pitchFamily="18" charset="0"/>
              </a:rPr>
              <a:t> Behavior therapy, educational psychology, applied behavior analysis</a:t>
            </a:r>
            <a:r>
              <a:rPr lang="en-US" dirty="0"/>
              <a:t>.</a:t>
            </a:r>
          </a:p>
        </p:txBody>
      </p:sp>
    </p:spTree>
    <p:extLst>
      <p:ext uri="{BB962C8B-B14F-4D97-AF65-F5344CB8AC3E}">
        <p14:creationId xmlns:p14="http://schemas.microsoft.com/office/powerpoint/2010/main" val="12085150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chemeClr val="accent6"/>
                </a:solidFill>
                <a:latin typeface="Times New Roman" panose="02020603050405020304" pitchFamily="18" charset="0"/>
                <a:cs typeface="Times New Roman" panose="02020603050405020304" pitchFamily="18" charset="0"/>
              </a:rPr>
              <a:t>IVAN PAVLOV (CLASSICAL CONDITIONING)</a:t>
            </a:r>
          </a:p>
        </p:txBody>
      </p:sp>
      <p:sp>
        <p:nvSpPr>
          <p:cNvPr id="4" name="Text Placeholder 3"/>
          <p:cNvSpPr>
            <a:spLocks noGrp="1"/>
          </p:cNvSpPr>
          <p:nvPr>
            <p:ph type="body" sz="quarter" idx="14"/>
          </p:nvPr>
        </p:nvSpPr>
        <p:spPr>
          <a:xfrm>
            <a:off x="1981200" y="1187356"/>
            <a:ext cx="8367221" cy="1872995"/>
          </a:xfrm>
        </p:spPr>
        <p:txBody>
          <a:bodyPr>
            <a:normAutofit/>
          </a:bodyPr>
          <a:lstStyle/>
          <a:p>
            <a:r>
              <a:rPr lang="en-US" sz="1900" dirty="0">
                <a:latin typeface="Times New Roman" panose="02020603050405020304" pitchFamily="18" charset="0"/>
                <a:cs typeface="Times New Roman" panose="02020603050405020304" pitchFamily="18" charset="0"/>
              </a:rPr>
              <a:t>Discovered the concept of classical conditioning.</a:t>
            </a:r>
          </a:p>
          <a:p>
            <a:r>
              <a:rPr lang="en-US" sz="1900" dirty="0">
                <a:latin typeface="Times New Roman" panose="02020603050405020304" pitchFamily="18" charset="0"/>
                <a:cs typeface="Times New Roman" panose="02020603050405020304" pitchFamily="18" charset="0"/>
              </a:rPr>
              <a:t>Studied conditioned reflexes in which an animal produced a reflex (unconscious) response to a stimulus (salivating in the presence of food) and, over time, was conditioned to produce the response to a different stimulus (salivating to the sound of a bell) that the experimenter associated with the original stimulus (Food and bell became associated).</a:t>
            </a:r>
          </a:p>
          <a:p>
            <a:endParaRPr lang="en-US" dirty="0">
              <a:latin typeface="Times New Roman" panose="02020603050405020304" pitchFamily="18" charset="0"/>
              <a:cs typeface="Times New Roman" panose="02020603050405020304" pitchFamily="18" charset="0"/>
            </a:endParaRPr>
          </a:p>
          <a:p>
            <a:endParaRPr lang="en-US" dirty="0"/>
          </a:p>
        </p:txBody>
      </p:sp>
      <p:pic>
        <p:nvPicPr>
          <p:cNvPr id="7" name="Picture 6"/>
          <p:cNvPicPr>
            <a:picLocks noChangeAspect="1"/>
          </p:cNvPicPr>
          <p:nvPr/>
        </p:nvPicPr>
        <p:blipFill>
          <a:blip r:embed="rId2"/>
          <a:stretch>
            <a:fillRect/>
          </a:stretch>
        </p:blipFill>
        <p:spPr>
          <a:xfrm>
            <a:off x="4089778" y="3152524"/>
            <a:ext cx="6258642" cy="3479072"/>
          </a:xfrm>
          <a:prstGeom prst="rect">
            <a:avLst/>
          </a:prstGeom>
        </p:spPr>
      </p:pic>
      <p:sp>
        <p:nvSpPr>
          <p:cNvPr id="3" name="TextBox 2"/>
          <p:cNvSpPr txBox="1"/>
          <p:nvPr/>
        </p:nvSpPr>
        <p:spPr>
          <a:xfrm>
            <a:off x="4089778" y="6431383"/>
            <a:ext cx="1760560" cy="584775"/>
          </a:xfrm>
          <a:prstGeom prst="rect">
            <a:avLst/>
          </a:prstGeom>
          <a:noFill/>
        </p:spPr>
        <p:txBody>
          <a:bodyPr wrap="square" rtlCol="0">
            <a:spAutoFit/>
          </a:bodyPr>
          <a:lstStyle/>
          <a:p>
            <a:r>
              <a:rPr lang="en-US" sz="1400" dirty="0"/>
              <a:t>(Credit: </a:t>
            </a:r>
            <a:r>
              <a:rPr lang="en-US" sz="1400" dirty="0" err="1"/>
              <a:t>Emaze</a:t>
            </a:r>
            <a:r>
              <a:rPr lang="en-US" sz="1400" dirty="0"/>
              <a:t>)</a:t>
            </a:r>
          </a:p>
          <a:p>
            <a:endParaRPr lang="en-US" dirty="0"/>
          </a:p>
        </p:txBody>
      </p:sp>
    </p:spTree>
    <p:extLst>
      <p:ext uri="{BB962C8B-B14F-4D97-AF65-F5344CB8AC3E}">
        <p14:creationId xmlns:p14="http://schemas.microsoft.com/office/powerpoint/2010/main" val="36082005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Figure" descr="Photograph A shows B.F. Skinner. Illustration B shows a rat in a Skinner box: a chamber with a speaker, lights, a lever, and a food dispense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t="-5241" b="-5241"/>
          <a:stretch>
            <a:fillRect/>
          </a:stretch>
        </p:blipFill>
        <p:spPr>
          <a:xfrm>
            <a:off x="2133353" y="2651036"/>
            <a:ext cx="8062913" cy="3500071"/>
          </a:xfrm>
        </p:spPr>
      </p:pic>
      <p:sp>
        <p:nvSpPr>
          <p:cNvPr id="5" name="Figure Number"/>
          <p:cNvSpPr>
            <a:spLocks noGrp="1"/>
          </p:cNvSpPr>
          <p:nvPr>
            <p:ph type="title"/>
          </p:nvPr>
        </p:nvSpPr>
        <p:spPr/>
        <p:txBody>
          <a:bodyPr>
            <a:normAutofit fontScale="90000"/>
          </a:bodyPr>
          <a:lstStyle/>
          <a:p>
            <a:r>
              <a:rPr lang="en-US" dirty="0">
                <a:solidFill>
                  <a:schemeClr val="accent6"/>
                </a:solidFill>
                <a:latin typeface="Times New Roman" panose="02020603050405020304" pitchFamily="18" charset="0"/>
                <a:cs typeface="Times New Roman" panose="02020603050405020304" pitchFamily="18" charset="0"/>
              </a:rPr>
              <a:t>B. F. Skinner</a:t>
            </a:r>
          </a:p>
        </p:txBody>
      </p:sp>
      <p:sp>
        <p:nvSpPr>
          <p:cNvPr id="9" name="TextBox 8"/>
          <p:cNvSpPr txBox="1"/>
          <p:nvPr/>
        </p:nvSpPr>
        <p:spPr>
          <a:xfrm>
            <a:off x="1981200" y="1173707"/>
            <a:ext cx="8367221" cy="1200329"/>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Concentrated on how behavior was affected by its consequences.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Studied the principles of modifying behavior through reinforcement and punishment which he saw as major factors in driving behavior (operant conditioning).</a:t>
            </a:r>
          </a:p>
        </p:txBody>
      </p:sp>
    </p:spTree>
    <p:extLst>
      <p:ext uri="{BB962C8B-B14F-4D97-AF65-F5344CB8AC3E}">
        <p14:creationId xmlns:p14="http://schemas.microsoft.com/office/powerpoint/2010/main" val="22282121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igure Legend"/>
          <p:cNvSpPr>
            <a:spLocks noGrp="1"/>
          </p:cNvSpPr>
          <p:nvPr>
            <p:ph type="body" sz="quarter" idx="4294967295"/>
          </p:nvPr>
        </p:nvSpPr>
        <p:spPr>
          <a:xfrm>
            <a:off x="1981200" y="1536192"/>
            <a:ext cx="3913188" cy="4828399"/>
          </a:xfrm>
          <a:prstGeom prst="rect">
            <a:avLst/>
          </a:prstGeom>
        </p:spPr>
        <p:txBody>
          <a:bodyPr>
            <a:noAutofit/>
          </a:bodyPr>
          <a:lstStyle/>
          <a:p>
            <a:endParaRPr lang="en-US" sz="1600" dirty="0">
              <a:solidFill>
                <a:srgbClr val="000000"/>
              </a:solidFill>
            </a:endParaRPr>
          </a:p>
          <a:p>
            <a:endParaRPr lang="en-US" sz="1600" dirty="0">
              <a:solidFill>
                <a:srgbClr val="000000"/>
              </a:solidFill>
            </a:endParaRPr>
          </a:p>
          <a:p>
            <a:endParaRPr lang="en-US" sz="1600" dirty="0">
              <a:solidFill>
                <a:srgbClr val="000000"/>
              </a:solidFill>
            </a:endParaRPr>
          </a:p>
          <a:p>
            <a:endParaRPr lang="en-US" sz="1600" dirty="0">
              <a:solidFill>
                <a:srgbClr val="000000"/>
              </a:solidFill>
            </a:endParaRPr>
          </a:p>
          <a:p>
            <a:endParaRPr lang="en-US" sz="1600" dirty="0">
              <a:solidFill>
                <a:srgbClr val="000000"/>
              </a:solidFill>
            </a:endParaRPr>
          </a:p>
          <a:p>
            <a:endParaRPr lang="en-US" sz="1600" dirty="0">
              <a:solidFill>
                <a:srgbClr val="000000"/>
              </a:solidFill>
            </a:endParaRPr>
          </a:p>
          <a:p>
            <a:endParaRPr lang="en-US" sz="1600" dirty="0">
              <a:solidFill>
                <a:srgbClr val="000000"/>
              </a:solidFill>
            </a:endParaRPr>
          </a:p>
          <a:p>
            <a:endParaRPr lang="en-US" sz="1600" dirty="0">
              <a:solidFill>
                <a:srgbClr val="000000"/>
              </a:solidFill>
            </a:endParaRPr>
          </a:p>
          <a:p>
            <a:endParaRPr lang="en-US" sz="1600" dirty="0">
              <a:solidFill>
                <a:srgbClr val="000000"/>
              </a:solidFill>
            </a:endParaRPr>
          </a:p>
          <a:p>
            <a:endParaRPr lang="en-US" sz="1600" dirty="0">
              <a:solidFill>
                <a:srgbClr val="000000"/>
              </a:solidFill>
            </a:endParaRPr>
          </a:p>
        </p:txBody>
      </p:sp>
      <p:sp>
        <p:nvSpPr>
          <p:cNvPr id="7" name="Figure Numbe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smtClean="0">
                <a:solidFill>
                  <a:schemeClr val="accent6"/>
                </a:solidFill>
                <a:latin typeface="Times New Roman" panose="02020603050405020304" pitchFamily="18" charset="0"/>
                <a:cs typeface="Times New Roman" panose="02020603050405020304" pitchFamily="18" charset="0"/>
              </a:rPr>
              <a:t>Humanism</a:t>
            </a:r>
            <a:r>
              <a:rPr lang="en-US" smtClean="0">
                <a:solidFill>
                  <a:schemeClr val="accent6"/>
                </a:solidFill>
                <a:latin typeface="Times New Roman" panose="02020603050405020304" pitchFamily="18" charset="0"/>
                <a:cs typeface="Times New Roman" panose="02020603050405020304" pitchFamily="18" charset="0"/>
              </a:rPr>
              <a:t> </a:t>
            </a:r>
            <a:r>
              <a:rPr lang="en-US" sz="3200" smtClean="0">
                <a:solidFill>
                  <a:schemeClr val="accent6"/>
                </a:solidFill>
                <a:latin typeface="Times New Roman" panose="02020603050405020304" pitchFamily="18" charset="0"/>
                <a:cs typeface="Times New Roman" panose="02020603050405020304" pitchFamily="18" charset="0"/>
              </a:rPr>
              <a:t>(CARL ROGERS )</a:t>
            </a:r>
            <a:endParaRPr lang="en-US" dirty="0">
              <a:solidFill>
                <a:schemeClr val="accent6"/>
              </a:solidFill>
              <a:latin typeface="Times New Roman" panose="02020603050405020304" pitchFamily="18" charset="0"/>
              <a:cs typeface="Times New Roman" panose="02020603050405020304" pitchFamily="18" charset="0"/>
            </a:endParaRPr>
          </a:p>
        </p:txBody>
      </p:sp>
      <p:sp>
        <p:nvSpPr>
          <p:cNvPr id="6" name="Rectangle 3"/>
          <p:cNvSpPr>
            <a:spLocks noGrp="1" noChangeArrowheads="1"/>
          </p:cNvSpPr>
          <p:nvPr>
            <p:ph type="title"/>
          </p:nvPr>
        </p:nvSpPr>
        <p:spPr bwMode="auto">
          <a:xfrm>
            <a:off x="810325" y="1752988"/>
            <a:ext cx="9092628"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Key Figures:</a:t>
            </a:r>
            <a:r>
              <a:rPr kumimoji="0" 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Carl Rogers, Abraham Maslow.</a:t>
            </a:r>
          </a:p>
          <a:p>
            <a:pPr marL="0" marR="0" lvl="0" indent="0" algn="l" defTabSz="914400" rtl="0" eaLnBrk="0" fontAlgn="base" latinLnBrk="0" hangingPunct="0">
              <a:lnSpc>
                <a:spcPct val="100000"/>
              </a:lnSpc>
              <a:spcBef>
                <a:spcPct val="0"/>
              </a:spcBef>
              <a:spcAft>
                <a:spcPct val="0"/>
              </a:spcAft>
              <a:buClrTx/>
              <a:buSzTx/>
              <a:tabLst/>
            </a:pPr>
            <a:r>
              <a:rPr kumimoji="0" 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r>
            <a:br>
              <a:rPr kumimoji="0" 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r>
              <a:rPr kumimoji="0" 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Focus:</a:t>
            </a:r>
            <a:r>
              <a:rPr kumimoji="0" 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Free will, personal growth, and human potential.</a:t>
            </a:r>
          </a:p>
          <a:p>
            <a:pPr marL="0" marR="0" lvl="0" indent="0" algn="l" defTabSz="914400" rtl="0" eaLnBrk="0" fontAlgn="base" latinLnBrk="0" hangingPunct="0">
              <a:lnSpc>
                <a:spcPct val="100000"/>
              </a:lnSpc>
              <a:spcBef>
                <a:spcPct val="0"/>
              </a:spcBef>
              <a:spcAft>
                <a:spcPct val="0"/>
              </a:spcAft>
              <a:buClrTx/>
              <a:buSzTx/>
              <a:tabLst/>
            </a:pPr>
            <a:r>
              <a:rPr kumimoji="0" 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r>
            <a:br>
              <a:rPr kumimoji="0" 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r>
              <a:rPr kumimoji="0" 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Belief:</a:t>
            </a:r>
            <a:r>
              <a:rPr kumimoji="0" 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Humans are inherently good and strive for </a:t>
            </a:r>
            <a:r>
              <a:rPr kumimoji="0" 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self-actualization</a:t>
            </a:r>
            <a:r>
              <a:rPr kumimoji="0" 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(becoming the best version of themselves).</a:t>
            </a:r>
          </a:p>
          <a:p>
            <a:pPr marL="0" marR="0" lvl="0" indent="0" algn="l" defTabSz="914400" rtl="0" eaLnBrk="0" fontAlgn="base" latinLnBrk="0" hangingPunct="0">
              <a:lnSpc>
                <a:spcPct val="100000"/>
              </a:lnSpc>
              <a:spcBef>
                <a:spcPct val="0"/>
              </a:spcBef>
              <a:spcAft>
                <a:spcPct val="0"/>
              </a:spcAft>
              <a:buClrTx/>
              <a:buSzTx/>
              <a:tabLst/>
            </a:pPr>
            <a:r>
              <a:rPr kumimoji="0" 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r>
            <a:br>
              <a:rPr kumimoji="0" 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r>
              <a:rPr kumimoji="0" 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Applications:</a:t>
            </a:r>
            <a:r>
              <a:rPr kumimoji="0" 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Client-centered therapy, positive psychology.</a:t>
            </a:r>
          </a:p>
          <a:p>
            <a:pPr marL="0" marR="0" lvl="0" indent="0" algn="l" defTabSz="914400" rtl="0" eaLnBrk="0" fontAlgn="base" latinLnBrk="0" hangingPunct="0">
              <a:lnSpc>
                <a:spcPct val="100000"/>
              </a:lnSpc>
              <a:spcBef>
                <a:spcPct val="0"/>
              </a:spcBef>
              <a:spcAft>
                <a:spcPct val="0"/>
              </a:spcAft>
              <a:buClrTx/>
              <a:buSzTx/>
              <a:tabLst/>
            </a:pPr>
            <a:r>
              <a:rPr kumimoji="0" 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r>
            <a:br>
              <a:rPr kumimoji="0" 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r>
              <a:rPr kumimoji="0" 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Contrast:</a:t>
            </a:r>
            <a:r>
              <a:rPr kumimoji="0" 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Seen as a response to behaviorism (too mechanical) and psychoanalysis (too negative).</a:t>
            </a:r>
          </a:p>
        </p:txBody>
      </p:sp>
    </p:spTree>
    <p:extLst>
      <p:ext uri="{BB962C8B-B14F-4D97-AF65-F5344CB8AC3E}">
        <p14:creationId xmlns:p14="http://schemas.microsoft.com/office/powerpoint/2010/main" val="39013448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igure Legend"/>
          <p:cNvSpPr>
            <a:spLocks noGrp="1"/>
          </p:cNvSpPr>
          <p:nvPr>
            <p:ph type="body" sz="quarter" idx="4294967295"/>
          </p:nvPr>
        </p:nvSpPr>
        <p:spPr>
          <a:xfrm>
            <a:off x="1981200" y="1536192"/>
            <a:ext cx="3913188" cy="4828399"/>
          </a:xfrm>
          <a:prstGeom prst="rect">
            <a:avLst/>
          </a:prstGeom>
        </p:spPr>
        <p:txBody>
          <a:bodyPr>
            <a:noAutofit/>
          </a:bodyPr>
          <a:lstStyle/>
          <a:p>
            <a:r>
              <a:rPr lang="en-US" sz="2000" dirty="0">
                <a:solidFill>
                  <a:srgbClr val="000000"/>
                </a:solidFill>
                <a:latin typeface="Times New Roman" panose="02020603050405020304" pitchFamily="18" charset="0"/>
                <a:cs typeface="Times New Roman" panose="02020603050405020304" pitchFamily="18" charset="0"/>
              </a:rPr>
              <a:t>Carl Rogers developed a client-centered therapy method that has been influential in clinical settings. </a:t>
            </a:r>
          </a:p>
          <a:p>
            <a:r>
              <a:rPr lang="en-US" sz="2000" dirty="0">
                <a:solidFill>
                  <a:srgbClr val="000000"/>
                </a:solidFill>
                <a:latin typeface="Times New Roman" panose="02020603050405020304" pitchFamily="18" charset="0"/>
                <a:cs typeface="Times New Roman" panose="02020603050405020304" pitchFamily="18" charset="0"/>
              </a:rPr>
              <a:t>Client-centered therapy involves the patient taking a lead role in the therapy session.</a:t>
            </a:r>
          </a:p>
          <a:p>
            <a:r>
              <a:rPr lang="en-US" sz="2000" dirty="0">
                <a:solidFill>
                  <a:srgbClr val="000000"/>
                </a:solidFill>
                <a:latin typeface="Times New Roman" panose="02020603050405020304" pitchFamily="18" charset="0"/>
                <a:cs typeface="Times New Roman" panose="02020603050405020304" pitchFamily="18" charset="0"/>
              </a:rPr>
              <a:t>Rogers believed therapists need:</a:t>
            </a:r>
          </a:p>
          <a:p>
            <a:pPr marL="285750" indent="-285750">
              <a:buFontTx/>
              <a:buChar char="-"/>
            </a:pPr>
            <a:r>
              <a:rPr lang="en-US" sz="2000" dirty="0">
                <a:solidFill>
                  <a:srgbClr val="000000"/>
                </a:solidFill>
                <a:latin typeface="Times New Roman" panose="02020603050405020304" pitchFamily="18" charset="0"/>
                <a:cs typeface="Times New Roman" panose="02020603050405020304" pitchFamily="18" charset="0"/>
              </a:rPr>
              <a:t>unconditional positive regard</a:t>
            </a:r>
          </a:p>
          <a:p>
            <a:pPr marL="285750" indent="-285750">
              <a:buFontTx/>
              <a:buChar char="-"/>
            </a:pPr>
            <a:r>
              <a:rPr lang="en-US" sz="2000" dirty="0">
                <a:solidFill>
                  <a:srgbClr val="000000"/>
                </a:solidFill>
                <a:latin typeface="Times New Roman" panose="02020603050405020304" pitchFamily="18" charset="0"/>
                <a:cs typeface="Times New Roman" panose="02020603050405020304" pitchFamily="18" charset="0"/>
              </a:rPr>
              <a:t>genuineness</a:t>
            </a:r>
          </a:p>
          <a:p>
            <a:pPr marL="285750" indent="-285750">
              <a:buFontTx/>
              <a:buChar char="-"/>
            </a:pPr>
            <a:r>
              <a:rPr lang="en-US" sz="2000" dirty="0" smtClean="0">
                <a:solidFill>
                  <a:srgbClr val="000000"/>
                </a:solidFill>
                <a:latin typeface="Times New Roman" panose="02020603050405020304" pitchFamily="18" charset="0"/>
                <a:cs typeface="Times New Roman" panose="02020603050405020304" pitchFamily="18" charset="0"/>
              </a:rPr>
              <a:t>Empathy</a:t>
            </a:r>
          </a:p>
          <a:p>
            <a:endParaRPr lang="en-US" sz="1600" dirty="0">
              <a:solidFill>
                <a:srgbClr val="000000"/>
              </a:solidFill>
            </a:endParaRPr>
          </a:p>
          <a:p>
            <a:endParaRPr lang="en-US" sz="1600" dirty="0">
              <a:solidFill>
                <a:srgbClr val="000000"/>
              </a:solidFill>
            </a:endParaRPr>
          </a:p>
          <a:p>
            <a:endParaRPr lang="en-US" sz="1600" dirty="0">
              <a:solidFill>
                <a:srgbClr val="000000"/>
              </a:solidFill>
            </a:endParaRPr>
          </a:p>
          <a:p>
            <a:endParaRPr lang="en-US" sz="1600" dirty="0">
              <a:solidFill>
                <a:srgbClr val="000000"/>
              </a:solidFill>
            </a:endParaRPr>
          </a:p>
          <a:p>
            <a:endParaRPr lang="en-US" sz="1600" dirty="0">
              <a:solidFill>
                <a:srgbClr val="000000"/>
              </a:solidFill>
            </a:endParaRPr>
          </a:p>
          <a:p>
            <a:endParaRPr lang="en-US" sz="1600" dirty="0">
              <a:solidFill>
                <a:srgbClr val="000000"/>
              </a:solidFill>
            </a:endParaRPr>
          </a:p>
          <a:p>
            <a:endParaRPr lang="en-US" sz="1600" dirty="0">
              <a:solidFill>
                <a:srgbClr val="000000"/>
              </a:solidFill>
            </a:endParaRPr>
          </a:p>
          <a:p>
            <a:endParaRPr lang="en-US" sz="1600" dirty="0">
              <a:solidFill>
                <a:srgbClr val="000000"/>
              </a:solidFill>
            </a:endParaRPr>
          </a:p>
          <a:p>
            <a:endParaRPr lang="en-US" sz="1600" dirty="0">
              <a:solidFill>
                <a:srgbClr val="000000"/>
              </a:solidFill>
            </a:endParaRPr>
          </a:p>
          <a:p>
            <a:endParaRPr lang="en-US" sz="1600" dirty="0">
              <a:solidFill>
                <a:srgbClr val="000000"/>
              </a:solidFill>
            </a:endParaRPr>
          </a:p>
          <a:p>
            <a:r>
              <a:rPr lang="en-US" sz="1600" dirty="0">
                <a:solidFill>
                  <a:srgbClr val="000000"/>
                </a:solidFill>
              </a:rPr>
              <a:t> (credit: "</a:t>
            </a:r>
            <a:r>
              <a:rPr lang="en-US" sz="1600" dirty="0" err="1">
                <a:solidFill>
                  <a:srgbClr val="000000"/>
                </a:solidFill>
              </a:rPr>
              <a:t>Didius</a:t>
            </a:r>
            <a:r>
              <a:rPr lang="en-US" sz="1600" dirty="0">
                <a:solidFill>
                  <a:srgbClr val="000000"/>
                </a:solidFill>
              </a:rPr>
              <a:t>"/Wikimedia Commons)</a:t>
            </a:r>
          </a:p>
        </p:txBody>
      </p:sp>
      <p:pic>
        <p:nvPicPr>
          <p:cNvPr id="2" name="Figure" descr="A drawing depicts Carl Rogers."/>
          <p:cNvPicPr>
            <a:picLocks noGrp="1" noChangeAspect="1"/>
          </p:cNvPicPr>
          <p:nvPr>
            <p:ph type="pic" sz="quarter" idx="4294967295"/>
          </p:nvPr>
        </p:nvPicPr>
        <p:blipFill>
          <a:blip r:embed="rId2">
            <a:extLst>
              <a:ext uri="{28A0092B-C50C-407E-A947-70E740481C1C}">
                <a14:useLocalDpi xmlns:a14="http://schemas.microsoft.com/office/drawing/2010/main" val="0"/>
              </a:ext>
            </a:extLst>
          </a:blip>
          <a:srcRect l="-127" r="-127"/>
          <a:stretch>
            <a:fillRect/>
          </a:stretch>
        </p:blipFill>
        <p:spPr>
          <a:xfrm>
            <a:off x="6013451" y="1536192"/>
            <a:ext cx="4030663" cy="4828097"/>
          </a:xfrm>
          <a:prstGeom prst="rect">
            <a:avLst/>
          </a:prstGeom>
        </p:spPr>
      </p:pic>
      <p:sp>
        <p:nvSpPr>
          <p:cNvPr id="5" name="Figure Number"/>
          <p:cNvSpPr>
            <a:spLocks noGrp="1"/>
          </p:cNvSpPr>
          <p:nvPr>
            <p:ph type="title"/>
          </p:nvPr>
        </p:nvSpPr>
        <p:spPr/>
        <p:txBody>
          <a:bodyPr>
            <a:normAutofit/>
          </a:bodyPr>
          <a:lstStyle/>
          <a:p>
            <a:r>
              <a:rPr lang="en-US" sz="5400" dirty="0" smtClean="0">
                <a:solidFill>
                  <a:schemeClr val="accent6"/>
                </a:solidFill>
                <a:latin typeface="Times New Roman" panose="02020603050405020304" pitchFamily="18" charset="0"/>
                <a:cs typeface="Times New Roman" panose="02020603050405020304" pitchFamily="18" charset="0"/>
              </a:rPr>
              <a:t>Humanism</a:t>
            </a:r>
            <a:r>
              <a:rPr lang="en-US" dirty="0" smtClean="0">
                <a:solidFill>
                  <a:schemeClr val="accent6"/>
                </a:solidFill>
                <a:latin typeface="Times New Roman" panose="02020603050405020304" pitchFamily="18" charset="0"/>
                <a:cs typeface="Times New Roman" panose="02020603050405020304" pitchFamily="18" charset="0"/>
              </a:rPr>
              <a:t> </a:t>
            </a:r>
            <a:r>
              <a:rPr lang="en-US" sz="3200" dirty="0">
                <a:solidFill>
                  <a:schemeClr val="accent6"/>
                </a:solidFill>
                <a:latin typeface="Times New Roman" panose="02020603050405020304" pitchFamily="18" charset="0"/>
                <a:cs typeface="Times New Roman" panose="02020603050405020304" pitchFamily="18" charset="0"/>
              </a:rPr>
              <a:t>(CARL ROGERS )</a:t>
            </a:r>
            <a:endParaRPr lang="en-US" dirty="0">
              <a:solidFill>
                <a:schemeClr val="accent6"/>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57530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igure Legend"/>
          <p:cNvSpPr>
            <a:spLocks noGrp="1"/>
          </p:cNvSpPr>
          <p:nvPr>
            <p:ph type="body" sz="quarter" idx="4294967295"/>
          </p:nvPr>
        </p:nvSpPr>
        <p:spPr>
          <a:xfrm>
            <a:off x="6130925" y="1883664"/>
            <a:ext cx="3913188" cy="4480927"/>
          </a:xfrm>
          <a:prstGeom prst="rect">
            <a:avLst/>
          </a:prstGeom>
        </p:spPr>
        <p:txBody>
          <a:bodyPr>
            <a:noAutofit/>
          </a:bodyPr>
          <a:lstStyle/>
          <a:p>
            <a:r>
              <a:rPr lang="en-US" sz="2000" dirty="0">
                <a:solidFill>
                  <a:srgbClr val="000000"/>
                </a:solidFill>
                <a:latin typeface="Times New Roman" panose="02020603050405020304" pitchFamily="18" charset="0"/>
                <a:cs typeface="Times New Roman" panose="02020603050405020304" pitchFamily="18" charset="0"/>
              </a:rPr>
              <a:t>Proposed a hierarchy of human needs in motivating behavior.</a:t>
            </a:r>
          </a:p>
          <a:p>
            <a:r>
              <a:rPr lang="en-US" sz="2000" dirty="0">
                <a:solidFill>
                  <a:srgbClr val="000000"/>
                </a:solidFill>
                <a:latin typeface="Times New Roman" panose="02020603050405020304" pitchFamily="18" charset="0"/>
                <a:cs typeface="Times New Roman" panose="02020603050405020304" pitchFamily="18" charset="0"/>
              </a:rPr>
              <a:t>Maslow asserted that so long as basic needs necessary for survival were met (e.g., food, water, shelter), higher-level needs (e.g., social needs) would begin to motivate behavior.</a:t>
            </a:r>
          </a:p>
        </p:txBody>
      </p:sp>
      <p:pic>
        <p:nvPicPr>
          <p:cNvPr id="2" name="Figure" descr="A triangle is divided vertically into five sections with corresponding labels inside and outside of the triangle for each section. From top to bottom, the triangle's sections are labeled: self-actualization corresponds to &quot;Inner fulfillment&quot; esteem corresponds to &quot;Self-worth, accomplishment, confidence&quot;; social corresponds to &quot;Family, friendship, intimacy, belonging&quot; security corresponds to &quot;Safety, employment, assets&quot;; &quot;physiological corresponds to Food, water, shelter, warmth.&quot;"/>
          <p:cNvPicPr>
            <a:picLocks noGrp="1" noChangeAspect="1"/>
          </p:cNvPicPr>
          <p:nvPr>
            <p:ph type="pic" sz="quarter" idx="4294967295"/>
          </p:nvPr>
        </p:nvPicPr>
        <p:blipFill>
          <a:blip r:embed="rId2" cstate="email">
            <a:extLst>
              <a:ext uri="{28A0092B-C50C-407E-A947-70E740481C1C}">
                <a14:useLocalDpi xmlns:a14="http://schemas.microsoft.com/office/drawing/2010/main" val="0"/>
              </a:ext>
            </a:extLst>
          </a:blip>
          <a:srcRect t="-7089" b="-7089"/>
          <a:stretch>
            <a:fillRect/>
          </a:stretch>
        </p:blipFill>
        <p:spPr>
          <a:xfrm>
            <a:off x="1981200" y="1690688"/>
            <a:ext cx="4032250" cy="4673601"/>
          </a:xfrm>
          <a:prstGeom prst="rect">
            <a:avLst/>
          </a:prstGeom>
        </p:spPr>
      </p:pic>
      <p:sp>
        <p:nvSpPr>
          <p:cNvPr id="5" name="Figure Number"/>
          <p:cNvSpPr>
            <a:spLocks noGrp="1"/>
          </p:cNvSpPr>
          <p:nvPr>
            <p:ph type="title"/>
          </p:nvPr>
        </p:nvSpPr>
        <p:spPr/>
        <p:txBody>
          <a:bodyPr>
            <a:normAutofit/>
          </a:bodyPr>
          <a:lstStyle/>
          <a:p>
            <a:r>
              <a:rPr lang="en-US" sz="4800" dirty="0">
                <a:solidFill>
                  <a:schemeClr val="accent6"/>
                </a:solidFill>
                <a:latin typeface="Times New Roman" panose="02020603050405020304" pitchFamily="18" charset="0"/>
                <a:cs typeface="Times New Roman" panose="02020603050405020304" pitchFamily="18" charset="0"/>
              </a:rPr>
              <a:t>Humanism</a:t>
            </a:r>
            <a:r>
              <a:rPr lang="en-US" dirty="0">
                <a:solidFill>
                  <a:schemeClr val="accent6"/>
                </a:solidFill>
                <a:latin typeface="Times New Roman" panose="02020603050405020304" pitchFamily="18" charset="0"/>
                <a:cs typeface="Times New Roman" panose="02020603050405020304" pitchFamily="18" charset="0"/>
              </a:rPr>
              <a:t> </a:t>
            </a:r>
            <a:r>
              <a:rPr lang="en-US" sz="3200" dirty="0" smtClean="0">
                <a:solidFill>
                  <a:schemeClr val="accent6"/>
                </a:solidFill>
                <a:latin typeface="Times New Roman" panose="02020603050405020304" pitchFamily="18" charset="0"/>
                <a:cs typeface="Times New Roman" panose="02020603050405020304" pitchFamily="18" charset="0"/>
              </a:rPr>
              <a:t>(ABRAHAM MASLOW)</a:t>
            </a:r>
            <a:endParaRPr lang="en-US" dirty="0">
              <a:solidFill>
                <a:schemeClr val="accent6"/>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928442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0456" y="82296"/>
            <a:ext cx="10628376" cy="1169480"/>
          </a:xfrm>
        </p:spPr>
        <p:txBody>
          <a:bodyPr>
            <a:normAutofit fontScale="90000"/>
          </a:bodyPr>
          <a:lstStyle/>
          <a:p>
            <a:r>
              <a:rPr lang="en-US" dirty="0" smtClean="0">
                <a:solidFill>
                  <a:schemeClr val="accent6"/>
                </a:solidFill>
                <a:latin typeface="Times New Roman" panose="02020603050405020304" pitchFamily="18" charset="0"/>
                <a:cs typeface="Times New Roman" panose="02020603050405020304" pitchFamily="18" charset="0"/>
              </a:rPr>
              <a:t/>
            </a:r>
            <a:br>
              <a:rPr lang="en-US" dirty="0" smtClean="0">
                <a:solidFill>
                  <a:schemeClr val="accent6"/>
                </a:solidFill>
                <a:latin typeface="Times New Roman" panose="02020603050405020304" pitchFamily="18" charset="0"/>
                <a:cs typeface="Times New Roman" panose="02020603050405020304" pitchFamily="18" charset="0"/>
              </a:rPr>
            </a:br>
            <a:r>
              <a:rPr lang="en-US" dirty="0">
                <a:solidFill>
                  <a:schemeClr val="accent6"/>
                </a:solidFill>
                <a:latin typeface="Times New Roman" panose="02020603050405020304" pitchFamily="18" charset="0"/>
                <a:cs typeface="Times New Roman" panose="02020603050405020304" pitchFamily="18" charset="0"/>
              </a:rPr>
              <a:t/>
            </a:r>
            <a:br>
              <a:rPr lang="en-US" dirty="0">
                <a:solidFill>
                  <a:schemeClr val="accent6"/>
                </a:solidFill>
                <a:latin typeface="Times New Roman" panose="02020603050405020304" pitchFamily="18" charset="0"/>
                <a:cs typeface="Times New Roman" panose="02020603050405020304" pitchFamily="18" charset="0"/>
              </a:rPr>
            </a:br>
            <a:r>
              <a:rPr lang="en-US" dirty="0" smtClean="0">
                <a:solidFill>
                  <a:schemeClr val="accent6"/>
                </a:solidFill>
                <a:latin typeface="Times New Roman" panose="02020603050405020304" pitchFamily="18" charset="0"/>
                <a:cs typeface="Times New Roman" panose="02020603050405020304" pitchFamily="18" charset="0"/>
              </a:rPr>
              <a:t>Modern Perspectives in Psychology</a:t>
            </a:r>
            <a:br>
              <a:rPr lang="en-US" dirty="0" smtClean="0">
                <a:solidFill>
                  <a:schemeClr val="accent6"/>
                </a:solidFill>
                <a:latin typeface="Times New Roman" panose="02020603050405020304" pitchFamily="18" charset="0"/>
                <a:cs typeface="Times New Roman" panose="02020603050405020304" pitchFamily="18" charset="0"/>
              </a:rPr>
            </a:br>
            <a:r>
              <a:rPr lang="en-US" dirty="0" smtClean="0">
                <a:solidFill>
                  <a:schemeClr val="accent6"/>
                </a:solidFill>
                <a:latin typeface="Times New Roman" panose="02020603050405020304" pitchFamily="18" charset="0"/>
                <a:cs typeface="Times New Roman" panose="02020603050405020304" pitchFamily="18" charset="0"/>
              </a:rPr>
              <a:t>Biological </a:t>
            </a:r>
            <a:r>
              <a:rPr lang="en-US" dirty="0">
                <a:solidFill>
                  <a:schemeClr val="accent6"/>
                </a:solidFill>
                <a:latin typeface="Times New Roman" panose="02020603050405020304" pitchFamily="18" charset="0"/>
                <a:cs typeface="Times New Roman" panose="02020603050405020304" pitchFamily="18" charset="0"/>
              </a:rPr>
              <a:t>Approach</a:t>
            </a:r>
            <a:br>
              <a:rPr lang="en-US" dirty="0">
                <a:solidFill>
                  <a:schemeClr val="accent6"/>
                </a:solidFill>
                <a:latin typeface="Times New Roman" panose="02020603050405020304" pitchFamily="18" charset="0"/>
                <a:cs typeface="Times New Roman" panose="02020603050405020304" pitchFamily="18" charset="0"/>
              </a:rPr>
            </a:br>
            <a:r>
              <a:rPr lang="en-US" dirty="0" smtClean="0">
                <a:latin typeface="Times New Roman" panose="02020603050405020304" pitchFamily="18" charset="0"/>
                <a:cs typeface="Times New Roman" panose="02020603050405020304" pitchFamily="18" charset="0"/>
              </a:rPr>
              <a:t/>
            </a:r>
            <a:br>
              <a:rPr lang="en-US" dirty="0" smtClean="0">
                <a:latin typeface="Times New Roman" panose="02020603050405020304" pitchFamily="18" charset="0"/>
                <a:cs typeface="Times New Roman" panose="02020603050405020304" pitchFamily="18" charset="0"/>
              </a:rPr>
            </a:br>
            <a:endParaRPr lang="en-US" dirty="0"/>
          </a:p>
        </p:txBody>
      </p:sp>
      <p:sp>
        <p:nvSpPr>
          <p:cNvPr id="3" name="Content Placeholder 2"/>
          <p:cNvSpPr>
            <a:spLocks noGrp="1"/>
          </p:cNvSpPr>
          <p:nvPr>
            <p:ph idx="1"/>
          </p:nvPr>
        </p:nvSpPr>
        <p:spPr>
          <a:xfrm>
            <a:off x="749808" y="1417320"/>
            <a:ext cx="10716768" cy="5024819"/>
          </a:xfrm>
        </p:spPr>
        <p:txBody>
          <a:bodyPr>
            <a:noAutofit/>
          </a:bodyPr>
          <a:lstStyle/>
          <a:p>
            <a:pPr marL="0" indent="0">
              <a:buNone/>
            </a:pPr>
            <a:r>
              <a:rPr lang="en-US" sz="2000" b="1" dirty="0" smtClean="0">
                <a:latin typeface="Times New Roman" panose="02020603050405020304" pitchFamily="18" charset="0"/>
                <a:cs typeface="Times New Roman" panose="02020603050405020304" pitchFamily="18" charset="0"/>
              </a:rPr>
              <a:t>Focus: </a:t>
            </a:r>
            <a:r>
              <a:rPr lang="en-US" sz="2000" dirty="0">
                <a:latin typeface="Times New Roman" panose="02020603050405020304" pitchFamily="18" charset="0"/>
                <a:cs typeface="Times New Roman" panose="02020603050405020304" pitchFamily="18" charset="0"/>
              </a:rPr>
              <a:t>Links between biology and psychology</a:t>
            </a:r>
            <a:r>
              <a:rPr lang="en-US" sz="2000" dirty="0" smtClean="0">
                <a:latin typeface="Times New Roman" panose="02020603050405020304" pitchFamily="18" charset="0"/>
                <a:cs typeface="Times New Roman" panose="02020603050405020304" pitchFamily="18" charset="0"/>
              </a:rPr>
              <a:t>.</a:t>
            </a:r>
          </a:p>
          <a:p>
            <a:pPr marL="0" indent="0">
              <a:buNone/>
            </a:pPr>
            <a:r>
              <a:rPr lang="en-US" sz="2000" b="1" dirty="0" smtClean="0">
                <a:latin typeface="Times New Roman" panose="02020603050405020304" pitchFamily="18" charset="0"/>
                <a:cs typeface="Times New Roman" panose="02020603050405020304" pitchFamily="18" charset="0"/>
              </a:rPr>
              <a:t>Key </a:t>
            </a:r>
            <a:r>
              <a:rPr lang="en-US" sz="2000" b="1" dirty="0">
                <a:latin typeface="Times New Roman" panose="02020603050405020304" pitchFamily="18" charset="0"/>
                <a:cs typeface="Times New Roman" panose="02020603050405020304" pitchFamily="18" charset="0"/>
              </a:rPr>
              <a:t>Assumptions</a:t>
            </a:r>
            <a:r>
              <a:rPr lang="en-US" sz="2000" b="1" dirty="0" smtClean="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Thoughts </a:t>
            </a:r>
            <a:r>
              <a:rPr lang="en-US" sz="2000" dirty="0">
                <a:latin typeface="Times New Roman" panose="02020603050405020304" pitchFamily="18" charset="0"/>
                <a:cs typeface="Times New Roman" panose="02020603050405020304" pitchFamily="18" charset="0"/>
              </a:rPr>
              <a:t>and emotions come from brain processes</a:t>
            </a:r>
            <a:r>
              <a:rPr lang="en-US" sz="2000" dirty="0" smtClean="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Genes </a:t>
            </a:r>
            <a:r>
              <a:rPr lang="en-US" sz="2000" dirty="0">
                <a:latin typeface="Times New Roman" panose="02020603050405020304" pitchFamily="18" charset="0"/>
                <a:cs typeface="Times New Roman" panose="02020603050405020304" pitchFamily="18" charset="0"/>
              </a:rPr>
              <a:t>and heredity influence behavior</a:t>
            </a:r>
            <a:r>
              <a:rPr lang="en-US" sz="2000" dirty="0" smtClean="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Hormones </a:t>
            </a:r>
            <a:r>
              <a:rPr lang="en-US" sz="2000" dirty="0">
                <a:latin typeface="Times New Roman" panose="02020603050405020304" pitchFamily="18" charset="0"/>
                <a:cs typeface="Times New Roman" panose="02020603050405020304" pitchFamily="18" charset="0"/>
              </a:rPr>
              <a:t>and neurotransmitters play a role</a:t>
            </a:r>
            <a:r>
              <a:rPr lang="en-US" sz="2000" dirty="0" smtClean="0">
                <a:latin typeface="Times New Roman" panose="02020603050405020304" pitchFamily="18" charset="0"/>
                <a:cs typeface="Times New Roman" panose="02020603050405020304" pitchFamily="18" charset="0"/>
              </a:rPr>
              <a:t>.</a:t>
            </a:r>
          </a:p>
          <a:p>
            <a:pPr marL="0" indent="0">
              <a:buNone/>
            </a:pPr>
            <a:r>
              <a:rPr lang="en-US" sz="2000" b="1" dirty="0" smtClean="0">
                <a:latin typeface="Times New Roman" panose="02020603050405020304" pitchFamily="18" charset="0"/>
                <a:cs typeface="Times New Roman" panose="02020603050405020304" pitchFamily="18" charset="0"/>
              </a:rPr>
              <a:t>Methods</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Brain imaging (fMRI, PET), genetic studies, neuroscience</a:t>
            </a:r>
            <a:r>
              <a:rPr lang="en-US" sz="2000" dirty="0" smtClean="0">
                <a:latin typeface="Times New Roman" panose="02020603050405020304" pitchFamily="18" charset="0"/>
                <a:cs typeface="Times New Roman" panose="02020603050405020304" pitchFamily="18" charset="0"/>
              </a:rPr>
              <a:t>.</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b="1" dirty="0" smtClean="0">
                <a:latin typeface="Times New Roman" panose="02020603050405020304" pitchFamily="18" charset="0"/>
                <a:cs typeface="Times New Roman" panose="02020603050405020304" pitchFamily="18" charset="0"/>
              </a:rPr>
              <a:t>Example</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Studying serotonin’s role in depression</a:t>
            </a:r>
            <a:r>
              <a:rPr lang="en-US" sz="2000" dirty="0" smtClean="0">
                <a:latin typeface="Times New Roman" panose="02020603050405020304" pitchFamily="18" charset="0"/>
                <a:cs typeface="Times New Roman" panose="02020603050405020304" pitchFamily="18" charset="0"/>
              </a:rPr>
              <a:t>.</a:t>
            </a:r>
          </a:p>
          <a:p>
            <a:pPr marL="0" indent="0">
              <a:buNone/>
            </a:pPr>
            <a:r>
              <a:rPr lang="en-US" sz="2000" b="1" dirty="0" smtClean="0">
                <a:latin typeface="Times New Roman" panose="02020603050405020304" pitchFamily="18" charset="0"/>
                <a:cs typeface="Times New Roman" panose="02020603050405020304" pitchFamily="18" charset="0"/>
              </a:rPr>
              <a:t>Application</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Medical treatments for mental disorders (medication, brain stimulation</a:t>
            </a:r>
            <a:r>
              <a:rPr lang="en-US" sz="2000" dirty="0" smtClean="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1342158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98448" y="1417320"/>
            <a:ext cx="7845552" cy="5024819"/>
          </a:xfrm>
        </p:spPr>
        <p:txBody>
          <a:bodyPr>
            <a:noAutofit/>
          </a:bodyPr>
          <a:lstStyle/>
          <a:p>
            <a:pPr marL="0" indent="0">
              <a:buNone/>
            </a:pPr>
            <a:r>
              <a:rPr lang="en-US" sz="2000" b="1" dirty="0" smtClean="0">
                <a:latin typeface="Times New Roman" panose="02020603050405020304" pitchFamily="18" charset="0"/>
                <a:cs typeface="Times New Roman" panose="02020603050405020304" pitchFamily="18" charset="0"/>
              </a:rPr>
              <a:t>Focus</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Internal mental processes — thinking, memory, problem-solving, decision-making</a:t>
            </a:r>
            <a:r>
              <a:rPr lang="en-US" sz="2000" dirty="0" smtClean="0">
                <a:latin typeface="Times New Roman" panose="02020603050405020304" pitchFamily="18" charset="0"/>
                <a:cs typeface="Times New Roman" panose="02020603050405020304" pitchFamily="18" charset="0"/>
              </a:rPr>
              <a:t>.</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b="1" dirty="0" smtClean="0">
                <a:latin typeface="Times New Roman" panose="02020603050405020304" pitchFamily="18" charset="0"/>
                <a:cs typeface="Times New Roman" panose="02020603050405020304" pitchFamily="18" charset="0"/>
              </a:rPr>
              <a:t>Key </a:t>
            </a:r>
            <a:r>
              <a:rPr lang="en-US" sz="2000" b="1" dirty="0">
                <a:latin typeface="Times New Roman" panose="02020603050405020304" pitchFamily="18" charset="0"/>
                <a:cs typeface="Times New Roman" panose="02020603050405020304" pitchFamily="18" charset="0"/>
              </a:rPr>
              <a:t>Assumptions</a:t>
            </a:r>
            <a:r>
              <a:rPr lang="en-US" sz="2000" b="1" dirty="0" smtClean="0">
                <a:latin typeface="Times New Roman" panose="02020603050405020304" pitchFamily="18" charset="0"/>
                <a:cs typeface="Times New Roman" panose="02020603050405020304" pitchFamily="18" charset="0"/>
              </a:rPr>
              <a:t>:</a:t>
            </a:r>
          </a:p>
          <a:p>
            <a:pPr marL="0" indent="0">
              <a:buNone/>
            </a:pPr>
            <a:r>
              <a:rPr lang="en-US" sz="2000" dirty="0" smtClean="0">
                <a:latin typeface="Times New Roman" panose="02020603050405020304" pitchFamily="18" charset="0"/>
                <a:cs typeface="Times New Roman" panose="02020603050405020304" pitchFamily="18" charset="0"/>
              </a:rPr>
              <a:t>	The </a:t>
            </a:r>
            <a:r>
              <a:rPr lang="en-US" sz="2000" dirty="0">
                <a:latin typeface="Times New Roman" panose="02020603050405020304" pitchFamily="18" charset="0"/>
                <a:cs typeface="Times New Roman" panose="02020603050405020304" pitchFamily="18" charset="0"/>
              </a:rPr>
              <a:t>mind works like a computer (information processing</a:t>
            </a:r>
            <a:r>
              <a:rPr lang="en-US" sz="2000" dirty="0" smtClean="0">
                <a:latin typeface="Times New Roman" panose="02020603050405020304" pitchFamily="18" charset="0"/>
                <a:cs typeface="Times New Roman" panose="02020603050405020304" pitchFamily="18" charset="0"/>
              </a:rPr>
              <a:t>).</a:t>
            </a:r>
          </a:p>
          <a:p>
            <a:pPr marL="0" indent="0">
              <a:buNone/>
            </a:pPr>
            <a:r>
              <a:rPr lang="en-US" sz="2000" dirty="0" smtClean="0">
                <a:latin typeface="Times New Roman" panose="02020603050405020304" pitchFamily="18" charset="0"/>
                <a:cs typeface="Times New Roman" panose="02020603050405020304" pitchFamily="18" charset="0"/>
              </a:rPr>
              <a:t>	Mental </a:t>
            </a:r>
            <a:r>
              <a:rPr lang="en-US" sz="2000" dirty="0">
                <a:latin typeface="Times New Roman" panose="02020603050405020304" pitchFamily="18" charset="0"/>
                <a:cs typeface="Times New Roman" panose="02020603050405020304" pitchFamily="18" charset="0"/>
              </a:rPr>
              <a:t>processes can be studied scientifically</a:t>
            </a:r>
            <a:r>
              <a:rPr lang="en-US" sz="2000" dirty="0" smtClean="0">
                <a:latin typeface="Times New Roman" panose="02020603050405020304" pitchFamily="18" charset="0"/>
                <a:cs typeface="Times New Roman" panose="02020603050405020304" pitchFamily="18" charset="0"/>
              </a:rPr>
              <a:t>.</a:t>
            </a:r>
          </a:p>
          <a:p>
            <a:pPr marL="0" indent="0">
              <a:buNone/>
            </a:pPr>
            <a:r>
              <a:rPr lang="en-US" sz="2000" b="1" dirty="0" smtClean="0">
                <a:latin typeface="Times New Roman" panose="02020603050405020304" pitchFamily="18" charset="0"/>
                <a:cs typeface="Times New Roman" panose="02020603050405020304" pitchFamily="18" charset="0"/>
              </a:rPr>
              <a:t>Key </a:t>
            </a:r>
            <a:r>
              <a:rPr lang="en-US" sz="2000" b="1" dirty="0">
                <a:latin typeface="Times New Roman" panose="02020603050405020304" pitchFamily="18" charset="0"/>
                <a:cs typeface="Times New Roman" panose="02020603050405020304" pitchFamily="18" charset="0"/>
              </a:rPr>
              <a:t>Figures: </a:t>
            </a:r>
            <a:r>
              <a:rPr lang="en-US" sz="2000" dirty="0">
                <a:latin typeface="Times New Roman" panose="02020603050405020304" pitchFamily="18" charset="0"/>
                <a:cs typeface="Times New Roman" panose="02020603050405020304" pitchFamily="18" charset="0"/>
              </a:rPr>
              <a:t>Jean Piaget (cognitive development), Aaron Beck (cognitive theory of depression</a:t>
            </a:r>
            <a:r>
              <a:rPr lang="en-US" sz="2000" dirty="0" smtClean="0">
                <a:latin typeface="Times New Roman" panose="02020603050405020304" pitchFamily="18" charset="0"/>
                <a:cs typeface="Times New Roman" panose="02020603050405020304" pitchFamily="18" charset="0"/>
              </a:rPr>
              <a:t>).</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b="1" dirty="0" smtClean="0">
                <a:latin typeface="Times New Roman" panose="02020603050405020304" pitchFamily="18" charset="0"/>
                <a:cs typeface="Times New Roman" panose="02020603050405020304" pitchFamily="18" charset="0"/>
              </a:rPr>
              <a:t>Applications: </a:t>
            </a:r>
            <a:r>
              <a:rPr lang="en-US" sz="2000" dirty="0" smtClean="0">
                <a:latin typeface="Times New Roman" panose="02020603050405020304" pitchFamily="18" charset="0"/>
                <a:cs typeface="Times New Roman" panose="02020603050405020304" pitchFamily="18" charset="0"/>
              </a:rPr>
              <a:t>Cognitive-Behavioral </a:t>
            </a:r>
            <a:r>
              <a:rPr lang="en-US" sz="2000" dirty="0">
                <a:latin typeface="Times New Roman" panose="02020603050405020304" pitchFamily="18" charset="0"/>
                <a:cs typeface="Times New Roman" panose="02020603050405020304" pitchFamily="18" charset="0"/>
              </a:rPr>
              <a:t>Therapy (CBT).Research on memory, attention, </a:t>
            </a:r>
            <a:r>
              <a:rPr lang="en-US" sz="2000" dirty="0" smtClean="0">
                <a:latin typeface="Times New Roman" panose="02020603050405020304" pitchFamily="18" charset="0"/>
                <a:cs typeface="Times New Roman" panose="02020603050405020304" pitchFamily="18" charset="0"/>
              </a:rPr>
              <a:t>learning. Links </a:t>
            </a:r>
            <a:r>
              <a:rPr lang="en-US" sz="2000" dirty="0">
                <a:latin typeface="Times New Roman" panose="02020603050405020304" pitchFamily="18" charset="0"/>
                <a:cs typeface="Times New Roman" panose="02020603050405020304" pitchFamily="18" charset="0"/>
              </a:rPr>
              <a:t>to </a:t>
            </a:r>
            <a:r>
              <a:rPr lang="en-US" sz="2000" dirty="0" smtClean="0">
                <a:latin typeface="Times New Roman" panose="02020603050405020304" pitchFamily="18" charset="0"/>
                <a:cs typeface="Times New Roman" panose="02020603050405020304" pitchFamily="18" charset="0"/>
              </a:rPr>
              <a:t>artificial </a:t>
            </a:r>
            <a:r>
              <a:rPr lang="en-US" sz="2000" dirty="0">
                <a:latin typeface="Times New Roman" panose="02020603050405020304" pitchFamily="18" charset="0"/>
                <a:cs typeface="Times New Roman" panose="02020603050405020304" pitchFamily="18" charset="0"/>
              </a:rPr>
              <a:t>intelligence</a:t>
            </a:r>
            <a:endParaRPr lang="en-US" sz="2000" dirty="0" smtClean="0">
              <a:latin typeface="Times New Roman" panose="02020603050405020304" pitchFamily="18" charset="0"/>
              <a:cs typeface="Times New Roman" panose="02020603050405020304" pitchFamily="18" charset="0"/>
            </a:endParaRPr>
          </a:p>
        </p:txBody>
      </p:sp>
      <p:sp>
        <p:nvSpPr>
          <p:cNvPr id="5" name="Title 1"/>
          <p:cNvSpPr txBox="1">
            <a:spLocks/>
          </p:cNvSpPr>
          <p:nvPr/>
        </p:nvSpPr>
        <p:spPr>
          <a:xfrm>
            <a:off x="600456" y="82296"/>
            <a:ext cx="10628376" cy="1169480"/>
          </a:xfrm>
          <a:prstGeom prst="rect">
            <a:avLst/>
          </a:prstGeom>
        </p:spPr>
        <p:txBody>
          <a:bodyPr vert="horz" lIns="91440" tIns="45720" rIns="91440" bIns="45720" rtlCol="0" anchor="ctr">
            <a:normAutofit fontScale="2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smtClean="0">
                <a:solidFill>
                  <a:schemeClr val="accent6"/>
                </a:solidFill>
                <a:latin typeface="Times New Roman" panose="02020603050405020304" pitchFamily="18" charset="0"/>
                <a:cs typeface="Times New Roman" panose="02020603050405020304" pitchFamily="18" charset="0"/>
              </a:rPr>
              <a:t/>
            </a:r>
            <a:br>
              <a:rPr lang="en-US" dirty="0" smtClean="0">
                <a:solidFill>
                  <a:schemeClr val="accent6"/>
                </a:solidFill>
                <a:latin typeface="Times New Roman" panose="02020603050405020304" pitchFamily="18" charset="0"/>
                <a:cs typeface="Times New Roman" panose="02020603050405020304" pitchFamily="18" charset="0"/>
              </a:rPr>
            </a:br>
            <a:r>
              <a:rPr lang="en-US" sz="11200" dirty="0" smtClean="0">
                <a:solidFill>
                  <a:schemeClr val="accent6"/>
                </a:solidFill>
                <a:latin typeface="Times New Roman" panose="02020603050405020304" pitchFamily="18" charset="0"/>
                <a:cs typeface="Times New Roman" panose="02020603050405020304" pitchFamily="18" charset="0"/>
              </a:rPr>
              <a:t/>
            </a:r>
            <a:br>
              <a:rPr lang="en-US" sz="11200" dirty="0" smtClean="0">
                <a:solidFill>
                  <a:schemeClr val="accent6"/>
                </a:solidFill>
                <a:latin typeface="Times New Roman" panose="02020603050405020304" pitchFamily="18" charset="0"/>
                <a:cs typeface="Times New Roman" panose="02020603050405020304" pitchFamily="18" charset="0"/>
              </a:rPr>
            </a:br>
            <a:r>
              <a:rPr lang="en-US" sz="11200" dirty="0" smtClean="0">
                <a:solidFill>
                  <a:schemeClr val="accent6"/>
                </a:solidFill>
                <a:latin typeface="Times New Roman" panose="02020603050405020304" pitchFamily="18" charset="0"/>
                <a:cs typeface="Times New Roman" panose="02020603050405020304" pitchFamily="18" charset="0"/>
              </a:rPr>
              <a:t>Modern Perspectives in Psychology</a:t>
            </a:r>
          </a:p>
          <a:p>
            <a:r>
              <a:rPr lang="en-US" sz="11200" dirty="0">
                <a:solidFill>
                  <a:schemeClr val="accent6"/>
                </a:solidFill>
                <a:latin typeface="Times New Roman" panose="02020603050405020304" pitchFamily="18" charset="0"/>
                <a:cs typeface="Times New Roman" panose="02020603050405020304" pitchFamily="18" charset="0"/>
              </a:rPr>
              <a:t/>
            </a:r>
            <a:br>
              <a:rPr lang="en-US" sz="11200" dirty="0">
                <a:solidFill>
                  <a:schemeClr val="accent6"/>
                </a:solidFill>
                <a:latin typeface="Times New Roman" panose="02020603050405020304" pitchFamily="18" charset="0"/>
                <a:cs typeface="Times New Roman" panose="02020603050405020304" pitchFamily="18" charset="0"/>
              </a:rPr>
            </a:br>
            <a:r>
              <a:rPr lang="en-US" sz="11200" dirty="0">
                <a:solidFill>
                  <a:schemeClr val="accent6"/>
                </a:solidFill>
                <a:latin typeface="Times New Roman" panose="02020603050405020304" pitchFamily="18" charset="0"/>
                <a:cs typeface="Times New Roman" panose="02020603050405020304" pitchFamily="18" charset="0"/>
              </a:rPr>
              <a:t> Cognitive Approach (1950s–present)</a:t>
            </a:r>
          </a:p>
          <a:p>
            <a:r>
              <a:rPr lang="en-US" dirty="0" smtClean="0">
                <a:latin typeface="Times New Roman" panose="02020603050405020304" pitchFamily="18" charset="0"/>
                <a:cs typeface="Times New Roman" panose="02020603050405020304" pitchFamily="18" charset="0"/>
              </a:rPr>
              <a:t/>
            </a:r>
            <a:br>
              <a:rPr lang="en-US" dirty="0" smtClean="0">
                <a:latin typeface="Times New Roman" panose="02020603050405020304" pitchFamily="18" charset="0"/>
                <a:cs typeface="Times New Roman" panose="02020603050405020304" pitchFamily="18" charset="0"/>
              </a:rPr>
            </a:br>
            <a:endParaRPr lang="en-US" dirty="0"/>
          </a:p>
        </p:txBody>
      </p:sp>
      <p:sp>
        <p:nvSpPr>
          <p:cNvPr id="6" name="Title 1"/>
          <p:cNvSpPr txBox="1">
            <a:spLocks/>
          </p:cNvSpPr>
          <p:nvPr/>
        </p:nvSpPr>
        <p:spPr>
          <a:xfrm>
            <a:off x="752856" y="234696"/>
            <a:ext cx="10628376" cy="1169480"/>
          </a:xfrm>
          <a:prstGeom prst="rect">
            <a:avLst/>
          </a:prstGeom>
        </p:spPr>
        <p:txBody>
          <a:bodyPr vert="horz" lIns="91440" tIns="45720" rIns="91440" bIns="45720" rtlCol="0" anchor="ctr">
            <a:normAutofit fontScale="4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smtClean="0">
                <a:solidFill>
                  <a:schemeClr val="accent6"/>
                </a:solidFill>
                <a:latin typeface="Times New Roman" panose="02020603050405020304" pitchFamily="18" charset="0"/>
                <a:cs typeface="Times New Roman" panose="02020603050405020304" pitchFamily="18" charset="0"/>
              </a:rPr>
              <a:t/>
            </a:r>
            <a:br>
              <a:rPr lang="en-US" dirty="0" smtClean="0">
                <a:solidFill>
                  <a:schemeClr val="accent6"/>
                </a:solidFill>
                <a:latin typeface="Times New Roman" panose="02020603050405020304" pitchFamily="18" charset="0"/>
                <a:cs typeface="Times New Roman" panose="02020603050405020304" pitchFamily="18" charset="0"/>
              </a:rPr>
            </a:br>
            <a:r>
              <a:rPr lang="en-US" dirty="0" smtClean="0">
                <a:solidFill>
                  <a:schemeClr val="accent6"/>
                </a:solidFill>
                <a:latin typeface="Times New Roman" panose="02020603050405020304" pitchFamily="18" charset="0"/>
                <a:cs typeface="Times New Roman" panose="02020603050405020304" pitchFamily="18" charset="0"/>
              </a:rPr>
              <a:t/>
            </a:r>
            <a:br>
              <a:rPr lang="en-US" dirty="0" smtClean="0">
                <a:solidFill>
                  <a:schemeClr val="accent6"/>
                </a:solidFill>
                <a:latin typeface="Times New Roman" panose="02020603050405020304" pitchFamily="18" charset="0"/>
                <a:cs typeface="Times New Roman" panose="02020603050405020304" pitchFamily="18" charset="0"/>
              </a:rPr>
            </a:br>
            <a:r>
              <a:rPr lang="en-US" dirty="0" smtClean="0">
                <a:solidFill>
                  <a:schemeClr val="accent6"/>
                </a:solidFill>
                <a:latin typeface="Times New Roman" panose="02020603050405020304" pitchFamily="18" charset="0"/>
                <a:cs typeface="Times New Roman" panose="02020603050405020304" pitchFamily="18" charset="0"/>
              </a:rPr>
              <a:t/>
            </a:r>
            <a:br>
              <a:rPr lang="en-US" dirty="0" smtClean="0">
                <a:solidFill>
                  <a:schemeClr val="accent6"/>
                </a:solidFill>
                <a:latin typeface="Times New Roman" panose="02020603050405020304" pitchFamily="18" charset="0"/>
                <a:cs typeface="Times New Roman" panose="02020603050405020304" pitchFamily="18" charset="0"/>
              </a:rPr>
            </a:br>
            <a:r>
              <a:rPr lang="en-US" dirty="0" smtClean="0">
                <a:latin typeface="Times New Roman" panose="02020603050405020304" pitchFamily="18" charset="0"/>
                <a:cs typeface="Times New Roman" panose="02020603050405020304" pitchFamily="18" charset="0"/>
              </a:rPr>
              <a:t/>
            </a:r>
            <a:br>
              <a:rPr lang="en-US" dirty="0" smtClean="0">
                <a:latin typeface="Times New Roman" panose="02020603050405020304" pitchFamily="18" charset="0"/>
                <a:cs typeface="Times New Roman" panose="02020603050405020304" pitchFamily="18" charset="0"/>
              </a:rPr>
            </a:br>
            <a:endParaRPr lang="en-US" dirty="0"/>
          </a:p>
        </p:txBody>
      </p:sp>
    </p:spTree>
    <p:extLst>
      <p:ext uri="{BB962C8B-B14F-4D97-AF65-F5344CB8AC3E}">
        <p14:creationId xmlns:p14="http://schemas.microsoft.com/office/powerpoint/2010/main" val="16243482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2168" y="410845"/>
            <a:ext cx="10756392" cy="878459"/>
          </a:xfrm>
        </p:spPr>
        <p:txBody>
          <a:bodyPr>
            <a:normAutofit fontScale="90000"/>
          </a:bodyPr>
          <a:lstStyle/>
          <a:p>
            <a:pPr lvl="0">
              <a:lnSpc>
                <a:spcPct val="100000"/>
              </a:lnSpc>
              <a:spcBef>
                <a:spcPts val="0"/>
              </a:spcBef>
            </a:pPr>
            <a:r>
              <a:rPr lang="en-US" dirty="0" smtClean="0">
                <a:solidFill>
                  <a:schemeClr val="accent6"/>
                </a:solidFill>
                <a:latin typeface="Times New Roman" panose="02020603050405020304" pitchFamily="18" charset="0"/>
                <a:cs typeface="Times New Roman" panose="02020603050405020304" pitchFamily="18" charset="0"/>
              </a:rPr>
              <a:t/>
            </a:r>
            <a:br>
              <a:rPr lang="en-US" dirty="0" smtClean="0">
                <a:solidFill>
                  <a:schemeClr val="accent6"/>
                </a:solidFill>
                <a:latin typeface="Times New Roman" panose="02020603050405020304" pitchFamily="18" charset="0"/>
                <a:cs typeface="Times New Roman" panose="02020603050405020304" pitchFamily="18" charset="0"/>
              </a:rPr>
            </a:br>
            <a:r>
              <a:rPr lang="en-US" dirty="0" smtClean="0">
                <a:solidFill>
                  <a:schemeClr val="accent6"/>
                </a:solidFill>
                <a:latin typeface="Times New Roman" panose="02020603050405020304" pitchFamily="18" charset="0"/>
                <a:cs typeface="Times New Roman" panose="02020603050405020304" pitchFamily="18" charset="0"/>
              </a:rPr>
              <a:t/>
            </a:r>
            <a:br>
              <a:rPr lang="en-US" dirty="0" smtClean="0">
                <a:solidFill>
                  <a:schemeClr val="accent6"/>
                </a:solidFill>
                <a:latin typeface="Times New Roman" panose="02020603050405020304" pitchFamily="18" charset="0"/>
                <a:cs typeface="Times New Roman" panose="02020603050405020304" pitchFamily="18" charset="0"/>
              </a:rPr>
            </a:br>
            <a:r>
              <a:rPr lang="en-US" sz="3100" dirty="0" smtClean="0">
                <a:solidFill>
                  <a:srgbClr val="70AD47"/>
                </a:solidFill>
                <a:latin typeface="Times New Roman" panose="02020603050405020304" pitchFamily="18" charset="0"/>
                <a:cs typeface="Times New Roman" panose="02020603050405020304" pitchFamily="18" charset="0"/>
              </a:rPr>
              <a:t>Modern </a:t>
            </a:r>
            <a:r>
              <a:rPr lang="en-US" sz="3100" dirty="0">
                <a:solidFill>
                  <a:srgbClr val="70AD47"/>
                </a:solidFill>
                <a:latin typeface="Times New Roman" panose="02020603050405020304" pitchFamily="18" charset="0"/>
                <a:cs typeface="Times New Roman" panose="02020603050405020304" pitchFamily="18" charset="0"/>
              </a:rPr>
              <a:t>Perspectives in </a:t>
            </a:r>
            <a:r>
              <a:rPr lang="en-US" sz="3100" dirty="0" smtClean="0">
                <a:solidFill>
                  <a:srgbClr val="70AD47"/>
                </a:solidFill>
                <a:latin typeface="Times New Roman" panose="02020603050405020304" pitchFamily="18" charset="0"/>
                <a:cs typeface="Times New Roman" panose="02020603050405020304" pitchFamily="18" charset="0"/>
              </a:rPr>
              <a:t>Psychology</a:t>
            </a:r>
            <a:br>
              <a:rPr lang="en-US" sz="3100" dirty="0" smtClean="0">
                <a:solidFill>
                  <a:srgbClr val="70AD47"/>
                </a:solidFill>
                <a:latin typeface="Times New Roman" panose="02020603050405020304" pitchFamily="18" charset="0"/>
                <a:cs typeface="Times New Roman" panose="02020603050405020304" pitchFamily="18" charset="0"/>
              </a:rPr>
            </a:br>
            <a:r>
              <a:rPr lang="en-US" sz="2700" dirty="0" smtClean="0">
                <a:solidFill>
                  <a:schemeClr val="accent6"/>
                </a:solidFill>
                <a:latin typeface="Times New Roman" panose="02020603050405020304" pitchFamily="18" charset="0"/>
                <a:cs typeface="Times New Roman" panose="02020603050405020304" pitchFamily="18" charset="0"/>
              </a:rPr>
              <a:t>Sociocultural Approach (1960s–present) </a:t>
            </a:r>
            <a:r>
              <a:rPr lang="en-US" dirty="0" smtClean="0">
                <a:solidFill>
                  <a:schemeClr val="accent6"/>
                </a:solidFill>
                <a:latin typeface="Times New Roman" panose="02020603050405020304" pitchFamily="18" charset="0"/>
                <a:cs typeface="Times New Roman" panose="02020603050405020304" pitchFamily="18" charset="0"/>
              </a:rPr>
              <a:t/>
            </a:r>
            <a:br>
              <a:rPr lang="en-US" dirty="0" smtClean="0">
                <a:solidFill>
                  <a:schemeClr val="accent6"/>
                </a:solidFill>
                <a:latin typeface="Times New Roman" panose="02020603050405020304" pitchFamily="18" charset="0"/>
                <a:cs typeface="Times New Roman" panose="02020603050405020304" pitchFamily="18" charset="0"/>
              </a:rPr>
            </a:br>
            <a:r>
              <a:rPr lang="en-US" dirty="0" smtClean="0">
                <a:latin typeface="Times New Roman" panose="02020603050405020304" pitchFamily="18" charset="0"/>
                <a:cs typeface="Times New Roman" panose="02020603050405020304" pitchFamily="18" charset="0"/>
              </a:rPr>
              <a:t/>
            </a:r>
            <a:br>
              <a:rPr lang="en-US" dirty="0" smtClean="0">
                <a:latin typeface="Times New Roman" panose="02020603050405020304" pitchFamily="18" charset="0"/>
                <a:cs typeface="Times New Roman" panose="02020603050405020304" pitchFamily="18" charset="0"/>
              </a:rPr>
            </a:br>
            <a:endParaRPr lang="en-US" dirty="0"/>
          </a:p>
        </p:txBody>
      </p:sp>
      <p:sp>
        <p:nvSpPr>
          <p:cNvPr id="3" name="Content Placeholder 2"/>
          <p:cNvSpPr>
            <a:spLocks noGrp="1"/>
          </p:cNvSpPr>
          <p:nvPr>
            <p:ph idx="1"/>
          </p:nvPr>
        </p:nvSpPr>
        <p:spPr>
          <a:xfrm>
            <a:off x="1298448" y="1417320"/>
            <a:ext cx="9537192" cy="5024819"/>
          </a:xfrm>
        </p:spPr>
        <p:txBody>
          <a:bodyPr>
            <a:noAutofit/>
          </a:bodyPr>
          <a:lstStyle/>
          <a:p>
            <a:pPr marL="0" indent="0">
              <a:buNone/>
            </a:pPr>
            <a:r>
              <a:rPr lang="en-US" sz="2000" b="1" dirty="0" smtClean="0">
                <a:latin typeface="Times New Roman" panose="02020603050405020304" pitchFamily="18" charset="0"/>
                <a:cs typeface="Times New Roman" panose="02020603050405020304" pitchFamily="18" charset="0"/>
              </a:rPr>
              <a:t>Focus: </a:t>
            </a:r>
            <a:r>
              <a:rPr lang="en-US" sz="2000" dirty="0">
                <a:latin typeface="Times New Roman" panose="02020603050405020304" pitchFamily="18" charset="0"/>
                <a:cs typeface="Times New Roman" panose="02020603050405020304" pitchFamily="18" charset="0"/>
              </a:rPr>
              <a:t>The influence of society, culture, and social interactions on </a:t>
            </a:r>
            <a:r>
              <a:rPr lang="en-US" sz="2000" dirty="0" smtClean="0">
                <a:latin typeface="Times New Roman" panose="02020603050405020304" pitchFamily="18" charset="0"/>
                <a:cs typeface="Times New Roman" panose="02020603050405020304" pitchFamily="18" charset="0"/>
              </a:rPr>
              <a:t>behavior.</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b="1" dirty="0" smtClean="0">
                <a:latin typeface="Times New Roman" panose="02020603050405020304" pitchFamily="18" charset="0"/>
                <a:cs typeface="Times New Roman" panose="02020603050405020304" pitchFamily="18" charset="0"/>
              </a:rPr>
              <a:t>Key </a:t>
            </a:r>
            <a:r>
              <a:rPr lang="en-US" sz="2000" b="1" dirty="0">
                <a:latin typeface="Times New Roman" panose="02020603050405020304" pitchFamily="18" charset="0"/>
                <a:cs typeface="Times New Roman" panose="02020603050405020304" pitchFamily="18" charset="0"/>
              </a:rPr>
              <a:t>Assumptions</a:t>
            </a:r>
            <a:r>
              <a:rPr lang="en-US" sz="2000" b="1" dirty="0" smtClean="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Behavior </a:t>
            </a:r>
            <a:r>
              <a:rPr lang="en-US" sz="2000" dirty="0">
                <a:latin typeface="Times New Roman" panose="02020603050405020304" pitchFamily="18" charset="0"/>
                <a:cs typeface="Times New Roman" panose="02020603050405020304" pitchFamily="18" charset="0"/>
              </a:rPr>
              <a:t>can’t be understood without context</a:t>
            </a:r>
            <a:r>
              <a:rPr lang="en-US" sz="2000" dirty="0" smtClean="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Cultural </a:t>
            </a:r>
            <a:r>
              <a:rPr lang="en-US" sz="2000" dirty="0">
                <a:latin typeface="Times New Roman" panose="02020603050405020304" pitchFamily="18" charset="0"/>
                <a:cs typeface="Times New Roman" panose="02020603050405020304" pitchFamily="18" charset="0"/>
              </a:rPr>
              <a:t>norms, values, gender roles, ethnicity shape psychology</a:t>
            </a:r>
            <a:r>
              <a:rPr lang="en-US" sz="2000" dirty="0" smtClean="0">
                <a:latin typeface="Times New Roman" panose="02020603050405020304" pitchFamily="18" charset="0"/>
                <a:cs typeface="Times New Roman" panose="02020603050405020304" pitchFamily="18" charset="0"/>
              </a:rPr>
              <a:t>.</a:t>
            </a:r>
          </a:p>
          <a:p>
            <a:pPr marL="0" indent="0">
              <a:buNone/>
            </a:pPr>
            <a:endParaRPr lang="en-US" sz="2000" dirty="0" smtClean="0">
              <a:latin typeface="Times New Roman" panose="02020603050405020304" pitchFamily="18" charset="0"/>
              <a:cs typeface="Times New Roman" panose="02020603050405020304" pitchFamily="18" charset="0"/>
            </a:endParaRPr>
          </a:p>
          <a:p>
            <a:pPr marL="0" indent="0">
              <a:buNone/>
            </a:pPr>
            <a:r>
              <a:rPr lang="en-US" sz="2000" b="1" dirty="0" smtClean="0">
                <a:latin typeface="Times New Roman" panose="02020603050405020304" pitchFamily="18" charset="0"/>
                <a:cs typeface="Times New Roman" panose="02020603050405020304" pitchFamily="18" charset="0"/>
              </a:rPr>
              <a:t>Key </a:t>
            </a:r>
            <a:r>
              <a:rPr lang="en-US" sz="2000" b="1" dirty="0">
                <a:latin typeface="Times New Roman" panose="02020603050405020304" pitchFamily="18" charset="0"/>
                <a:cs typeface="Times New Roman" panose="02020603050405020304" pitchFamily="18" charset="0"/>
              </a:rPr>
              <a:t>Figures: </a:t>
            </a:r>
            <a:r>
              <a:rPr lang="en-US" sz="2000" dirty="0">
                <a:latin typeface="Times New Roman" panose="02020603050405020304" pitchFamily="18" charset="0"/>
                <a:cs typeface="Times New Roman" panose="02020603050405020304" pitchFamily="18" charset="0"/>
              </a:rPr>
              <a:t>Lev Vygotsky (social development theory), Albert Bandura (social learning theory</a:t>
            </a:r>
            <a:r>
              <a:rPr lang="en-US" sz="2000" dirty="0" smtClean="0">
                <a:latin typeface="Times New Roman" panose="02020603050405020304" pitchFamily="18" charset="0"/>
                <a:cs typeface="Times New Roman" panose="02020603050405020304" pitchFamily="18" charset="0"/>
              </a:rPr>
              <a:t>).</a:t>
            </a:r>
          </a:p>
          <a:p>
            <a:pPr marL="0" indent="0">
              <a:buNone/>
            </a:pPr>
            <a:r>
              <a:rPr lang="en-US" sz="2000" b="1" dirty="0" smtClean="0">
                <a:latin typeface="Times New Roman" panose="02020603050405020304" pitchFamily="18" charset="0"/>
                <a:cs typeface="Times New Roman" panose="02020603050405020304" pitchFamily="18" charset="0"/>
              </a:rPr>
              <a:t>Examples: </a:t>
            </a:r>
            <a:r>
              <a:rPr lang="en-US" sz="2000" dirty="0" smtClean="0">
                <a:latin typeface="Times New Roman" panose="02020603050405020304" pitchFamily="18" charset="0"/>
                <a:cs typeface="Times New Roman" panose="02020603050405020304" pitchFamily="18" charset="0"/>
              </a:rPr>
              <a:t>Cross-cultural </a:t>
            </a:r>
            <a:r>
              <a:rPr lang="en-US" sz="2000" dirty="0">
                <a:latin typeface="Times New Roman" panose="02020603050405020304" pitchFamily="18" charset="0"/>
                <a:cs typeface="Times New Roman" panose="02020603050405020304" pitchFamily="18" charset="0"/>
              </a:rPr>
              <a:t>studies on individualism vs. collectivism</a:t>
            </a:r>
            <a:r>
              <a:rPr lang="en-US" sz="2000" dirty="0" smtClean="0">
                <a:latin typeface="Times New Roman" panose="02020603050405020304" pitchFamily="18" charset="0"/>
                <a:cs typeface="Times New Roman" panose="02020603050405020304" pitchFamily="18" charset="0"/>
              </a:rPr>
              <a:t>. Research </a:t>
            </a:r>
            <a:r>
              <a:rPr lang="en-US" sz="2000" dirty="0">
                <a:latin typeface="Times New Roman" panose="02020603050405020304" pitchFamily="18" charset="0"/>
                <a:cs typeface="Times New Roman" panose="02020603050405020304" pitchFamily="18" charset="0"/>
              </a:rPr>
              <a:t>on conformity (Asch), obedience (Milgram</a:t>
            </a:r>
            <a:r>
              <a:rPr lang="en-US" sz="2000" dirty="0" smtClean="0">
                <a:latin typeface="Times New Roman" panose="02020603050405020304" pitchFamily="18" charset="0"/>
                <a:cs typeface="Times New Roman" panose="02020603050405020304" pitchFamily="18" charset="0"/>
              </a:rPr>
              <a:t>).</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b="1" dirty="0" smtClean="0">
                <a:latin typeface="Times New Roman" panose="02020603050405020304" pitchFamily="18" charset="0"/>
                <a:cs typeface="Times New Roman" panose="02020603050405020304" pitchFamily="18" charset="0"/>
              </a:rPr>
              <a:t>Application</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Multicultural psychology, diversity in therapy, social justice studies.</a:t>
            </a:r>
          </a:p>
          <a:p>
            <a:pPr marL="0" indent="0">
              <a:buNone/>
            </a:pPr>
            <a:endParaRPr lang="en-US" sz="20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136123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22376"/>
            <a:ext cx="10515600" cy="968312"/>
          </a:xfrm>
        </p:spPr>
        <p:txBody>
          <a:bodyPr>
            <a:normAutofit fontScale="90000"/>
          </a:bodyPr>
          <a:lstStyle/>
          <a:p>
            <a:r>
              <a:rPr lang="en-US" dirty="0" smtClean="0">
                <a:solidFill>
                  <a:schemeClr val="accent6"/>
                </a:solidFill>
                <a:latin typeface="Times New Roman" panose="02020603050405020304" pitchFamily="18" charset="0"/>
                <a:cs typeface="Times New Roman" panose="02020603050405020304" pitchFamily="18" charset="0"/>
              </a:rPr>
              <a:t>Difference between Psychologist and</a:t>
            </a:r>
            <a:br>
              <a:rPr lang="en-US" dirty="0" smtClean="0">
                <a:solidFill>
                  <a:schemeClr val="accent6"/>
                </a:solidFill>
                <a:latin typeface="Times New Roman" panose="02020603050405020304" pitchFamily="18" charset="0"/>
                <a:cs typeface="Times New Roman" panose="02020603050405020304" pitchFamily="18" charset="0"/>
              </a:rPr>
            </a:br>
            <a:r>
              <a:rPr lang="en-US" dirty="0" smtClean="0">
                <a:solidFill>
                  <a:schemeClr val="accent6"/>
                </a:solidFill>
                <a:latin typeface="Times New Roman" panose="02020603050405020304" pitchFamily="18" charset="0"/>
                <a:cs typeface="Times New Roman" panose="02020603050405020304" pitchFamily="18" charset="0"/>
              </a:rPr>
              <a:t>Psychiatrist</a:t>
            </a:r>
            <a:r>
              <a:rPr lang="en-US" dirty="0" smtClean="0">
                <a:solidFill>
                  <a:schemeClr val="accent6"/>
                </a:solidFill>
              </a:rPr>
              <a:t/>
            </a:r>
            <a:br>
              <a:rPr lang="en-US" dirty="0" smtClean="0">
                <a:solidFill>
                  <a:schemeClr val="accent6"/>
                </a:solidFill>
              </a:rPr>
            </a:br>
            <a:endParaRPr lang="en-US" dirty="0">
              <a:solidFill>
                <a:schemeClr val="accent6"/>
              </a:solidFill>
            </a:endParaRPr>
          </a:p>
        </p:txBody>
      </p:sp>
      <p:sp>
        <p:nvSpPr>
          <p:cNvPr id="3" name="Content Placeholder 2"/>
          <p:cNvSpPr>
            <a:spLocks noGrp="1"/>
          </p:cNvSpPr>
          <p:nvPr>
            <p:ph idx="1"/>
          </p:nvPr>
        </p:nvSpPr>
        <p:spPr>
          <a:xfrm>
            <a:off x="838200" y="1825625"/>
            <a:ext cx="9759696" cy="4351338"/>
          </a:xfrm>
        </p:spPr>
        <p:txBody>
          <a:bodyPr>
            <a:normAutofit fontScale="70000" lnSpcReduction="20000"/>
          </a:bodyPr>
          <a:lstStyle/>
          <a:p>
            <a:endParaRPr lang="en-US" dirty="0" smtClean="0"/>
          </a:p>
          <a:p>
            <a:pPr marL="0" indent="0">
              <a:buNone/>
            </a:pPr>
            <a:r>
              <a:rPr lang="en-US" sz="3300" b="1" dirty="0" smtClean="0">
                <a:latin typeface="Times New Roman" panose="02020603050405020304" pitchFamily="18" charset="0"/>
                <a:cs typeface="Times New Roman" panose="02020603050405020304" pitchFamily="18" charset="0"/>
              </a:rPr>
              <a:t>Psychologist: </a:t>
            </a:r>
          </a:p>
          <a:p>
            <a:pPr marL="0" indent="0">
              <a:buNone/>
            </a:pPr>
            <a:r>
              <a:rPr lang="en-US" sz="3300" dirty="0" smtClean="0">
                <a:latin typeface="Times New Roman" panose="02020603050405020304" pitchFamily="18" charset="0"/>
                <a:cs typeface="Times New Roman" panose="02020603050405020304" pitchFamily="18" charset="0"/>
              </a:rPr>
              <a:t>Focus extensively on psychotherapy and treating emotional and mental suffering in patients with behavioral intervention.</a:t>
            </a:r>
          </a:p>
          <a:p>
            <a:pPr marL="0" indent="0">
              <a:buNone/>
            </a:pPr>
            <a:r>
              <a:rPr lang="en-US" sz="3300" dirty="0" smtClean="0">
                <a:latin typeface="Times New Roman" panose="02020603050405020304" pitchFamily="18" charset="0"/>
                <a:cs typeface="Times New Roman" panose="02020603050405020304" pitchFamily="18" charset="0"/>
              </a:rPr>
              <a:t>Psychologists obtain </a:t>
            </a:r>
            <a:r>
              <a:rPr lang="en-US" sz="3300" dirty="0" err="1" smtClean="0">
                <a:latin typeface="Times New Roman" panose="02020603050405020304" pitchFamily="18" charset="0"/>
                <a:cs typeface="Times New Roman" panose="02020603050405020304" pitchFamily="18" charset="0"/>
              </a:rPr>
              <a:t>PsyD</a:t>
            </a:r>
            <a:r>
              <a:rPr lang="en-US" sz="3300" dirty="0" smtClean="0">
                <a:latin typeface="Times New Roman" panose="02020603050405020304" pitchFamily="18" charset="0"/>
                <a:cs typeface="Times New Roman" panose="02020603050405020304" pitchFamily="18" charset="0"/>
              </a:rPr>
              <a:t> doctoral degree, Throughout their education, psychologists study personality development, the history of psychological problems and the science of psychological research.</a:t>
            </a:r>
          </a:p>
          <a:p>
            <a:pPr marL="0" indent="0">
              <a:buNone/>
            </a:pPr>
            <a:r>
              <a:rPr lang="en-US" sz="3300" b="1" dirty="0" smtClean="0">
                <a:latin typeface="Times New Roman" panose="02020603050405020304" pitchFamily="18" charset="0"/>
                <a:cs typeface="Times New Roman" panose="02020603050405020304" pitchFamily="18" charset="0"/>
              </a:rPr>
              <a:t>Psychiatrist: </a:t>
            </a:r>
          </a:p>
          <a:p>
            <a:pPr marL="0" indent="0">
              <a:buNone/>
            </a:pPr>
            <a:r>
              <a:rPr lang="en-US" sz="3300" dirty="0" smtClean="0">
                <a:latin typeface="Times New Roman" panose="02020603050405020304" pitchFamily="18" charset="0"/>
                <a:cs typeface="Times New Roman" panose="02020603050405020304" pitchFamily="18" charset="0"/>
              </a:rPr>
              <a:t>They are trained medical doctors, they can prescribe medications, and they spend much of their time with patients on medication management as a course of treatment.</a:t>
            </a:r>
          </a:p>
          <a:p>
            <a:pPr marL="0" indent="0">
              <a:buNone/>
            </a:pPr>
            <a:r>
              <a:rPr lang="en-US" sz="3300" dirty="0" smtClean="0">
                <a:latin typeface="Times New Roman" panose="02020603050405020304" pitchFamily="18" charset="0"/>
                <a:cs typeface="Times New Roman" panose="02020603050405020304" pitchFamily="18" charset="0"/>
              </a:rPr>
              <a:t>Psychiatrists attend medical school and are trained in general medicine. After earning an MD, they practice four years of residency training in psychiatry.</a:t>
            </a:r>
            <a:endParaRPr lang="en-US" sz="3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211563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6"/>
                </a:solidFill>
                <a:latin typeface="Times New Roman" panose="02020603050405020304" pitchFamily="18" charset="0"/>
                <a:cs typeface="Times New Roman" panose="02020603050405020304" pitchFamily="18" charset="0"/>
              </a:rPr>
              <a:t>Sub fields of psychology</a:t>
            </a:r>
            <a:r>
              <a:rPr lang="en-US" dirty="0" smtClean="0">
                <a:latin typeface="Times New Roman" panose="02020603050405020304" pitchFamily="18" charset="0"/>
                <a:cs typeface="Times New Roman" panose="02020603050405020304" pitchFamily="18" charset="0"/>
              </a:rPr>
              <a:t/>
            </a:r>
            <a:br>
              <a:rPr lang="en-US" dirty="0" smtClean="0">
                <a:latin typeface="Times New Roman" panose="02020603050405020304" pitchFamily="18" charset="0"/>
                <a:cs typeface="Times New Roman" panose="02020603050405020304" pitchFamily="18" charset="0"/>
              </a:rPr>
            </a:br>
            <a:endParaRPr lang="en-US" dirty="0"/>
          </a:p>
        </p:txBody>
      </p:sp>
      <p:sp>
        <p:nvSpPr>
          <p:cNvPr id="3" name="Content Placeholder 2"/>
          <p:cNvSpPr>
            <a:spLocks noGrp="1"/>
          </p:cNvSpPr>
          <p:nvPr>
            <p:ph idx="1"/>
          </p:nvPr>
        </p:nvSpPr>
        <p:spPr>
          <a:xfrm>
            <a:off x="838200" y="1380744"/>
            <a:ext cx="10515600" cy="4796219"/>
          </a:xfrm>
        </p:spPr>
        <p:txBody>
          <a:bodyPr>
            <a:normAutofit/>
          </a:bodyPr>
          <a:lstStyle/>
          <a:p>
            <a:pPr marL="0" indent="0">
              <a:buNone/>
            </a:pPr>
            <a:r>
              <a:rPr lang="en-US" dirty="0" smtClean="0">
                <a:latin typeface="Times New Roman" panose="02020603050405020304" pitchFamily="18" charset="0"/>
                <a:cs typeface="Times New Roman" panose="02020603050405020304" pitchFamily="18" charset="0"/>
              </a:rPr>
              <a:t>1. </a:t>
            </a:r>
            <a:r>
              <a:rPr lang="en-US" b="1" dirty="0" smtClean="0">
                <a:latin typeface="Times New Roman" panose="02020603050405020304" pitchFamily="18" charset="0"/>
                <a:cs typeface="Times New Roman" panose="02020603050405020304" pitchFamily="18" charset="0"/>
              </a:rPr>
              <a:t>Clinical </a:t>
            </a:r>
            <a:r>
              <a:rPr lang="en-US" b="1" dirty="0">
                <a:latin typeface="Times New Roman" panose="02020603050405020304" pitchFamily="18" charset="0"/>
                <a:cs typeface="Times New Roman" panose="02020603050405020304" pitchFamily="18" charset="0"/>
              </a:rPr>
              <a:t>Psychology</a:t>
            </a:r>
          </a:p>
          <a:p>
            <a:pPr marL="0" indent="0">
              <a:buNone/>
            </a:pPr>
            <a:r>
              <a:rPr lang="en-US" dirty="0" smtClean="0">
                <a:latin typeface="Times New Roman" panose="02020603050405020304" pitchFamily="18" charset="0"/>
                <a:cs typeface="Times New Roman" panose="02020603050405020304" pitchFamily="18" charset="0"/>
              </a:rPr>
              <a:t>	Clinical </a:t>
            </a:r>
            <a:r>
              <a:rPr lang="en-US" dirty="0">
                <a:latin typeface="Times New Roman" panose="02020603050405020304" pitchFamily="18" charset="0"/>
                <a:cs typeface="Times New Roman" panose="02020603050405020304" pitchFamily="18" charset="0"/>
              </a:rPr>
              <a:t>psychology is the branch of psychology concerned with diagnosing and treating mental, emotional, and behavioral disorders. Clinical psychologists use a variety of methods including psychotherapy, psychological testing, and research to promote mental health (</a:t>
            </a:r>
            <a:r>
              <a:rPr lang="en-US" dirty="0" err="1">
                <a:latin typeface="Times New Roman" panose="02020603050405020304" pitchFamily="18" charset="0"/>
                <a:cs typeface="Times New Roman" panose="02020603050405020304" pitchFamily="18" charset="0"/>
              </a:rPr>
              <a:t>Kazdin</a:t>
            </a:r>
            <a:r>
              <a:rPr lang="en-US" dirty="0">
                <a:latin typeface="Times New Roman" panose="02020603050405020304" pitchFamily="18" charset="0"/>
                <a:cs typeface="Times New Roman" panose="02020603050405020304" pitchFamily="18" charset="0"/>
              </a:rPr>
              <a:t>, 2008).</a:t>
            </a:r>
          </a:p>
          <a:p>
            <a:pPr marL="0" indent="0">
              <a:buNone/>
            </a:pPr>
            <a:r>
              <a:rPr lang="en-US" dirty="0">
                <a:latin typeface="Times New Roman" panose="02020603050405020304" pitchFamily="18" charset="0"/>
                <a:cs typeface="Times New Roman" panose="02020603050405020304" pitchFamily="18" charset="0"/>
              </a:rPr>
              <a:t>2. </a:t>
            </a:r>
            <a:r>
              <a:rPr lang="en-US" b="1" dirty="0">
                <a:latin typeface="Times New Roman" panose="02020603050405020304" pitchFamily="18" charset="0"/>
                <a:cs typeface="Times New Roman" panose="02020603050405020304" pitchFamily="18" charset="0"/>
              </a:rPr>
              <a:t>Cognitive Psychology</a:t>
            </a:r>
          </a:p>
          <a:p>
            <a:pPr marL="0" indent="0">
              <a:buNone/>
            </a:pPr>
            <a:r>
              <a:rPr lang="en-US" dirty="0" smtClean="0">
                <a:latin typeface="Times New Roman" panose="02020603050405020304" pitchFamily="18" charset="0"/>
                <a:cs typeface="Times New Roman" panose="02020603050405020304" pitchFamily="18" charset="0"/>
              </a:rPr>
              <a:t>	Cognitive </a:t>
            </a:r>
            <a:r>
              <a:rPr lang="en-US" dirty="0">
                <a:latin typeface="Times New Roman" panose="02020603050405020304" pitchFamily="18" charset="0"/>
                <a:cs typeface="Times New Roman" panose="02020603050405020304" pitchFamily="18" charset="0"/>
              </a:rPr>
              <a:t>psychology focuses on internal mental processes such as perception, memory, learning, problem-solving, and decision-making. It views humans as active processors of information (</a:t>
            </a:r>
            <a:r>
              <a:rPr lang="en-US" dirty="0" err="1">
                <a:latin typeface="Times New Roman" panose="02020603050405020304" pitchFamily="18" charset="0"/>
                <a:cs typeface="Times New Roman" panose="02020603050405020304" pitchFamily="18" charset="0"/>
              </a:rPr>
              <a:t>Neisser</a:t>
            </a:r>
            <a:r>
              <a:rPr lang="en-US" dirty="0">
                <a:latin typeface="Times New Roman" panose="02020603050405020304" pitchFamily="18" charset="0"/>
                <a:cs typeface="Times New Roman" panose="02020603050405020304" pitchFamily="18" charset="0"/>
              </a:rPr>
              <a:t>, 1967</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80944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6"/>
                </a:solidFill>
                <a:latin typeface="Times New Roman" panose="02020603050405020304" pitchFamily="18" charset="0"/>
                <a:cs typeface="Times New Roman" panose="02020603050405020304" pitchFamily="18" charset="0"/>
              </a:rPr>
              <a:t>Sub fields of psychology</a:t>
            </a:r>
            <a:endParaRPr lang="en-US" dirty="0">
              <a:solidFill>
                <a:schemeClr val="accent6"/>
              </a:solidFill>
            </a:endParaRPr>
          </a:p>
        </p:txBody>
      </p:sp>
      <p:sp>
        <p:nvSpPr>
          <p:cNvPr id="3" name="Content Placeholder 2"/>
          <p:cNvSpPr>
            <a:spLocks noGrp="1"/>
          </p:cNvSpPr>
          <p:nvPr>
            <p:ph idx="1"/>
          </p:nvPr>
        </p:nvSpPr>
        <p:spPr/>
        <p:txBody>
          <a:bodyPr>
            <a:normAutofit fontScale="92500" lnSpcReduction="10000"/>
          </a:bodyPr>
          <a:lstStyle/>
          <a:p>
            <a:pPr marL="0" indent="0">
              <a:buNone/>
            </a:pPr>
            <a:r>
              <a:rPr lang="en-US" dirty="0">
                <a:latin typeface="Times New Roman" panose="02020603050405020304" pitchFamily="18" charset="0"/>
                <a:cs typeface="Times New Roman" panose="02020603050405020304" pitchFamily="18" charset="0"/>
              </a:rPr>
              <a:t>3. </a:t>
            </a:r>
            <a:r>
              <a:rPr lang="en-US" b="1" dirty="0">
                <a:latin typeface="Times New Roman" panose="02020603050405020304" pitchFamily="18" charset="0"/>
                <a:cs typeface="Times New Roman" panose="02020603050405020304" pitchFamily="18" charset="0"/>
              </a:rPr>
              <a:t>Educational Psychology</a:t>
            </a:r>
          </a:p>
          <a:p>
            <a:pPr marL="0" indent="0">
              <a:buNone/>
            </a:pPr>
            <a:r>
              <a:rPr lang="en-US" dirty="0">
                <a:latin typeface="Times New Roman" panose="02020603050405020304" pitchFamily="18" charset="0"/>
                <a:cs typeface="Times New Roman" panose="02020603050405020304" pitchFamily="18" charset="0"/>
              </a:rPr>
              <a:t>	Educational psychology is the study of how humans learn in educational settings, the effectiveness of teaching methods, and the psychology of instruction. It also examines differences in learner characteristics and development (</a:t>
            </a:r>
            <a:r>
              <a:rPr lang="en-US" dirty="0" err="1">
                <a:latin typeface="Times New Roman" panose="02020603050405020304" pitchFamily="18" charset="0"/>
                <a:cs typeface="Times New Roman" panose="02020603050405020304" pitchFamily="18" charset="0"/>
              </a:rPr>
              <a:t>Ormrod</a:t>
            </a:r>
            <a:r>
              <a:rPr lang="en-US" dirty="0">
                <a:latin typeface="Times New Roman" panose="02020603050405020304" pitchFamily="18" charset="0"/>
                <a:cs typeface="Times New Roman" panose="02020603050405020304" pitchFamily="18" charset="0"/>
              </a:rPr>
              <a:t>, 2012).</a:t>
            </a:r>
          </a:p>
          <a:p>
            <a:pPr marL="0" indent="0">
              <a:buNone/>
            </a:pPr>
            <a:endParaRPr lang="en-US" b="1" dirty="0" smtClean="0">
              <a:latin typeface="Times New Roman" panose="02020603050405020304" pitchFamily="18" charset="0"/>
              <a:cs typeface="Times New Roman" panose="02020603050405020304" pitchFamily="18" charset="0"/>
            </a:endParaRPr>
          </a:p>
          <a:p>
            <a:pPr marL="0" indent="0">
              <a:buNone/>
            </a:pPr>
            <a:endParaRPr lang="en-US" b="1" dirty="0">
              <a:latin typeface="Times New Roman" panose="02020603050405020304" pitchFamily="18" charset="0"/>
              <a:cs typeface="Times New Roman" panose="02020603050405020304" pitchFamily="18" charset="0"/>
            </a:endParaRPr>
          </a:p>
          <a:p>
            <a:pPr marL="0" indent="0">
              <a:buNone/>
            </a:pPr>
            <a:r>
              <a:rPr lang="en-US" b="1" dirty="0" smtClean="0">
                <a:latin typeface="Times New Roman" panose="02020603050405020304" pitchFamily="18" charset="0"/>
                <a:cs typeface="Times New Roman" panose="02020603050405020304" pitchFamily="18" charset="0"/>
              </a:rPr>
              <a:t>4. Environmental </a:t>
            </a:r>
            <a:r>
              <a:rPr lang="en-US" b="1" dirty="0">
                <a:latin typeface="Times New Roman" panose="02020603050405020304" pitchFamily="18" charset="0"/>
                <a:cs typeface="Times New Roman" panose="02020603050405020304" pitchFamily="18" charset="0"/>
              </a:rPr>
              <a:t>Psychology</a:t>
            </a:r>
          </a:p>
          <a:p>
            <a:pPr marL="0" indent="0">
              <a:buNone/>
            </a:pPr>
            <a:r>
              <a:rPr lang="en-US" dirty="0" smtClean="0">
                <a:latin typeface="Times New Roman" panose="02020603050405020304" pitchFamily="18" charset="0"/>
                <a:cs typeface="Times New Roman" panose="02020603050405020304" pitchFamily="18" charset="0"/>
              </a:rPr>
              <a:t>	Environmental </a:t>
            </a:r>
            <a:r>
              <a:rPr lang="en-US" dirty="0">
                <a:latin typeface="Times New Roman" panose="02020603050405020304" pitchFamily="18" charset="0"/>
                <a:cs typeface="Times New Roman" panose="02020603050405020304" pitchFamily="18" charset="0"/>
              </a:rPr>
              <a:t>psychology examines the interaction between humans and their physical surroundings, including built and natural environments, and how these influence behavior and well-being (Gifford, 2007).</a:t>
            </a:r>
          </a:p>
          <a:p>
            <a:endParaRPr lang="en-US" dirty="0"/>
          </a:p>
          <a:p>
            <a:endParaRPr lang="en-US" dirty="0" smtClean="0"/>
          </a:p>
        </p:txBody>
      </p:sp>
    </p:spTree>
    <p:extLst>
      <p:ext uri="{BB962C8B-B14F-4D97-AF65-F5344CB8AC3E}">
        <p14:creationId xmlns:p14="http://schemas.microsoft.com/office/powerpoint/2010/main" val="38345110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6"/>
                </a:solidFill>
                <a:latin typeface="Times New Roman" panose="02020603050405020304" pitchFamily="18" charset="0"/>
                <a:cs typeface="Times New Roman" panose="02020603050405020304" pitchFamily="18" charset="0"/>
              </a:rPr>
              <a:t>Sub fields of psychology</a:t>
            </a:r>
            <a:endParaRPr lang="en-US" dirty="0">
              <a:solidFill>
                <a:schemeClr val="accent6"/>
              </a:solidFill>
            </a:endParaRPr>
          </a:p>
        </p:txBody>
      </p:sp>
      <p:sp>
        <p:nvSpPr>
          <p:cNvPr id="3" name="Content Placeholder 2"/>
          <p:cNvSpPr>
            <a:spLocks noGrp="1"/>
          </p:cNvSpPr>
          <p:nvPr>
            <p:ph idx="1"/>
          </p:nvPr>
        </p:nvSpPr>
        <p:spPr/>
        <p:txBody>
          <a:bodyPr>
            <a:normAutofit lnSpcReduction="10000"/>
          </a:bodyPr>
          <a:lstStyle/>
          <a:p>
            <a:pPr marL="0" indent="0">
              <a:buNone/>
            </a:pPr>
            <a:r>
              <a:rPr lang="en-US" b="1" dirty="0">
                <a:latin typeface="Times New Roman" panose="02020603050405020304" pitchFamily="18" charset="0"/>
                <a:cs typeface="Times New Roman" panose="02020603050405020304" pitchFamily="18" charset="0"/>
              </a:rPr>
              <a:t>5. Forensic Psychology</a:t>
            </a:r>
          </a:p>
          <a:p>
            <a:pPr marL="0" indent="0">
              <a:buNone/>
            </a:pPr>
            <a:r>
              <a:rPr lang="en-US" dirty="0">
                <a:latin typeface="Times New Roman" panose="02020603050405020304" pitchFamily="18" charset="0"/>
                <a:cs typeface="Times New Roman" panose="02020603050405020304" pitchFamily="18" charset="0"/>
              </a:rPr>
              <a:t>	Forensic psychology applies psychological principles to legal issues, including assessment of offenders, competency evaluations, jury decision-making, and providing expert testimony (</a:t>
            </a:r>
            <a:r>
              <a:rPr lang="en-US" dirty="0" err="1">
                <a:latin typeface="Times New Roman" panose="02020603050405020304" pitchFamily="18" charset="0"/>
                <a:cs typeface="Times New Roman" panose="02020603050405020304" pitchFamily="18" charset="0"/>
              </a:rPr>
              <a:t>Bartol</a:t>
            </a:r>
            <a:r>
              <a:rPr lang="en-US" dirty="0">
                <a:latin typeface="Times New Roman" panose="02020603050405020304" pitchFamily="18" charset="0"/>
                <a:cs typeface="Times New Roman" panose="02020603050405020304" pitchFamily="18" charset="0"/>
              </a:rPr>
              <a:t> &amp; </a:t>
            </a:r>
            <a:r>
              <a:rPr lang="en-US" dirty="0" err="1">
                <a:latin typeface="Times New Roman" panose="02020603050405020304" pitchFamily="18" charset="0"/>
                <a:cs typeface="Times New Roman" panose="02020603050405020304" pitchFamily="18" charset="0"/>
              </a:rPr>
              <a:t>Bartol</a:t>
            </a:r>
            <a:r>
              <a:rPr lang="en-US" dirty="0">
                <a:latin typeface="Times New Roman" panose="02020603050405020304" pitchFamily="18" charset="0"/>
                <a:cs typeface="Times New Roman" panose="02020603050405020304" pitchFamily="18" charset="0"/>
              </a:rPr>
              <a:t>, 2018).</a:t>
            </a:r>
          </a:p>
          <a:p>
            <a:pPr marL="0" indent="0">
              <a:buNone/>
            </a:pPr>
            <a:endParaRPr lang="en-US" b="1" dirty="0">
              <a:latin typeface="Times New Roman" panose="02020603050405020304" pitchFamily="18" charset="0"/>
              <a:cs typeface="Times New Roman" panose="02020603050405020304" pitchFamily="18" charset="0"/>
            </a:endParaRPr>
          </a:p>
          <a:p>
            <a:pPr marL="0" indent="0">
              <a:buNone/>
            </a:pPr>
            <a:r>
              <a:rPr lang="en-US" b="1" dirty="0" smtClean="0">
                <a:latin typeface="Times New Roman" panose="02020603050405020304" pitchFamily="18" charset="0"/>
                <a:cs typeface="Times New Roman" panose="02020603050405020304" pitchFamily="18" charset="0"/>
              </a:rPr>
              <a:t>6</a:t>
            </a:r>
            <a:r>
              <a:rPr lang="en-US" b="1" dirty="0">
                <a:latin typeface="Times New Roman" panose="02020603050405020304" pitchFamily="18" charset="0"/>
                <a:cs typeface="Times New Roman" panose="02020603050405020304" pitchFamily="18" charset="0"/>
              </a:rPr>
              <a:t>. Health Psychology</a:t>
            </a:r>
          </a:p>
          <a:p>
            <a:pPr marL="0" indent="0">
              <a:buNone/>
            </a:pPr>
            <a:r>
              <a:rPr lang="en-US" dirty="0" smtClean="0">
                <a:latin typeface="Times New Roman" panose="02020603050405020304" pitchFamily="18" charset="0"/>
                <a:cs typeface="Times New Roman" panose="02020603050405020304" pitchFamily="18" charset="0"/>
              </a:rPr>
              <a:t>	Health </a:t>
            </a:r>
            <a:r>
              <a:rPr lang="en-US" dirty="0">
                <a:latin typeface="Times New Roman" panose="02020603050405020304" pitchFamily="18" charset="0"/>
                <a:cs typeface="Times New Roman" panose="02020603050405020304" pitchFamily="18" charset="0"/>
              </a:rPr>
              <a:t>psychology studies how biological, psychological, and social factors influence health, illness, and health care. It emphasizes prevention, health promotion, and coping with illness (Taylor, 2009</a:t>
            </a:r>
            <a:r>
              <a:rPr lang="en-US" dirty="0" smtClean="0">
                <a:latin typeface="Times New Roman" panose="02020603050405020304" pitchFamily="18" charset="0"/>
                <a:cs typeface="Times New Roman" panose="02020603050405020304" pitchFamily="18" charset="0"/>
              </a:rPr>
              <a:t>).</a:t>
            </a:r>
          </a:p>
          <a:p>
            <a:endParaRPr lang="en-US" dirty="0" smtClean="0"/>
          </a:p>
          <a:p>
            <a:endParaRPr lang="en-US" dirty="0"/>
          </a:p>
        </p:txBody>
      </p:sp>
    </p:spTree>
    <p:extLst>
      <p:ext uri="{BB962C8B-B14F-4D97-AF65-F5344CB8AC3E}">
        <p14:creationId xmlns:p14="http://schemas.microsoft.com/office/powerpoint/2010/main" val="7515419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6"/>
                </a:solidFill>
                <a:latin typeface="Times New Roman" panose="02020603050405020304" pitchFamily="18" charset="0"/>
                <a:cs typeface="Times New Roman" panose="02020603050405020304" pitchFamily="18" charset="0"/>
              </a:rPr>
              <a:t>Sub fields of psychology</a:t>
            </a:r>
            <a:endParaRPr lang="en-US" dirty="0">
              <a:solidFill>
                <a:schemeClr val="accent6"/>
              </a:solidFill>
            </a:endParaRPr>
          </a:p>
        </p:txBody>
      </p:sp>
      <p:sp>
        <p:nvSpPr>
          <p:cNvPr id="3" name="Content Placeholder 2"/>
          <p:cNvSpPr>
            <a:spLocks noGrp="1"/>
          </p:cNvSpPr>
          <p:nvPr>
            <p:ph idx="1"/>
          </p:nvPr>
        </p:nvSpPr>
        <p:spPr/>
        <p:txBody>
          <a:bodyPr>
            <a:normAutofit/>
          </a:bodyPr>
          <a:lstStyle/>
          <a:p>
            <a:pPr marL="0" indent="0">
              <a:buNone/>
            </a:pPr>
            <a:r>
              <a:rPr lang="en-US" b="1" dirty="0" smtClean="0">
                <a:latin typeface="Times New Roman" panose="02020603050405020304" pitchFamily="18" charset="0"/>
                <a:cs typeface="Times New Roman" panose="02020603050405020304" pitchFamily="18" charset="0"/>
              </a:rPr>
              <a:t>7. Industrial/Organizational (I/O) Psychology</a:t>
            </a:r>
          </a:p>
          <a:p>
            <a:pPr marL="0" indent="0">
              <a:buNone/>
            </a:pPr>
            <a:r>
              <a:rPr lang="en-US" dirty="0" smtClean="0">
                <a:latin typeface="Times New Roman" panose="02020603050405020304" pitchFamily="18" charset="0"/>
                <a:cs typeface="Times New Roman" panose="02020603050405020304" pitchFamily="18" charset="0"/>
              </a:rPr>
              <a:t>	I/O psychology applies psychological theories and research to the workplace. It focuses on employee behavior, performance, motivation, leadership, and organizational effectiveness (</a:t>
            </a:r>
            <a:r>
              <a:rPr lang="en-US" dirty="0" err="1" smtClean="0">
                <a:latin typeface="Times New Roman" panose="02020603050405020304" pitchFamily="18" charset="0"/>
                <a:cs typeface="Times New Roman" panose="02020603050405020304" pitchFamily="18" charset="0"/>
              </a:rPr>
              <a:t>Muchinsky</a:t>
            </a:r>
            <a:r>
              <a:rPr lang="en-US" dirty="0" smtClean="0">
                <a:latin typeface="Times New Roman" panose="02020603050405020304" pitchFamily="18" charset="0"/>
                <a:cs typeface="Times New Roman" panose="02020603050405020304" pitchFamily="18" charset="0"/>
              </a:rPr>
              <a:t>, 2006).</a:t>
            </a:r>
          </a:p>
          <a:p>
            <a:pPr marL="0" indent="0">
              <a:buNone/>
            </a:pPr>
            <a:r>
              <a:rPr lang="en-US" b="1" dirty="0" smtClean="0">
                <a:latin typeface="Times New Roman" panose="02020603050405020304" pitchFamily="18" charset="0"/>
                <a:cs typeface="Times New Roman" panose="02020603050405020304" pitchFamily="18" charset="0"/>
              </a:rPr>
              <a:t>8. Consumer Psychology</a:t>
            </a:r>
          </a:p>
          <a:p>
            <a:pPr marL="0" indent="0">
              <a:buNone/>
            </a:pPr>
            <a:r>
              <a:rPr lang="en-US" dirty="0" smtClean="0">
                <a:latin typeface="Times New Roman" panose="02020603050405020304" pitchFamily="18" charset="0"/>
                <a:cs typeface="Times New Roman" panose="02020603050405020304" pitchFamily="18" charset="0"/>
              </a:rPr>
              <a:t>	Consumer psychology explores how people select, purchase, use, and dispose of products, services, ideas, and experiences. It investigates the psychological and social influences on consumer decision-making (</a:t>
            </a:r>
            <a:r>
              <a:rPr lang="en-US" dirty="0" err="1" smtClean="0">
                <a:latin typeface="Times New Roman" panose="02020603050405020304" pitchFamily="18" charset="0"/>
                <a:cs typeface="Times New Roman" panose="02020603050405020304" pitchFamily="18" charset="0"/>
              </a:rPr>
              <a:t>Schiffman</a:t>
            </a:r>
            <a:r>
              <a:rPr lang="en-US" dirty="0" smtClean="0">
                <a:latin typeface="Times New Roman" panose="02020603050405020304" pitchFamily="18" charset="0"/>
                <a:cs typeface="Times New Roman" panose="02020603050405020304" pitchFamily="18" charset="0"/>
              </a:rPr>
              <a:t> &amp; </a:t>
            </a:r>
            <a:r>
              <a:rPr lang="en-US" dirty="0" err="1" smtClean="0">
                <a:latin typeface="Times New Roman" panose="02020603050405020304" pitchFamily="18" charset="0"/>
                <a:cs typeface="Times New Roman" panose="02020603050405020304" pitchFamily="18" charset="0"/>
              </a:rPr>
              <a:t>Kanuk</a:t>
            </a:r>
            <a:r>
              <a:rPr lang="en-US" dirty="0" smtClean="0">
                <a:latin typeface="Times New Roman" panose="02020603050405020304" pitchFamily="18" charset="0"/>
                <a:cs typeface="Times New Roman" panose="02020603050405020304" pitchFamily="18" charset="0"/>
              </a:rPr>
              <a:t>, 2007).</a:t>
            </a:r>
          </a:p>
          <a:p>
            <a:endParaRPr lang="en-US" dirty="0" smtClean="0"/>
          </a:p>
          <a:p>
            <a:endParaRPr lang="en-US" dirty="0"/>
          </a:p>
        </p:txBody>
      </p:sp>
    </p:spTree>
    <p:extLst>
      <p:ext uri="{BB962C8B-B14F-4D97-AF65-F5344CB8AC3E}">
        <p14:creationId xmlns:p14="http://schemas.microsoft.com/office/powerpoint/2010/main" val="14736883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111</TotalTime>
  <Words>1487</Words>
  <Application>Microsoft Office PowerPoint</Application>
  <PresentationFormat>Widescreen</PresentationFormat>
  <Paragraphs>220</Paragraphs>
  <Slides>27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Calibri Light</vt:lpstr>
      <vt:lpstr>Mangal</vt:lpstr>
      <vt:lpstr>Times New Roman</vt:lpstr>
      <vt:lpstr>Office Theme</vt:lpstr>
      <vt:lpstr>Fundamentals of   Psychology</vt:lpstr>
      <vt:lpstr>PowerPoint Presentation</vt:lpstr>
      <vt:lpstr>Defining Psychology</vt:lpstr>
      <vt:lpstr>Definition of Psychology </vt:lpstr>
      <vt:lpstr>Goals of psychology </vt:lpstr>
      <vt:lpstr>Goals of psychology </vt:lpstr>
      <vt:lpstr>Example </vt:lpstr>
      <vt:lpstr>hISTORY OF PSYCHOLOGY</vt:lpstr>
      <vt:lpstr>Structuralism (WILHELM WUNDT )   Focus: The structure of consciousness — breaking mental processes into their smallest parts (sensations, thoughts, feelings).  Method: Introspection → trained participants reported their conscious experiences while being exposed to stimuli.  Example: Looking at a rose and describing sensations (color, smell, texture).  Criticism: Highly subjective, not scientific enough. </vt:lpstr>
      <vt:lpstr>Functionalism (WILLIAM JAMES )</vt:lpstr>
      <vt:lpstr>Psychodynamic (SIGMUND FREUD)</vt:lpstr>
      <vt:lpstr>SIGMUND FREUD  (psychoanalytic theory)</vt:lpstr>
      <vt:lpstr>BEHAVIORISM (John b.Watson)</vt:lpstr>
      <vt:lpstr>IVAN PAVLOV (CLASSICAL CONDITIONING)</vt:lpstr>
      <vt:lpstr>IVAN PAVLOV (CLASSICAL CONDITIONING)</vt:lpstr>
      <vt:lpstr>B. F. Skinner</vt:lpstr>
      <vt:lpstr>Key Figures: Carl Rogers, Abraham Maslow.  Focus: Free will, personal growth, and human potential.  Belief: Humans are inherently good and strive for self-actualization (becoming the best version of themselves).  Applications: Client-centered therapy, positive psychology.  Contrast: Seen as a response to behaviorism (too mechanical) and psychoanalysis (too negative).</vt:lpstr>
      <vt:lpstr>Humanism (CARL ROGERS )</vt:lpstr>
      <vt:lpstr>Humanism (ABRAHAM MASLOW)</vt:lpstr>
      <vt:lpstr>  Modern Perspectives in Psychology Biological Approach  </vt:lpstr>
      <vt:lpstr>PowerPoint Presentation</vt:lpstr>
      <vt:lpstr>  Modern Perspectives in Psychology Sociocultural Approach (1960s–present)   </vt:lpstr>
      <vt:lpstr>Difference between Psychologist and Psychiatrist </vt:lpstr>
      <vt:lpstr>Sub fields of psychology </vt:lpstr>
      <vt:lpstr>Sub fields of psychology</vt:lpstr>
      <vt:lpstr>Sub fields of psychology</vt:lpstr>
      <vt:lpstr>Sub fields of psychology</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Psychology</dc:title>
  <dc:creator>Syeda Sadia Qazi</dc:creator>
  <cp:lastModifiedBy>Syeda Sadia Qazi</cp:lastModifiedBy>
  <cp:revision>11</cp:revision>
  <dcterms:created xsi:type="dcterms:W3CDTF">2023-10-19T14:26:45Z</dcterms:created>
  <dcterms:modified xsi:type="dcterms:W3CDTF">2025-10-01T06:05:06Z</dcterms:modified>
</cp:coreProperties>
</file>