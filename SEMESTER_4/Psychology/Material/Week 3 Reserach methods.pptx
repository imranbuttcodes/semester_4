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9" r:id="rId3"/>
    <p:sldId id="260" r:id="rId4"/>
    <p:sldId id="280" r:id="rId5"/>
    <p:sldId id="281" r:id="rId6"/>
    <p:sldId id="263" r:id="rId7"/>
    <p:sldId id="265" r:id="rId8"/>
    <p:sldId id="266" r:id="rId9"/>
    <p:sldId id="295" r:id="rId10"/>
    <p:sldId id="296" r:id="rId11"/>
    <p:sldId id="267" r:id="rId12"/>
    <p:sldId id="269" r:id="rId13"/>
    <p:sldId id="270" r:id="rId14"/>
    <p:sldId id="276" r:id="rId15"/>
    <p:sldId id="291" r:id="rId16"/>
    <p:sldId id="292" r:id="rId17"/>
    <p:sldId id="277" r:id="rId18"/>
    <p:sldId id="279" r:id="rId19"/>
    <p:sldId id="282" r:id="rId20"/>
    <p:sldId id="299" r:id="rId21"/>
    <p:sldId id="300" r:id="rId22"/>
    <p:sldId id="301" r:id="rId23"/>
    <p:sldId id="297" r:id="rId24"/>
    <p:sldId id="29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2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20D913-8663-4CD9-BD5A-6C9BD227FE0C}"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8D3652-A9F6-41C7-860E-CC09C042E256}" type="slidenum">
              <a:rPr lang="en-US" smtClean="0"/>
              <a:t>‹#›</a:t>
            </a:fld>
            <a:endParaRPr lang="en-US"/>
          </a:p>
        </p:txBody>
      </p:sp>
    </p:spTree>
    <p:extLst>
      <p:ext uri="{BB962C8B-B14F-4D97-AF65-F5344CB8AC3E}">
        <p14:creationId xmlns:p14="http://schemas.microsoft.com/office/powerpoint/2010/main" val="1203727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E807F8-E041-4B6A-AA3D-D2354BA60951}"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479316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E807F8-E041-4B6A-AA3D-D2354BA60951}"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2202779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E807F8-E041-4B6A-AA3D-D2354BA60951}"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148425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E807F8-E041-4B6A-AA3D-D2354BA60951}"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3747327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1E807F8-E041-4B6A-AA3D-D2354BA60951}" type="datetimeFigureOut">
              <a:rPr lang="en-US" smtClean="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1669469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1E807F8-E041-4B6A-AA3D-D2354BA60951}" type="datetimeFigureOut">
              <a:rPr lang="en-US" smtClean="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2248956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E807F8-E041-4B6A-AA3D-D2354BA60951}"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3735240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E807F8-E041-4B6A-AA3D-D2354BA60951}"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1628382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E807F8-E041-4B6A-AA3D-D2354BA60951}"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2424740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E807F8-E041-4B6A-AA3D-D2354BA60951}"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286429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E807F8-E041-4B6A-AA3D-D2354BA60951}"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7CC3F-3B8C-4C8D-B782-DC7FD1E940FC}" type="slidenum">
              <a:rPr lang="en-US" smtClean="0"/>
              <a:t>‹#›</a:t>
            </a:fld>
            <a:endParaRPr lang="en-US"/>
          </a:p>
        </p:txBody>
      </p:sp>
    </p:spTree>
    <p:extLst>
      <p:ext uri="{BB962C8B-B14F-4D97-AF65-F5344CB8AC3E}">
        <p14:creationId xmlns:p14="http://schemas.microsoft.com/office/powerpoint/2010/main" val="3437907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2602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960172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17130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5250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9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136147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0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22567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686657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35885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9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53737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5206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2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1558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2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14078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2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18356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27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9548D5-4658-4DB3-92A3-BAD6805BA501}" type="datetime4">
              <a:rPr lang="en-US" smtClean="0"/>
              <a:t>October 13, 2025</a:t>
            </a:fld>
            <a:endParaRPr lang="en-US"/>
          </a:p>
        </p:txBody>
      </p:sp>
      <p:sp>
        <p:nvSpPr>
          <p:cNvPr id="5" name="Footer Placeholder 4"/>
          <p:cNvSpPr>
            <a:spLocks noGrp="1"/>
          </p:cNvSpPr>
          <p:nvPr>
            <p:ph type="ftr" sz="quarter" idx="11"/>
          </p:nvPr>
        </p:nvSpPr>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99215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E807F8-E041-4B6A-AA3D-D2354BA60951}" type="datetimeFigureOut">
              <a:rPr lang="en-US" smtClean="0"/>
              <a:t>10/13/2025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17CC3F-3B8C-4C8D-B782-DC7FD1E940FC}" type="slidenum">
              <a:rPr lang="en-US" smtClean="0"/>
              <a:t>‹#›</a:t>
            </a:fld>
            <a:endParaRPr lang="en-US"/>
          </a:p>
        </p:txBody>
      </p:sp>
    </p:spTree>
    <p:extLst>
      <p:ext uri="{BB962C8B-B14F-4D97-AF65-F5344CB8AC3E}">
        <p14:creationId xmlns:p14="http://schemas.microsoft.com/office/powerpoint/2010/main" val="1660247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6" r:id="rId14"/>
    <p:sldLayoutId id="2147483668" r:id="rId15"/>
    <p:sldLayoutId id="2147483669" r:id="rId16"/>
    <p:sldLayoutId id="2147483670" r:id="rId17"/>
    <p:sldLayoutId id="2147483672" r:id="rId18"/>
    <p:sldLayoutId id="2147483673" r:id="rId19"/>
    <p:sldLayoutId id="2147483679" r:id="rId20"/>
    <p:sldLayoutId id="2147483681" r:id="rId21"/>
    <p:sldLayoutId id="2147483682" r:id="rId22"/>
    <p:sldLayoutId id="2147483683" r:id="rId23"/>
    <p:sldLayoutId id="2147483684" r:id="rId24"/>
    <p:sldLayoutId id="2147483687"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solidFill>
                  <a:srgbClr val="00B050"/>
                </a:solidFill>
              </a:rPr>
              <a:t>Fundamentals of </a:t>
            </a:r>
            <a:r>
              <a:rPr lang="en-US" dirty="0" smtClean="0">
                <a:solidFill>
                  <a:srgbClr val="00B050"/>
                </a:solidFill>
              </a:rPr>
              <a:t>Psychology</a:t>
            </a:r>
            <a:endParaRPr lang="en-US" dirty="0"/>
          </a:p>
        </p:txBody>
      </p:sp>
      <p:sp>
        <p:nvSpPr>
          <p:cNvPr id="3" name="Subtitle 2"/>
          <p:cNvSpPr>
            <a:spLocks noGrp="1"/>
          </p:cNvSpPr>
          <p:nvPr>
            <p:ph type="subTitle" idx="1"/>
          </p:nvPr>
        </p:nvSpPr>
        <p:spPr/>
        <p:txBody>
          <a:bodyPr/>
          <a:lstStyle/>
          <a:p>
            <a:r>
              <a:rPr lang="en-US" b="1" cap="none" dirty="0" smtClean="0">
                <a:solidFill>
                  <a:srgbClr val="212F62"/>
                </a:solidFill>
              </a:rPr>
              <a:t>Chapter # 2 PSYCHOLOGICAL RESEARCH</a:t>
            </a:r>
          </a:p>
          <a:p>
            <a:r>
              <a:rPr lang="en-US" cap="none" dirty="0" smtClean="0">
                <a:solidFill>
                  <a:srgbClr val="212F62"/>
                </a:solidFill>
              </a:rPr>
              <a:t>Sadia Qazi</a:t>
            </a:r>
          </a:p>
          <a:p>
            <a:r>
              <a:rPr lang="en-US" cap="none" dirty="0" smtClean="0">
                <a:solidFill>
                  <a:srgbClr val="212F62"/>
                </a:solidFill>
              </a:rPr>
              <a:t>Sadia.qazi@@ucp.edu.pk</a:t>
            </a:r>
          </a:p>
          <a:p>
            <a:endParaRPr lang="en-US" dirty="0"/>
          </a:p>
        </p:txBody>
      </p:sp>
    </p:spTree>
    <p:extLst>
      <p:ext uri="{BB962C8B-B14F-4D97-AF65-F5344CB8AC3E}">
        <p14:creationId xmlns:p14="http://schemas.microsoft.com/office/powerpoint/2010/main" val="3117288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solidFill>
                  <a:schemeClr val="accent6"/>
                </a:solidFill>
              </a:rPr>
              <a:t>Why is research important?</a:t>
            </a:r>
          </a:p>
        </p:txBody>
      </p:sp>
      <p:sp>
        <p:nvSpPr>
          <p:cNvPr id="7" name="Text Placeholder 6"/>
          <p:cNvSpPr>
            <a:spLocks noGrp="1"/>
          </p:cNvSpPr>
          <p:nvPr>
            <p:ph type="body" sz="quarter" idx="14"/>
          </p:nvPr>
        </p:nvSpPr>
        <p:spPr>
          <a:xfrm>
            <a:off x="7038976" y="4673341"/>
            <a:ext cx="3429001" cy="2100483"/>
          </a:xfrm>
        </p:spPr>
        <p:txBody>
          <a:bodyPr>
            <a:normAutofit/>
          </a:bodyPr>
          <a:lstStyle/>
          <a:p>
            <a:r>
              <a:rPr lang="en-US" sz="1400" dirty="0"/>
              <a:t>Figure 2.2 Some of our ancestors, across the world and over the centuries, believed that trephination—the practice of making a hole in the skull, as shown here—allowed evil spirits to leave the body, thus, curing mental illness and other disorders.</a:t>
            </a:r>
          </a:p>
        </p:txBody>
      </p:sp>
      <p:sp>
        <p:nvSpPr>
          <p:cNvPr id="2" name="TextBox 1"/>
          <p:cNvSpPr txBox="1"/>
          <p:nvPr/>
        </p:nvSpPr>
        <p:spPr>
          <a:xfrm>
            <a:off x="1981201" y="1057221"/>
            <a:ext cx="8365821" cy="2031325"/>
          </a:xfrm>
          <a:prstGeom prst="rect">
            <a:avLst/>
          </a:prstGeom>
          <a:noFill/>
        </p:spPr>
        <p:txBody>
          <a:bodyPr wrap="square" rtlCol="0">
            <a:spAutoFit/>
          </a:bodyPr>
          <a:lstStyle/>
          <a:p>
            <a:r>
              <a:rPr lang="en-US" sz="1700" dirty="0"/>
              <a:t>At one time in history, people believed the earth was flat and that mental illnesses were caused by possession. </a:t>
            </a:r>
          </a:p>
          <a:p>
            <a:r>
              <a:rPr lang="en-US" sz="1700" dirty="0"/>
              <a:t>People can be very wrong in their ideas about the world when they do not rely on evidence to support their claims.</a:t>
            </a:r>
          </a:p>
          <a:p>
            <a:r>
              <a:rPr lang="en-US" sz="1700" dirty="0"/>
              <a:t>Research is a mandatory process in validating claims. </a:t>
            </a:r>
          </a:p>
          <a:p>
            <a:endParaRPr lang="en-US" dirty="0"/>
          </a:p>
          <a:p>
            <a:endParaRPr lang="en-US" dirty="0"/>
          </a:p>
        </p:txBody>
      </p:sp>
      <p:sp>
        <p:nvSpPr>
          <p:cNvPr id="3" name="TextBox 2"/>
          <p:cNvSpPr txBox="1"/>
          <p:nvPr/>
        </p:nvSpPr>
        <p:spPr>
          <a:xfrm>
            <a:off x="1981201" y="2589270"/>
            <a:ext cx="5057775" cy="3770263"/>
          </a:xfrm>
          <a:prstGeom prst="rect">
            <a:avLst/>
          </a:prstGeom>
          <a:noFill/>
        </p:spPr>
        <p:txBody>
          <a:bodyPr wrap="square" rtlCol="0">
            <a:spAutoFit/>
          </a:bodyPr>
          <a:lstStyle/>
          <a:p>
            <a:r>
              <a:rPr lang="en-US" sz="1700" dirty="0"/>
              <a:t>Scientific research is empirical; it is grounded in objective, tangible evidence that can be observed time and time again, regardless of who is observing.</a:t>
            </a:r>
          </a:p>
          <a:p>
            <a:endParaRPr lang="en-US" sz="1700" dirty="0"/>
          </a:p>
          <a:p>
            <a:r>
              <a:rPr lang="en-US" sz="1700" dirty="0"/>
              <a:t>Without research, we would only have intuition and groundless assumptions. </a:t>
            </a:r>
          </a:p>
          <a:p>
            <a:r>
              <a:rPr lang="en-US" sz="1700" dirty="0"/>
              <a:t>Through research we are able to prove certain ideas through study and testing. </a:t>
            </a:r>
          </a:p>
          <a:p>
            <a:endParaRPr lang="en-US" sz="1700" dirty="0"/>
          </a:p>
          <a:p>
            <a:r>
              <a:rPr lang="en-US" sz="1700" dirty="0"/>
              <a:t>Psychology is a science, therefore, research is required to not only further investigate something but provide verification and support of the findings.</a:t>
            </a:r>
          </a:p>
          <a:p>
            <a:endParaRPr lang="en-US" dirty="0"/>
          </a:p>
        </p:txBody>
      </p:sp>
      <p:pic>
        <p:nvPicPr>
          <p:cNvPr id="9" name="Picture Placeholder 3" descr="CNX_Psych_02_01_trephining.jpg"/>
          <p:cNvPicPr>
            <a:picLocks noChangeAspect="1"/>
          </p:cNvPicPr>
          <p:nvPr/>
        </p:nvPicPr>
        <p:blipFill>
          <a:blip r:embed="rId2" cstate="email">
            <a:extLst>
              <a:ext uri="{28A0092B-C50C-407E-A947-70E740481C1C}">
                <a14:useLocalDpi xmlns:a14="http://schemas.microsoft.com/office/drawing/2010/main" val="0"/>
              </a:ext>
            </a:extLst>
          </a:blip>
          <a:srcRect l="-65182" r="-65182"/>
          <a:stretch>
            <a:fillRect/>
          </a:stretch>
        </p:blipFill>
        <p:spPr>
          <a:xfrm>
            <a:off x="6460911" y="2741504"/>
            <a:ext cx="4293304" cy="1863702"/>
          </a:xfrm>
          <a:prstGeom prst="rect">
            <a:avLst/>
          </a:prstGeom>
        </p:spPr>
      </p:pic>
    </p:spTree>
    <p:extLst>
      <p:ext uri="{BB962C8B-B14F-4D97-AF65-F5344CB8AC3E}">
        <p14:creationId xmlns:p14="http://schemas.microsoft.com/office/powerpoint/2010/main" val="1424505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solidFill>
                  <a:schemeClr val="accent6"/>
                </a:solidFill>
              </a:rPr>
              <a:t>Use of research information</a:t>
            </a:r>
          </a:p>
        </p:txBody>
      </p:sp>
      <p:sp>
        <p:nvSpPr>
          <p:cNvPr id="2" name="TextBox 1"/>
          <p:cNvSpPr txBox="1"/>
          <p:nvPr/>
        </p:nvSpPr>
        <p:spPr>
          <a:xfrm>
            <a:off x="1981200" y="1321374"/>
            <a:ext cx="8210058" cy="615553"/>
          </a:xfrm>
          <a:prstGeom prst="rect">
            <a:avLst/>
          </a:prstGeom>
          <a:noFill/>
        </p:spPr>
        <p:txBody>
          <a:bodyPr wrap="square" rtlCol="0">
            <a:spAutoFit/>
          </a:bodyPr>
          <a:lstStyle/>
          <a:p>
            <a:r>
              <a:rPr lang="en-US" sz="1700" dirty="0"/>
              <a:t>Advertising campaigns often claim to be based on “scientific evidence” when in reality it is based off of belief.</a:t>
            </a:r>
          </a:p>
        </p:txBody>
      </p:sp>
      <p:sp>
        <p:nvSpPr>
          <p:cNvPr id="3" name="TextBox 2"/>
          <p:cNvSpPr txBox="1"/>
          <p:nvPr/>
        </p:nvSpPr>
        <p:spPr>
          <a:xfrm>
            <a:off x="1981200" y="2357439"/>
            <a:ext cx="7172325" cy="2462213"/>
          </a:xfrm>
          <a:prstGeom prst="rect">
            <a:avLst/>
          </a:prstGeom>
          <a:noFill/>
          <a:ln>
            <a:solidFill>
              <a:srgbClr val="72A510"/>
            </a:solidFill>
          </a:ln>
        </p:spPr>
        <p:txBody>
          <a:bodyPr wrap="square" rtlCol="0">
            <a:spAutoFit/>
          </a:bodyPr>
          <a:lstStyle/>
          <a:p>
            <a:r>
              <a:rPr lang="en-US" b="1" dirty="0"/>
              <a:t>Thinking critically about claims:</a:t>
            </a:r>
          </a:p>
          <a:p>
            <a:endParaRPr lang="en-US" sz="1700" dirty="0"/>
          </a:p>
          <a:p>
            <a:pPr marL="285750" indent="-285750">
              <a:buFontTx/>
              <a:buChar char="-"/>
            </a:pPr>
            <a:r>
              <a:rPr lang="en-US" sz="1700" dirty="0"/>
              <a:t>What is the expertise of the person making the claim?</a:t>
            </a:r>
          </a:p>
          <a:p>
            <a:pPr marL="285750" indent="-285750">
              <a:buFontTx/>
              <a:buChar char="-"/>
            </a:pPr>
            <a:endParaRPr lang="en-US" sz="1700" dirty="0"/>
          </a:p>
          <a:p>
            <a:pPr marL="285750" indent="-285750">
              <a:buFontTx/>
              <a:buChar char="-"/>
            </a:pPr>
            <a:r>
              <a:rPr lang="en-US" sz="1700" dirty="0"/>
              <a:t>What might they gain if the claim is valid?</a:t>
            </a:r>
          </a:p>
          <a:p>
            <a:pPr marL="285750" indent="-285750">
              <a:buFontTx/>
              <a:buChar char="-"/>
            </a:pPr>
            <a:endParaRPr lang="en-US" sz="1700" dirty="0"/>
          </a:p>
          <a:p>
            <a:pPr marL="285750" indent="-285750">
              <a:buFontTx/>
              <a:buChar char="-"/>
            </a:pPr>
            <a:r>
              <a:rPr lang="en-US" sz="1700" dirty="0"/>
              <a:t>Does the claim seem justified given the evidence?</a:t>
            </a:r>
          </a:p>
          <a:p>
            <a:pPr marL="285750" indent="-285750">
              <a:buFontTx/>
              <a:buChar char="-"/>
            </a:pPr>
            <a:endParaRPr lang="en-US" sz="1700" dirty="0"/>
          </a:p>
          <a:p>
            <a:pPr marL="285750" indent="-285750">
              <a:buFontTx/>
              <a:buChar char="-"/>
            </a:pPr>
            <a:r>
              <a:rPr lang="en-US" sz="1700" dirty="0"/>
              <a:t>What do other researchers think of the claim?</a:t>
            </a:r>
          </a:p>
        </p:txBody>
      </p:sp>
    </p:spTree>
    <p:extLst>
      <p:ext uri="{BB962C8B-B14F-4D97-AF65-F5344CB8AC3E}">
        <p14:creationId xmlns:p14="http://schemas.microsoft.com/office/powerpoint/2010/main" val="3376111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a:xfrm>
            <a:off x="1981199" y="5725594"/>
            <a:ext cx="8062912" cy="1166382"/>
          </a:xfrm>
        </p:spPr>
        <p:txBody>
          <a:bodyPr>
            <a:normAutofit/>
          </a:bodyPr>
          <a:lstStyle/>
          <a:p>
            <a:r>
              <a:rPr lang="en-US" sz="1600" dirty="0"/>
              <a:t>In an experiment, manipulations of the independent variable are expected to result in changes in the dependent variable. </a:t>
            </a:r>
          </a:p>
        </p:txBody>
      </p:sp>
      <p:pic>
        <p:nvPicPr>
          <p:cNvPr id="4" name="Figure" descr="A box labeled &quot;independent variable: type of television programming viewed&quot; contains a photograph of a person shooting an automatic weapon. An arrow labeled &quot;influences change in the…&quot; leads to a second box. The second box is labeled &quot;dependent variable: violent behavior displayed&quot; and has a photograph of a child pointing a toy gu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5785" r="-15785"/>
          <a:stretch>
            <a:fillRect/>
          </a:stretch>
        </p:blipFill>
        <p:spPr>
          <a:xfrm>
            <a:off x="2818027" y="2761931"/>
            <a:ext cx="6478660" cy="2812355"/>
          </a:xfrm>
        </p:spPr>
      </p:pic>
      <p:sp>
        <p:nvSpPr>
          <p:cNvPr id="5" name="Figure Number"/>
          <p:cNvSpPr>
            <a:spLocks noGrp="1"/>
          </p:cNvSpPr>
          <p:nvPr>
            <p:ph type="title"/>
          </p:nvPr>
        </p:nvSpPr>
        <p:spPr/>
        <p:txBody>
          <a:bodyPr>
            <a:normAutofit fontScale="90000"/>
          </a:bodyPr>
          <a:lstStyle/>
          <a:p>
            <a:r>
              <a:rPr lang="en-US" dirty="0"/>
              <a:t>variables</a:t>
            </a:r>
          </a:p>
        </p:txBody>
      </p:sp>
      <p:sp>
        <p:nvSpPr>
          <p:cNvPr id="9" name="TextBox 8"/>
          <p:cNvSpPr txBox="1"/>
          <p:nvPr/>
        </p:nvSpPr>
        <p:spPr>
          <a:xfrm>
            <a:off x="1981199" y="1046487"/>
            <a:ext cx="8367222" cy="1661993"/>
          </a:xfrm>
          <a:prstGeom prst="rect">
            <a:avLst/>
          </a:prstGeom>
          <a:noFill/>
        </p:spPr>
        <p:txBody>
          <a:bodyPr wrap="square" rtlCol="0">
            <a:spAutoFit/>
          </a:bodyPr>
          <a:lstStyle/>
          <a:p>
            <a:r>
              <a:rPr lang="en-US" sz="1700" b="1" dirty="0"/>
              <a:t>Independent Variable </a:t>
            </a:r>
            <a:r>
              <a:rPr lang="mr-IN" sz="1700" dirty="0"/>
              <a:t>–</a:t>
            </a:r>
            <a:r>
              <a:rPr lang="en-US" sz="1700" dirty="0"/>
              <a:t> Variable that is influenced/controlled by the experimenter. Ideally this should be the only important difference between the experimental and control group.</a:t>
            </a:r>
          </a:p>
          <a:p>
            <a:endParaRPr lang="en-US" sz="1700" dirty="0"/>
          </a:p>
          <a:p>
            <a:r>
              <a:rPr lang="en-US" sz="1700" b="1" dirty="0"/>
              <a:t>Dependent Variable </a:t>
            </a:r>
            <a:r>
              <a:rPr lang="mr-IN" sz="1700" dirty="0"/>
              <a:t>–</a:t>
            </a:r>
            <a:r>
              <a:rPr lang="en-US" sz="1700" dirty="0"/>
              <a:t> Variable that the researcher measures to see how much effect the independent variable had.</a:t>
            </a:r>
          </a:p>
        </p:txBody>
      </p:sp>
    </p:spTree>
    <p:extLst>
      <p:ext uri="{BB962C8B-B14F-4D97-AF65-F5344CB8AC3E}">
        <p14:creationId xmlns:p14="http://schemas.microsoft.com/office/powerpoint/2010/main" val="1552254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a:xfrm>
            <a:off x="6393712" y="5258320"/>
            <a:ext cx="3650400" cy="1166382"/>
          </a:xfrm>
        </p:spPr>
        <p:txBody>
          <a:bodyPr>
            <a:normAutofit/>
          </a:bodyPr>
          <a:lstStyle/>
          <a:p>
            <a:r>
              <a:rPr lang="en-US" sz="1600" dirty="0"/>
              <a:t>Researchers may work with </a:t>
            </a:r>
            <a:r>
              <a:rPr lang="en-US" sz="1600" dirty="0">
                <a:solidFill>
                  <a:srgbClr val="6CB255"/>
                </a:solidFill>
              </a:rPr>
              <a:t>(a) </a:t>
            </a:r>
            <a:r>
              <a:rPr lang="en-US" sz="1600" dirty="0"/>
              <a:t>a large population or </a:t>
            </a:r>
            <a:r>
              <a:rPr lang="en-US" sz="1600" dirty="0">
                <a:solidFill>
                  <a:srgbClr val="6CB255"/>
                </a:solidFill>
              </a:rPr>
              <a:t>(b)</a:t>
            </a:r>
            <a:r>
              <a:rPr lang="en-US" sz="1600" dirty="0"/>
              <a:t> a sample group that is a subset of the larger population. </a:t>
            </a:r>
          </a:p>
        </p:txBody>
      </p:sp>
      <p:pic>
        <p:nvPicPr>
          <p:cNvPr id="4" name="Figure" descr="(a) A photograph shows an aerial view of crowds on a street. (b) A photograph shows a small group of childre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6800" b="-6800"/>
          <a:stretch>
            <a:fillRect/>
          </a:stretch>
        </p:blipFill>
        <p:spPr>
          <a:xfrm>
            <a:off x="5719824" y="3189110"/>
            <a:ext cx="4628596" cy="2009251"/>
          </a:xfrm>
        </p:spPr>
      </p:pic>
      <p:sp>
        <p:nvSpPr>
          <p:cNvPr id="5" name="Figure Number"/>
          <p:cNvSpPr>
            <a:spLocks noGrp="1"/>
          </p:cNvSpPr>
          <p:nvPr>
            <p:ph type="title"/>
          </p:nvPr>
        </p:nvSpPr>
        <p:spPr/>
        <p:txBody>
          <a:bodyPr>
            <a:normAutofit fontScale="90000"/>
          </a:bodyPr>
          <a:lstStyle/>
          <a:p>
            <a:r>
              <a:rPr lang="en-US" dirty="0"/>
              <a:t>Selecting participants</a:t>
            </a:r>
          </a:p>
        </p:txBody>
      </p:sp>
      <p:sp>
        <p:nvSpPr>
          <p:cNvPr id="9" name="TextBox 8"/>
          <p:cNvSpPr txBox="1"/>
          <p:nvPr/>
        </p:nvSpPr>
        <p:spPr>
          <a:xfrm flipH="1">
            <a:off x="1981198" y="1003895"/>
            <a:ext cx="8367223" cy="2446824"/>
          </a:xfrm>
          <a:prstGeom prst="rect">
            <a:avLst/>
          </a:prstGeom>
          <a:noFill/>
        </p:spPr>
        <p:txBody>
          <a:bodyPr wrap="square" rtlCol="0">
            <a:spAutoFit/>
          </a:bodyPr>
          <a:lstStyle/>
          <a:p>
            <a:r>
              <a:rPr lang="en-US" sz="1700" b="1" dirty="0"/>
              <a:t>Participants</a:t>
            </a:r>
            <a:r>
              <a:rPr lang="en-US" sz="1700" dirty="0"/>
              <a:t> </a:t>
            </a:r>
            <a:r>
              <a:rPr lang="mr-IN" sz="1700" dirty="0"/>
              <a:t>–</a:t>
            </a:r>
            <a:r>
              <a:rPr lang="en-US" sz="1700" dirty="0"/>
              <a:t> Subjects of psychological research.</a:t>
            </a:r>
          </a:p>
          <a:p>
            <a:endParaRPr lang="en-US" sz="1700" dirty="0"/>
          </a:p>
          <a:p>
            <a:r>
              <a:rPr lang="en-US" sz="1700" b="1" dirty="0"/>
              <a:t>Population</a:t>
            </a:r>
            <a:r>
              <a:rPr lang="en-US" sz="1700" dirty="0"/>
              <a:t> </a:t>
            </a:r>
            <a:r>
              <a:rPr lang="mr-IN" sz="1700" dirty="0"/>
              <a:t>–</a:t>
            </a:r>
            <a:r>
              <a:rPr lang="en-US" sz="1700" dirty="0"/>
              <a:t> overall group of individuals that the researcher is interested in (e.g. College students</a:t>
            </a:r>
            <a:r>
              <a:rPr lang="en-US" sz="1700" dirty="0" smtClean="0"/>
              <a:t>).</a:t>
            </a:r>
          </a:p>
          <a:p>
            <a:endParaRPr lang="en-US" sz="1700" dirty="0" smtClean="0"/>
          </a:p>
          <a:p>
            <a:r>
              <a:rPr lang="en-US" sz="1700" dirty="0" smtClean="0"/>
              <a:t>Populations </a:t>
            </a:r>
            <a:r>
              <a:rPr lang="en-US" sz="1700" dirty="0"/>
              <a:t>are too large for a researcher to include everyone so samples are used.</a:t>
            </a:r>
          </a:p>
          <a:p>
            <a:endParaRPr lang="en-US" sz="1700" dirty="0" smtClean="0"/>
          </a:p>
          <a:p>
            <a:r>
              <a:rPr lang="en-US" sz="1700" b="1" dirty="0"/>
              <a:t>Sample </a:t>
            </a:r>
            <a:r>
              <a:rPr lang="en-US" sz="1700" dirty="0"/>
              <a:t>- subset of individuals selected from the larger population.</a:t>
            </a:r>
          </a:p>
          <a:p>
            <a:endParaRPr lang="en-US" sz="1700" dirty="0"/>
          </a:p>
        </p:txBody>
      </p:sp>
      <p:sp>
        <p:nvSpPr>
          <p:cNvPr id="10" name="TextBox 9"/>
          <p:cNvSpPr txBox="1"/>
          <p:nvPr/>
        </p:nvSpPr>
        <p:spPr>
          <a:xfrm>
            <a:off x="1981198" y="3349348"/>
            <a:ext cx="3450473" cy="3247043"/>
          </a:xfrm>
          <a:prstGeom prst="rect">
            <a:avLst/>
          </a:prstGeom>
          <a:noFill/>
        </p:spPr>
        <p:txBody>
          <a:bodyPr wrap="square" rtlCol="0">
            <a:spAutoFit/>
          </a:bodyPr>
          <a:lstStyle/>
          <a:p>
            <a:r>
              <a:rPr lang="en-US" sz="1700" b="1" dirty="0"/>
              <a:t>Random Sample </a:t>
            </a:r>
            <a:r>
              <a:rPr lang="en-US" sz="1700" dirty="0"/>
              <a:t>- subset of a larger population in which every member of the population has an equal chance of being selected.</a:t>
            </a:r>
          </a:p>
          <a:p>
            <a:pPr marL="285750" indent="-285750">
              <a:buFontTx/>
              <a:buChar char="-"/>
            </a:pPr>
            <a:r>
              <a:rPr lang="en-US" sz="1700" dirty="0"/>
              <a:t>This form of sampling is preferred because it is more likely that the selected participants will be representative of the larger population (sex, ethnicity, social economic status </a:t>
            </a:r>
            <a:r>
              <a:rPr lang="en-US" sz="1700" dirty="0" err="1"/>
              <a:t>etc</a:t>
            </a:r>
            <a:r>
              <a:rPr lang="en-US" sz="1700" dirty="0"/>
              <a:t>).</a:t>
            </a:r>
          </a:p>
          <a:p>
            <a:endParaRPr lang="en-US" dirty="0"/>
          </a:p>
        </p:txBody>
      </p:sp>
    </p:spTree>
    <p:extLst>
      <p:ext uri="{BB962C8B-B14F-4D97-AF65-F5344CB8AC3E}">
        <p14:creationId xmlns:p14="http://schemas.microsoft.com/office/powerpoint/2010/main" val="4000130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a:xfrm>
            <a:off x="1981199" y="5691618"/>
            <a:ext cx="8062912" cy="1166382"/>
          </a:xfrm>
        </p:spPr>
        <p:txBody>
          <a:bodyPr>
            <a:normAutofit/>
          </a:bodyPr>
          <a:lstStyle/>
          <a:p>
            <a:r>
              <a:rPr lang="en-US" sz="1600" dirty="0"/>
              <a:t>The scientific method of research includes proposing hypotheses, conducting research, and creating or modifying theories based on results.</a:t>
            </a:r>
          </a:p>
        </p:txBody>
      </p:sp>
      <p:pic>
        <p:nvPicPr>
          <p:cNvPr id="4" name="Figure" descr="A diagram has four boxes: the top is labeled &quot;theory,&quot; the right is labeled &quot;hypothesis,&quot; the bottom is labeled &quot;research,&quot; and the left is labeled &quot;observation.&quot; Arrows flow in the direction from top to right to bottom to left and back to the top, clockwise. The top right arrow is labeled &quot;use the hypothesis to form a theory,&quot; the bottom right arrow is labeled &quot;design a study to test the hypothesis,&quot; the bottom left arrow is labeled &quot;perform the research,&quot; and the top left arrow is labeled &quot;create or modify the theory.&quo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49032" r="-49032"/>
          <a:stretch>
            <a:fillRect/>
          </a:stretch>
        </p:blipFill>
        <p:spPr>
          <a:xfrm>
            <a:off x="5312845" y="1702118"/>
            <a:ext cx="6813738" cy="2957810"/>
          </a:xfrm>
        </p:spPr>
      </p:pic>
      <p:sp>
        <p:nvSpPr>
          <p:cNvPr id="5" name="Figure Number"/>
          <p:cNvSpPr>
            <a:spLocks noGrp="1"/>
          </p:cNvSpPr>
          <p:nvPr>
            <p:ph type="title"/>
          </p:nvPr>
        </p:nvSpPr>
        <p:spPr/>
        <p:txBody>
          <a:bodyPr>
            <a:normAutofit fontScale="90000"/>
          </a:bodyPr>
          <a:lstStyle/>
          <a:p>
            <a:r>
              <a:rPr lang="en-US" dirty="0"/>
              <a:t>The scientific method</a:t>
            </a:r>
          </a:p>
        </p:txBody>
      </p:sp>
      <p:sp>
        <p:nvSpPr>
          <p:cNvPr id="9" name="TextBox 8"/>
          <p:cNvSpPr txBox="1"/>
          <p:nvPr/>
        </p:nvSpPr>
        <p:spPr>
          <a:xfrm>
            <a:off x="1838325" y="1155338"/>
            <a:ext cx="4686300" cy="3508653"/>
          </a:xfrm>
          <a:prstGeom prst="rect">
            <a:avLst/>
          </a:prstGeom>
          <a:noFill/>
        </p:spPr>
        <p:txBody>
          <a:bodyPr wrap="square" rtlCol="0">
            <a:spAutoFit/>
          </a:bodyPr>
          <a:lstStyle/>
          <a:p>
            <a:endParaRPr lang="en-US" sz="1700" dirty="0"/>
          </a:p>
          <a:p>
            <a:r>
              <a:rPr lang="en-US" sz="1700" b="1" dirty="0"/>
              <a:t>Theory</a:t>
            </a:r>
            <a:r>
              <a:rPr lang="en-US" sz="1700" dirty="0"/>
              <a:t> </a:t>
            </a:r>
            <a:r>
              <a:rPr lang="mr-IN" sz="1700" dirty="0"/>
              <a:t>–</a:t>
            </a:r>
            <a:r>
              <a:rPr lang="en-US" sz="1700" dirty="0"/>
              <a:t> well-developed set of ideas that propose an explanation for observed phenomena.</a:t>
            </a:r>
          </a:p>
          <a:p>
            <a:endParaRPr lang="en-US" sz="1700" dirty="0"/>
          </a:p>
          <a:p>
            <a:r>
              <a:rPr lang="en-US" sz="1700" b="1" dirty="0"/>
              <a:t>Hypothesis </a:t>
            </a:r>
            <a:r>
              <a:rPr lang="mr-IN" sz="1700" dirty="0"/>
              <a:t>–</a:t>
            </a:r>
            <a:r>
              <a:rPr lang="en-US" sz="1700" dirty="0"/>
              <a:t> tentative and testable statement (prediction) about the relationship between two or more variables.</a:t>
            </a:r>
          </a:p>
          <a:p>
            <a:pPr marL="285750" indent="-285750">
              <a:buFontTx/>
              <a:buChar char="-"/>
            </a:pPr>
            <a:r>
              <a:rPr lang="en-US" sz="1700" dirty="0"/>
              <a:t>Predicts how the world will behave if the theory is correct.</a:t>
            </a:r>
          </a:p>
          <a:p>
            <a:pPr marL="285750" indent="-285750">
              <a:buFontTx/>
              <a:buChar char="-"/>
            </a:pPr>
            <a:r>
              <a:rPr lang="en-US" sz="1700" dirty="0"/>
              <a:t>Usually an “if-then” statement.</a:t>
            </a:r>
          </a:p>
          <a:p>
            <a:pPr marL="285750" indent="-285750">
              <a:buFontTx/>
              <a:buChar char="-"/>
            </a:pPr>
            <a:r>
              <a:rPr lang="en-US" sz="1700" dirty="0"/>
              <a:t>Is falsifiable (capable of being shown to be incorrect).</a:t>
            </a:r>
          </a:p>
          <a:p>
            <a:endParaRPr lang="en-US" dirty="0"/>
          </a:p>
        </p:txBody>
      </p:sp>
    </p:spTree>
    <p:extLst>
      <p:ext uri="{BB962C8B-B14F-4D97-AF65-F5344CB8AC3E}">
        <p14:creationId xmlns:p14="http://schemas.microsoft.com/office/powerpoint/2010/main" val="3264374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 Approaches to research</a:t>
            </a:r>
          </a:p>
        </p:txBody>
      </p:sp>
      <p:sp>
        <p:nvSpPr>
          <p:cNvPr id="4" name="Text Placeholder 3"/>
          <p:cNvSpPr>
            <a:spLocks noGrp="1"/>
          </p:cNvSpPr>
          <p:nvPr>
            <p:ph type="body" sz="quarter" idx="14"/>
          </p:nvPr>
        </p:nvSpPr>
        <p:spPr>
          <a:xfrm>
            <a:off x="2505075" y="1686444"/>
            <a:ext cx="7015163" cy="2971282"/>
          </a:xfrm>
          <a:solidFill>
            <a:srgbClr val="6CB255"/>
          </a:solidFill>
          <a:ln>
            <a:solidFill>
              <a:srgbClr val="72A510"/>
            </a:solidFill>
          </a:ln>
        </p:spPr>
        <p:txBody>
          <a:bodyPr>
            <a:normAutofit/>
          </a:bodyPr>
          <a:lstStyle/>
          <a:p>
            <a:pPr algn="ctr"/>
            <a:r>
              <a:rPr lang="en-US" sz="2400" b="1" dirty="0"/>
              <a:t>Clinical or case </a:t>
            </a:r>
            <a:r>
              <a:rPr lang="en-US" sz="2400" b="1" dirty="0" smtClean="0"/>
              <a:t>studies</a:t>
            </a:r>
          </a:p>
          <a:p>
            <a:pPr algn="ctr"/>
            <a:r>
              <a:rPr lang="en-US" sz="2400" b="1" dirty="0" smtClean="0"/>
              <a:t>Experimental Research</a:t>
            </a:r>
            <a:endParaRPr lang="en-US" sz="2400" b="1" dirty="0"/>
          </a:p>
          <a:p>
            <a:pPr algn="ctr"/>
            <a:r>
              <a:rPr lang="en-US" sz="2400" b="1" dirty="0"/>
              <a:t>Naturalistic Observation</a:t>
            </a:r>
          </a:p>
          <a:p>
            <a:pPr algn="ctr"/>
            <a:r>
              <a:rPr lang="en-US" sz="2400" b="1" dirty="0"/>
              <a:t>Surveys</a:t>
            </a:r>
          </a:p>
          <a:p>
            <a:pPr algn="ctr"/>
            <a:r>
              <a:rPr lang="en-US" sz="2400" b="1" dirty="0"/>
              <a:t>Archival Research</a:t>
            </a:r>
          </a:p>
          <a:p>
            <a:pPr algn="ctr"/>
            <a:r>
              <a:rPr lang="en-US" sz="2400" b="1" dirty="0"/>
              <a:t>Longitudinal and Cross-Sectional Research</a:t>
            </a:r>
          </a:p>
        </p:txBody>
      </p:sp>
    </p:spTree>
    <p:extLst>
      <p:ext uri="{BB962C8B-B14F-4D97-AF65-F5344CB8AC3E}">
        <p14:creationId xmlns:p14="http://schemas.microsoft.com/office/powerpoint/2010/main" val="2179077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Clinical or case studies</a:t>
            </a:r>
          </a:p>
        </p:txBody>
      </p:sp>
      <p:sp>
        <p:nvSpPr>
          <p:cNvPr id="2" name="TextBox 1"/>
          <p:cNvSpPr txBox="1"/>
          <p:nvPr/>
        </p:nvSpPr>
        <p:spPr>
          <a:xfrm>
            <a:off x="1981199" y="1308232"/>
            <a:ext cx="8367222" cy="2308324"/>
          </a:xfrm>
          <a:prstGeom prst="rect">
            <a:avLst/>
          </a:prstGeom>
          <a:noFill/>
        </p:spPr>
        <p:txBody>
          <a:bodyPr wrap="square" rtlCol="0">
            <a:spAutoFit/>
          </a:bodyPr>
          <a:lstStyle/>
          <a:p>
            <a:r>
              <a:rPr lang="en-US" dirty="0"/>
              <a:t>Clinical or case studies focus on one individual. </a:t>
            </a:r>
          </a:p>
          <a:p>
            <a:r>
              <a:rPr lang="en-US" dirty="0"/>
              <a:t>The studied individual is typically in a extreme or unique psychological circumstance that differentiates them for the general public. </a:t>
            </a:r>
          </a:p>
          <a:p>
            <a:endParaRPr lang="en-US" dirty="0"/>
          </a:p>
          <a:p>
            <a:pPr marL="285750" indent="-285750">
              <a:buFontTx/>
              <a:buChar char="-"/>
            </a:pPr>
            <a:r>
              <a:rPr lang="en-US" dirty="0"/>
              <a:t>Allows for a lot of insight into a case.</a:t>
            </a:r>
          </a:p>
          <a:p>
            <a:pPr marL="285750" indent="-285750">
              <a:buFontTx/>
              <a:buChar char="-"/>
            </a:pPr>
            <a:r>
              <a:rPr lang="en-US" dirty="0"/>
              <a:t>Difficult to generalize results to the larger population.</a:t>
            </a:r>
          </a:p>
          <a:p>
            <a:pPr marL="285750" indent="-285750">
              <a:buFontTx/>
              <a:buChar char="-"/>
            </a:pPr>
            <a:endParaRPr lang="en-US" dirty="0"/>
          </a:p>
          <a:p>
            <a:endParaRPr lang="en-US" dirty="0"/>
          </a:p>
        </p:txBody>
      </p:sp>
      <p:pic>
        <p:nvPicPr>
          <p:cNvPr id="11" name="Picture 10"/>
          <p:cNvPicPr>
            <a:picLocks noChangeAspect="1"/>
          </p:cNvPicPr>
          <p:nvPr/>
        </p:nvPicPr>
        <p:blipFill>
          <a:blip r:embed="rId2"/>
          <a:stretch>
            <a:fillRect/>
          </a:stretch>
        </p:blipFill>
        <p:spPr>
          <a:xfrm>
            <a:off x="6647554" y="3314700"/>
            <a:ext cx="3506096" cy="2832926"/>
          </a:xfrm>
          <a:prstGeom prst="rect">
            <a:avLst/>
          </a:prstGeom>
        </p:spPr>
      </p:pic>
      <p:sp>
        <p:nvSpPr>
          <p:cNvPr id="12" name="TextBox 11"/>
          <p:cNvSpPr txBox="1"/>
          <p:nvPr/>
        </p:nvSpPr>
        <p:spPr>
          <a:xfrm>
            <a:off x="1949996" y="3715501"/>
            <a:ext cx="4214814" cy="2031325"/>
          </a:xfrm>
          <a:prstGeom prst="rect">
            <a:avLst/>
          </a:prstGeom>
          <a:noFill/>
          <a:ln>
            <a:solidFill>
              <a:srgbClr val="72A510"/>
            </a:solidFill>
          </a:ln>
        </p:spPr>
        <p:txBody>
          <a:bodyPr wrap="square" rtlCol="0">
            <a:spAutoFit/>
          </a:bodyPr>
          <a:lstStyle/>
          <a:p>
            <a:r>
              <a:rPr lang="en-US" dirty="0"/>
              <a:t>Example: Genie</a:t>
            </a:r>
          </a:p>
          <a:p>
            <a:r>
              <a:rPr lang="en-US" dirty="0"/>
              <a:t>Genie was studied by psychologists after she was found at age 13, having suffered severe abuse and social isolation. Psychologists were interested in the effect social isolation had on her development.</a:t>
            </a:r>
          </a:p>
        </p:txBody>
      </p:sp>
      <p:sp>
        <p:nvSpPr>
          <p:cNvPr id="13" name="TextBox 12"/>
          <p:cNvSpPr txBox="1"/>
          <p:nvPr/>
        </p:nvSpPr>
        <p:spPr>
          <a:xfrm>
            <a:off x="6753226" y="6286501"/>
            <a:ext cx="3290887" cy="307777"/>
          </a:xfrm>
          <a:prstGeom prst="rect">
            <a:avLst/>
          </a:prstGeom>
          <a:noFill/>
        </p:spPr>
        <p:txBody>
          <a:bodyPr wrap="square" rtlCol="0">
            <a:spAutoFit/>
          </a:bodyPr>
          <a:lstStyle/>
          <a:p>
            <a:r>
              <a:rPr lang="en-US" sz="1400" dirty="0"/>
              <a:t>(Credit: Captive Humans)</a:t>
            </a:r>
          </a:p>
        </p:txBody>
      </p:sp>
    </p:spTree>
    <p:extLst>
      <p:ext uri="{BB962C8B-B14F-4D97-AF65-F5344CB8AC3E}">
        <p14:creationId xmlns:p14="http://schemas.microsoft.com/office/powerpoint/2010/main" val="95041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002" y="365126"/>
            <a:ext cx="10152797" cy="1218014"/>
          </a:xfrm>
        </p:spPr>
        <p:txBody>
          <a:bodyPr>
            <a:normAutofit/>
          </a:bodyPr>
          <a:lstStyle/>
          <a:p>
            <a:r>
              <a:rPr lang="en-US" b="1" dirty="0" smtClean="0">
                <a:cs typeface="Times New Roman" panose="02020603050405020304" pitchFamily="18" charset="0"/>
              </a:rPr>
              <a:t>Observational Research</a:t>
            </a:r>
            <a:endParaRPr lang="en-US" b="1" dirty="0">
              <a:cs typeface="Times New Roman" panose="02020603050405020304" pitchFamily="18" charset="0"/>
            </a:endParaRPr>
          </a:p>
        </p:txBody>
      </p:sp>
      <p:sp>
        <p:nvSpPr>
          <p:cNvPr id="3" name="Content Placeholder 2"/>
          <p:cNvSpPr>
            <a:spLocks noGrp="1"/>
          </p:cNvSpPr>
          <p:nvPr>
            <p:ph idx="1"/>
          </p:nvPr>
        </p:nvSpPr>
        <p:spPr>
          <a:xfrm>
            <a:off x="1201002" y="1787858"/>
            <a:ext cx="8911989" cy="4389106"/>
          </a:xfrm>
        </p:spPr>
        <p:txBody>
          <a:bodyPr>
            <a:noAutofit/>
          </a:bodyPr>
          <a:lstStyle/>
          <a:p>
            <a:r>
              <a:rPr lang="en-US" sz="2400" dirty="0">
                <a:latin typeface="+mj-lt"/>
                <a:cs typeface="Times New Roman" panose="02020603050405020304" pitchFamily="18" charset="0"/>
              </a:rPr>
              <a:t>Observational research is </a:t>
            </a:r>
            <a:r>
              <a:rPr lang="en-US" sz="2400" b="1" dirty="0">
                <a:latin typeface="+mj-lt"/>
                <a:cs typeface="Times New Roman" panose="02020603050405020304" pitchFamily="18" charset="0"/>
              </a:rPr>
              <a:t>a research technique where you observe participants and phenomena in their most natural settings</a:t>
            </a:r>
            <a:r>
              <a:rPr lang="en-US" sz="2400" dirty="0">
                <a:latin typeface="+mj-lt"/>
                <a:cs typeface="Times New Roman" panose="02020603050405020304" pitchFamily="18" charset="0"/>
              </a:rPr>
              <a:t>. This enables researchers to see their subjects make choices and react to situations in their natural setting, as opposed to structured settings like research labs or focus groups</a:t>
            </a:r>
            <a:r>
              <a:rPr lang="en-US" sz="2400" dirty="0" smtClean="0">
                <a:latin typeface="+mj-lt"/>
                <a:cs typeface="Times New Roman" panose="02020603050405020304" pitchFamily="18" charset="0"/>
              </a:rPr>
              <a:t>.</a:t>
            </a:r>
            <a:endParaRPr lang="en-US" sz="2400" b="1" dirty="0">
              <a:latin typeface="+mj-lt"/>
              <a:cs typeface="Times New Roman" panose="02020603050405020304" pitchFamily="18" charset="0"/>
            </a:endParaRPr>
          </a:p>
          <a:p>
            <a:r>
              <a:rPr lang="en-US" sz="2400" b="1" dirty="0" smtClean="0">
                <a:latin typeface="+mj-lt"/>
                <a:cs typeface="Times New Roman" panose="02020603050405020304" pitchFamily="18" charset="0"/>
              </a:rPr>
              <a:t>Covert </a:t>
            </a:r>
            <a:r>
              <a:rPr lang="en-US" sz="2400" b="1" dirty="0">
                <a:latin typeface="+mj-lt"/>
                <a:cs typeface="Times New Roman" panose="02020603050405020304" pitchFamily="18" charset="0"/>
              </a:rPr>
              <a:t>observations </a:t>
            </a:r>
            <a:r>
              <a:rPr lang="en-US" sz="2400" dirty="0">
                <a:latin typeface="+mj-lt"/>
                <a:cs typeface="Times New Roman" panose="02020603050405020304" pitchFamily="18" charset="0"/>
              </a:rPr>
              <a:t>are when the researcher pretends to be an ordinary member of the group and observes in secret. There could be ethical problems or deception and consent with this particular method of observation</a:t>
            </a:r>
            <a:r>
              <a:rPr lang="en-US" sz="2400" dirty="0" smtClean="0">
                <a:latin typeface="+mj-lt"/>
                <a:cs typeface="Times New Roman" panose="02020603050405020304" pitchFamily="18" charset="0"/>
              </a:rPr>
              <a:t>.</a:t>
            </a:r>
            <a:endParaRPr lang="en-US" sz="2400" dirty="0">
              <a:latin typeface="+mj-lt"/>
              <a:cs typeface="Times New Roman" panose="02020603050405020304" pitchFamily="18" charset="0"/>
            </a:endParaRPr>
          </a:p>
          <a:p>
            <a:r>
              <a:rPr lang="en-US" sz="2400" b="1" dirty="0">
                <a:latin typeface="+mj-lt"/>
                <a:cs typeface="Times New Roman" panose="02020603050405020304" pitchFamily="18" charset="0"/>
              </a:rPr>
              <a:t>Overt observations </a:t>
            </a:r>
            <a:r>
              <a:rPr lang="en-US" sz="2400" dirty="0">
                <a:latin typeface="+mj-lt"/>
                <a:cs typeface="Times New Roman" panose="02020603050405020304" pitchFamily="18" charset="0"/>
              </a:rPr>
              <a:t>are when the researcher tells the group he or she is conducting research (i.e. they know they are being observed</a:t>
            </a:r>
            <a:r>
              <a:rPr lang="en-US" sz="2400" dirty="0" smtClean="0">
                <a:latin typeface="+mj-lt"/>
                <a:cs typeface="Times New Roman" panose="02020603050405020304" pitchFamily="18" charset="0"/>
              </a:rPr>
              <a:t>).</a:t>
            </a:r>
            <a:endParaRPr lang="en-US" sz="2400" dirty="0">
              <a:latin typeface="+mj-lt"/>
              <a:cs typeface="Times New Roman" panose="02020603050405020304" pitchFamily="18" charset="0"/>
            </a:endParaRPr>
          </a:p>
        </p:txBody>
      </p:sp>
    </p:spTree>
    <p:extLst>
      <p:ext uri="{BB962C8B-B14F-4D97-AF65-F5344CB8AC3E}">
        <p14:creationId xmlns:p14="http://schemas.microsoft.com/office/powerpoint/2010/main" val="2392809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Controlled</a:t>
            </a:r>
            <a:r>
              <a:rPr lang="en-US" dirty="0">
                <a:latin typeface="Times New Roman" panose="02020603050405020304" pitchFamily="18" charset="0"/>
                <a:cs typeface="Times New Roman" panose="02020603050405020304" pitchFamily="18" charset="0"/>
              </a:rPr>
              <a:t>: behavior is observed under controlled laboratory conditions (e.g. Bandura's </a:t>
            </a:r>
            <a:r>
              <a:rPr lang="en-US" dirty="0" err="1">
                <a:latin typeface="Times New Roman" panose="02020603050405020304" pitchFamily="18" charset="0"/>
                <a:cs typeface="Times New Roman" panose="02020603050405020304" pitchFamily="18" charset="0"/>
              </a:rPr>
              <a:t>Bobo</a:t>
            </a:r>
            <a:r>
              <a:rPr lang="en-US" dirty="0">
                <a:latin typeface="Times New Roman" panose="02020603050405020304" pitchFamily="18" charset="0"/>
                <a:cs typeface="Times New Roman" panose="02020603050405020304" pitchFamily="18" charset="0"/>
              </a:rPr>
              <a:t> doll study).</a:t>
            </a:r>
          </a:p>
          <a:p>
            <a:r>
              <a:rPr lang="en-US" b="1" dirty="0">
                <a:latin typeface="Times New Roman" panose="02020603050405020304" pitchFamily="18" charset="0"/>
                <a:cs typeface="Times New Roman" panose="02020603050405020304" pitchFamily="18" charset="0"/>
              </a:rPr>
              <a:t>Natural</a:t>
            </a:r>
            <a:r>
              <a:rPr lang="en-US" dirty="0">
                <a:latin typeface="Times New Roman" panose="02020603050405020304" pitchFamily="18" charset="0"/>
                <a:cs typeface="Times New Roman" panose="02020603050405020304" pitchFamily="18" charset="0"/>
              </a:rPr>
              <a:t>: Here spontaneous behavior is recorded in a natural setting.</a:t>
            </a:r>
          </a:p>
          <a:p>
            <a:r>
              <a:rPr lang="en-US" b="1" dirty="0">
                <a:latin typeface="Times New Roman" panose="02020603050405020304" pitchFamily="18" charset="0"/>
                <a:cs typeface="Times New Roman" panose="02020603050405020304" pitchFamily="18" charset="0"/>
              </a:rPr>
              <a:t>Participant</a:t>
            </a:r>
            <a:r>
              <a:rPr lang="en-US" dirty="0">
                <a:latin typeface="Times New Roman" panose="02020603050405020304" pitchFamily="18" charset="0"/>
                <a:cs typeface="Times New Roman" panose="02020603050405020304" pitchFamily="18" charset="0"/>
              </a:rPr>
              <a:t>: Here the observer has direct contact with the group of people they are observing.</a:t>
            </a:r>
          </a:p>
          <a:p>
            <a:r>
              <a:rPr lang="en-US" b="1" dirty="0">
                <a:latin typeface="Times New Roman" panose="02020603050405020304" pitchFamily="18" charset="0"/>
                <a:cs typeface="Times New Roman" panose="02020603050405020304" pitchFamily="18" charset="0"/>
              </a:rPr>
              <a:t>Non-participant</a:t>
            </a:r>
            <a:r>
              <a:rPr lang="en-US" dirty="0">
                <a:latin typeface="Times New Roman" panose="02020603050405020304" pitchFamily="18" charset="0"/>
                <a:cs typeface="Times New Roman" panose="02020603050405020304" pitchFamily="18" charset="0"/>
              </a:rPr>
              <a:t> (aka "fly on the wall): The researcher does not have direct contact with the people being observed.</a:t>
            </a:r>
          </a:p>
        </p:txBody>
      </p:sp>
    </p:spTree>
    <p:extLst>
      <p:ext uri="{BB962C8B-B14F-4D97-AF65-F5344CB8AC3E}">
        <p14:creationId xmlns:p14="http://schemas.microsoft.com/office/powerpoint/2010/main" val="3493743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p:txBody>
          <a:bodyPr>
            <a:normAutofit/>
          </a:bodyPr>
          <a:lstStyle/>
          <a:p>
            <a:r>
              <a:rPr lang="en-US" sz="1600" dirty="0"/>
              <a:t>Seeing a police car behind you would probably affect your driving behavior. (credit:  Michael Gil)</a:t>
            </a:r>
          </a:p>
        </p:txBody>
      </p:sp>
      <p:pic>
        <p:nvPicPr>
          <p:cNvPr id="4" name="Figure" descr="A photograph shows two police cars driving, one with its lights flashing."/>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6475" r="-36475"/>
          <a:stretch>
            <a:fillRect/>
          </a:stretch>
        </p:blipFill>
        <p:spPr>
          <a:xfrm>
            <a:off x="-315046" y="1178794"/>
            <a:ext cx="4503463" cy="1954931"/>
          </a:xfrm>
        </p:spPr>
      </p:pic>
      <p:sp>
        <p:nvSpPr>
          <p:cNvPr id="5" name="Figure Number"/>
          <p:cNvSpPr>
            <a:spLocks noGrp="1"/>
          </p:cNvSpPr>
          <p:nvPr>
            <p:ph type="title"/>
          </p:nvPr>
        </p:nvSpPr>
        <p:spPr/>
        <p:txBody>
          <a:bodyPr>
            <a:normAutofit fontScale="90000"/>
          </a:bodyPr>
          <a:lstStyle/>
          <a:p>
            <a:r>
              <a:rPr lang="en-US" b="1" dirty="0" smtClean="0"/>
              <a:t/>
            </a:r>
            <a:br>
              <a:rPr lang="en-US" b="1" dirty="0" smtClean="0"/>
            </a:br>
            <a:r>
              <a:rPr lang="en-US" b="1" dirty="0" smtClean="0"/>
              <a:t>Naturalistic </a:t>
            </a:r>
            <a:r>
              <a:rPr lang="en-US" b="1" dirty="0"/>
              <a:t>Observation</a:t>
            </a:r>
            <a:br>
              <a:rPr lang="en-US" b="1" dirty="0"/>
            </a:br>
            <a:endParaRPr lang="en-US" dirty="0"/>
          </a:p>
        </p:txBody>
      </p:sp>
      <p:sp>
        <p:nvSpPr>
          <p:cNvPr id="9" name="Text Placeholder 3"/>
          <p:cNvSpPr txBox="1">
            <a:spLocks/>
          </p:cNvSpPr>
          <p:nvPr/>
        </p:nvSpPr>
        <p:spPr>
          <a:xfrm>
            <a:off x="3505201" y="951548"/>
            <a:ext cx="8367221" cy="3286125"/>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rgbClr val="000000"/>
                </a:solidFill>
                <a:latin typeface="+mn-lt"/>
                <a:ea typeface="+mn-ea"/>
                <a:cs typeface="+mn-cs"/>
              </a:defRPr>
            </a:lvl1pPr>
            <a:lvl2pPr marL="731520" indent="-457200" algn="l" defTabSz="914400" rtl="0" eaLnBrk="1" latinLnBrk="0" hangingPunct="1">
              <a:spcBef>
                <a:spcPct val="20000"/>
              </a:spcBef>
              <a:buClr>
                <a:srgbClr val="6CB255"/>
              </a:buClr>
              <a:buFont typeface="+mj-lt"/>
              <a:buAutoNum type="alphaLcParenR"/>
              <a:defRPr sz="2000" kern="1200">
                <a:solidFill>
                  <a:schemeClr val="tx1"/>
                </a:solidFill>
                <a:latin typeface="+mn-lt"/>
                <a:ea typeface="+mn-ea"/>
                <a:cs typeface="+mn-cs"/>
              </a:defRPr>
            </a:lvl2pPr>
            <a:lvl3pPr marL="12573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3pPr>
            <a:lvl4pPr marL="17145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4pPr>
            <a:lvl5pPr marL="2171700" indent="-342900" algn="l" defTabSz="914400" rtl="0" eaLnBrk="1" latinLnBrk="0" hangingPunct="1">
              <a:spcBef>
                <a:spcPct val="20000"/>
              </a:spcBef>
              <a:buClr>
                <a:srgbClr val="6CB255"/>
              </a:buClr>
              <a:buFont typeface="+mj-lt"/>
              <a:buAutoNum type="alphaLcParen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en-US" sz="1700" dirty="0"/>
              <a:t>Observation of behavior in its natural setting.</a:t>
            </a:r>
          </a:p>
          <a:p>
            <a:r>
              <a:rPr lang="en-US" sz="1700" dirty="0"/>
              <a:t>Naturalistic behavior is generally hidden under scrutiny or observation.</a:t>
            </a:r>
          </a:p>
          <a:p>
            <a:pPr marL="285750" indent="-285750">
              <a:buFontTx/>
              <a:buChar char="-"/>
            </a:pPr>
            <a:r>
              <a:rPr lang="en-US" sz="1700" dirty="0"/>
              <a:t>Seeing a police car behind you would probably affect your driving behavior. </a:t>
            </a:r>
          </a:p>
          <a:p>
            <a:r>
              <a:rPr lang="en-US" sz="1700" dirty="0"/>
              <a:t>To study the most accurate and genuine behaviors, naturalistic observation has proven most effective. </a:t>
            </a:r>
          </a:p>
          <a:p>
            <a:r>
              <a:rPr lang="en-US" sz="1700" dirty="0"/>
              <a:t>Through naturalistic observations, any feeling of performance or anxiety of the studied individuals is eliminated. </a:t>
            </a:r>
          </a:p>
          <a:p>
            <a:r>
              <a:rPr lang="en-US" sz="1700" b="1" dirty="0"/>
              <a:t>Observer bias </a:t>
            </a:r>
            <a:r>
              <a:rPr lang="en-US" sz="1700" dirty="0"/>
              <a:t>- when observations may be skewed to align with observer expectations.</a:t>
            </a:r>
          </a:p>
          <a:p>
            <a:pPr marL="342900" indent="-342900">
              <a:buFontTx/>
              <a:buChar char="-"/>
            </a:pPr>
            <a:r>
              <a:rPr lang="en-US" sz="1700" dirty="0"/>
              <a:t>Establishment of clear criteria to observe should help eliminate observer bias.</a:t>
            </a:r>
          </a:p>
          <a:p>
            <a:endParaRPr lang="en-US" sz="1900" dirty="0"/>
          </a:p>
          <a:p>
            <a:endParaRPr lang="en-US" dirty="0"/>
          </a:p>
        </p:txBody>
      </p:sp>
    </p:spTree>
    <p:extLst>
      <p:ext uri="{BB962C8B-B14F-4D97-AF65-F5344CB8AC3E}">
        <p14:creationId xmlns:p14="http://schemas.microsoft.com/office/powerpoint/2010/main" val="1650260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Figure" descr="A sample online survey reads, &quot;Dear visitor, your opinion is important to us. We would like to invite you to participate in a short survey to gather your opinions and feedback on your news consumption habits. The survey will take approximately 10-15 minutes. Simply click the &quot;Yes&quot; button below to launch the survey. Would you like to participate?&quot; Two buttons are labeled &quot;yes&quot; and &quot;no.&quo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28523" r="-28523"/>
          <a:stretch>
            <a:fillRect/>
          </a:stretch>
        </p:blipFill>
        <p:spPr>
          <a:xfrm>
            <a:off x="5681664" y="1782427"/>
            <a:ext cx="4819982" cy="2180197"/>
          </a:xfrm>
        </p:spPr>
      </p:pic>
      <p:sp>
        <p:nvSpPr>
          <p:cNvPr id="5" name="Figure Number"/>
          <p:cNvSpPr>
            <a:spLocks noGrp="1"/>
          </p:cNvSpPr>
          <p:nvPr>
            <p:ph type="title"/>
          </p:nvPr>
        </p:nvSpPr>
        <p:spPr/>
        <p:txBody>
          <a:bodyPr>
            <a:normAutofit fontScale="90000"/>
          </a:bodyPr>
          <a:lstStyle/>
          <a:p>
            <a:r>
              <a:rPr lang="en-US" dirty="0"/>
              <a:t>surveys</a:t>
            </a:r>
          </a:p>
        </p:txBody>
      </p:sp>
      <p:sp>
        <p:nvSpPr>
          <p:cNvPr id="9" name="TextBox 8"/>
          <p:cNvSpPr txBox="1"/>
          <p:nvPr/>
        </p:nvSpPr>
        <p:spPr>
          <a:xfrm>
            <a:off x="2113440" y="1387503"/>
            <a:ext cx="3743326" cy="5139869"/>
          </a:xfrm>
          <a:prstGeom prst="rect">
            <a:avLst/>
          </a:prstGeom>
          <a:noFill/>
        </p:spPr>
        <p:txBody>
          <a:bodyPr wrap="square" rtlCol="0">
            <a:spAutoFit/>
          </a:bodyPr>
          <a:lstStyle/>
          <a:p>
            <a:r>
              <a:rPr lang="en-US" sz="1700" dirty="0"/>
              <a:t>A list of questions that can be delivered in many ways:</a:t>
            </a:r>
          </a:p>
          <a:p>
            <a:pPr marL="285750" indent="-285750">
              <a:buFontTx/>
              <a:buChar char="-"/>
            </a:pPr>
            <a:r>
              <a:rPr lang="en-US" sz="1700" dirty="0"/>
              <a:t>Paper-and-pencil</a:t>
            </a:r>
          </a:p>
          <a:p>
            <a:pPr marL="285750" indent="-285750">
              <a:buFontTx/>
              <a:buChar char="-"/>
            </a:pPr>
            <a:r>
              <a:rPr lang="en-US" sz="1700" dirty="0"/>
              <a:t>Electronically</a:t>
            </a:r>
          </a:p>
          <a:p>
            <a:pPr marL="285750" indent="-285750">
              <a:buFontTx/>
              <a:buChar char="-"/>
            </a:pPr>
            <a:r>
              <a:rPr lang="en-US" sz="1700" dirty="0"/>
              <a:t>Verbally</a:t>
            </a:r>
          </a:p>
          <a:p>
            <a:endParaRPr lang="en-US" sz="1700" dirty="0"/>
          </a:p>
          <a:p>
            <a:r>
              <a:rPr lang="en-US" sz="1700" dirty="0"/>
              <a:t>Surveys can be used to gather a large amount of data from a sample (subset of individuals) from a larger population.</a:t>
            </a:r>
          </a:p>
          <a:p>
            <a:endParaRPr lang="en-US" sz="1700" dirty="0"/>
          </a:p>
          <a:p>
            <a:endParaRPr lang="en-US" sz="1700" dirty="0"/>
          </a:p>
          <a:p>
            <a:r>
              <a:rPr lang="en-US" sz="1600" dirty="0"/>
              <a:t>Surveys can be administered in a number of ways, including electronically administered research, like the survey shown here. (credit: Robert Nyman)</a:t>
            </a:r>
          </a:p>
          <a:p>
            <a:endParaRPr lang="en-US" sz="1700" dirty="0"/>
          </a:p>
          <a:p>
            <a:endParaRPr lang="en-US" sz="1700" dirty="0"/>
          </a:p>
        </p:txBody>
      </p:sp>
    </p:spTree>
    <p:extLst>
      <p:ext uri="{BB962C8B-B14F-4D97-AF65-F5344CB8AC3E}">
        <p14:creationId xmlns:p14="http://schemas.microsoft.com/office/powerpoint/2010/main" val="4192777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p:txBody>
          <a:bodyPr>
            <a:normAutofit/>
          </a:bodyPr>
          <a:lstStyle/>
          <a:p>
            <a:r>
              <a:rPr lang="en-US" sz="1600" dirty="0"/>
              <a:t>A researcher doing archival research examines records, whether archived as a </a:t>
            </a:r>
            <a:r>
              <a:rPr lang="en-US" sz="1600" dirty="0">
                <a:solidFill>
                  <a:srgbClr val="6CB255"/>
                </a:solidFill>
              </a:rPr>
              <a:t>(a)</a:t>
            </a:r>
            <a:r>
              <a:rPr lang="en-US" sz="1600" dirty="0"/>
              <a:t> hardcopy or </a:t>
            </a:r>
            <a:r>
              <a:rPr lang="en-US" sz="1600" dirty="0">
                <a:solidFill>
                  <a:srgbClr val="6CB255"/>
                </a:solidFill>
              </a:rPr>
              <a:t>(b)</a:t>
            </a:r>
            <a:r>
              <a:rPr lang="en-US" sz="1600" dirty="0"/>
              <a:t> electronically. </a:t>
            </a:r>
          </a:p>
        </p:txBody>
      </p:sp>
      <p:pic>
        <p:nvPicPr>
          <p:cNvPr id="4" name="Figure" descr="(a) A photograph shows stacks of paper files on shelves. (b) A photograph shows a compute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5110" b="-5110"/>
          <a:stretch>
            <a:fillRect/>
          </a:stretch>
        </p:blipFill>
        <p:spPr>
          <a:xfrm>
            <a:off x="3074635" y="2251143"/>
            <a:ext cx="5564262" cy="2415419"/>
          </a:xfrm>
        </p:spPr>
      </p:pic>
      <p:sp>
        <p:nvSpPr>
          <p:cNvPr id="5" name="Figure Number"/>
          <p:cNvSpPr>
            <a:spLocks noGrp="1"/>
          </p:cNvSpPr>
          <p:nvPr>
            <p:ph type="title"/>
          </p:nvPr>
        </p:nvSpPr>
        <p:spPr/>
        <p:txBody>
          <a:bodyPr>
            <a:normAutofit fontScale="90000"/>
          </a:bodyPr>
          <a:lstStyle/>
          <a:p>
            <a:r>
              <a:rPr lang="en-US" dirty="0"/>
              <a:t>Archival research</a:t>
            </a:r>
          </a:p>
        </p:txBody>
      </p:sp>
      <p:sp>
        <p:nvSpPr>
          <p:cNvPr id="9" name="TextBox 8"/>
          <p:cNvSpPr txBox="1"/>
          <p:nvPr/>
        </p:nvSpPr>
        <p:spPr>
          <a:xfrm>
            <a:off x="1981199" y="1268226"/>
            <a:ext cx="8367222" cy="615553"/>
          </a:xfrm>
          <a:prstGeom prst="rect">
            <a:avLst/>
          </a:prstGeom>
          <a:noFill/>
        </p:spPr>
        <p:txBody>
          <a:bodyPr wrap="square" rtlCol="0">
            <a:spAutoFit/>
          </a:bodyPr>
          <a:lstStyle/>
          <a:p>
            <a:r>
              <a:rPr lang="en-US" sz="1700" dirty="0"/>
              <a:t>Uses past records or data sets to answer various research questions, or to search for interesting patterns or relationships.</a:t>
            </a:r>
          </a:p>
        </p:txBody>
      </p:sp>
    </p:spTree>
    <p:extLst>
      <p:ext uri="{BB962C8B-B14F-4D97-AF65-F5344CB8AC3E}">
        <p14:creationId xmlns:p14="http://schemas.microsoft.com/office/powerpoint/2010/main" val="169010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 Number"/>
          <p:cNvSpPr>
            <a:spLocks noGrp="1"/>
          </p:cNvSpPr>
          <p:nvPr>
            <p:ph type="title"/>
          </p:nvPr>
        </p:nvSpPr>
        <p:spPr/>
        <p:txBody>
          <a:bodyPr>
            <a:normAutofit/>
          </a:bodyPr>
          <a:lstStyle/>
          <a:p>
            <a:r>
              <a:rPr lang="en-US" dirty="0"/>
              <a:t>Causality: conducting experiments</a:t>
            </a:r>
            <a:br>
              <a:rPr lang="en-US" dirty="0"/>
            </a:br>
            <a:r>
              <a:rPr lang="en-US" dirty="0"/>
              <a:t>&amp; using the data</a:t>
            </a:r>
          </a:p>
        </p:txBody>
      </p:sp>
      <p:sp>
        <p:nvSpPr>
          <p:cNvPr id="9" name="Text Placeholder 3"/>
          <p:cNvSpPr txBox="1">
            <a:spLocks/>
          </p:cNvSpPr>
          <p:nvPr/>
        </p:nvSpPr>
        <p:spPr>
          <a:xfrm>
            <a:off x="1981201" y="1956816"/>
            <a:ext cx="7711440" cy="3529584"/>
          </a:xfrm>
          <a:prstGeom prst="rect">
            <a:avLst/>
          </a:prstGeom>
        </p:spPr>
        <p:txBody>
          <a:bodyPr vert="horz" lIns="91440" tIns="45720" rIns="91440" bIns="45720" rtlCol="0">
            <a:normAutofit lnSpcReduction="10000"/>
          </a:bodyPr>
          <a:lst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rgbClr val="212F62"/>
                </a:solidFill>
                <a:latin typeface="+mn-lt"/>
                <a:ea typeface="+mn-ea"/>
                <a:cs typeface="+mn-cs"/>
              </a:defRPr>
            </a:lvl1pPr>
            <a:lvl2pPr marL="731520" indent="-457200" algn="l" defTabSz="914400" rtl="0" eaLnBrk="1" latinLnBrk="0" hangingPunct="1">
              <a:spcBef>
                <a:spcPct val="20000"/>
              </a:spcBef>
              <a:buClr>
                <a:srgbClr val="6CB255"/>
              </a:buClr>
              <a:buFont typeface="+mj-lt"/>
              <a:buAutoNum type="alphaLcParenR"/>
              <a:defRPr sz="2000" kern="1200">
                <a:solidFill>
                  <a:schemeClr val="tx1"/>
                </a:solidFill>
                <a:latin typeface="+mn-lt"/>
                <a:ea typeface="+mn-ea"/>
                <a:cs typeface="+mn-cs"/>
              </a:defRPr>
            </a:lvl2pPr>
            <a:lvl3pPr marL="12573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3pPr>
            <a:lvl4pPr marL="1714500" indent="-342900" algn="l" defTabSz="914400" rtl="0" eaLnBrk="1" latinLnBrk="0" hangingPunct="1">
              <a:spcBef>
                <a:spcPct val="20000"/>
              </a:spcBef>
              <a:buClr>
                <a:srgbClr val="6CB255"/>
              </a:buClr>
              <a:buFont typeface="+mj-lt"/>
              <a:buAutoNum type="alphaLcParenR"/>
              <a:defRPr sz="1800" kern="1200">
                <a:solidFill>
                  <a:schemeClr val="tx1"/>
                </a:solidFill>
                <a:latin typeface="+mn-lt"/>
                <a:ea typeface="+mn-ea"/>
                <a:cs typeface="+mn-cs"/>
              </a:defRPr>
            </a:lvl4pPr>
            <a:lvl5pPr marL="2171700" indent="-342900" algn="l" defTabSz="914400" rtl="0" eaLnBrk="1" latinLnBrk="0" hangingPunct="1">
              <a:spcBef>
                <a:spcPct val="20000"/>
              </a:spcBef>
              <a:buClr>
                <a:srgbClr val="6CB255"/>
              </a:buClr>
              <a:buFont typeface="+mj-lt"/>
              <a:buAutoNum type="alphaLcParen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en-US" dirty="0"/>
              <a:t>The only way to establish that there is a cause-and-effect relationship between two variables is to conduct a scientific experiment.</a:t>
            </a:r>
          </a:p>
          <a:p>
            <a:r>
              <a:rPr lang="en-US" dirty="0"/>
              <a:t>A scientific experiment has precise requirements for design and implementation.</a:t>
            </a:r>
          </a:p>
          <a:p>
            <a:endParaRPr lang="en-US" dirty="0"/>
          </a:p>
          <a:p>
            <a:r>
              <a:rPr lang="en-US" b="1" u="sng" dirty="0">
                <a:solidFill>
                  <a:srgbClr val="6CB255"/>
                </a:solidFill>
              </a:rPr>
              <a:t>THE EXPERIMENTAL HYPOTHESIS</a:t>
            </a:r>
          </a:p>
          <a:p>
            <a:r>
              <a:rPr lang="en-US" dirty="0"/>
              <a:t>Hypotheses can be formulated through: </a:t>
            </a:r>
          </a:p>
          <a:p>
            <a:pPr marL="285750" indent="-285750">
              <a:buFontTx/>
              <a:buChar char="-"/>
            </a:pPr>
            <a:r>
              <a:rPr lang="en-US" dirty="0"/>
              <a:t>Observation </a:t>
            </a:r>
          </a:p>
          <a:p>
            <a:pPr marL="285750" indent="-285750">
              <a:buFontTx/>
              <a:buChar char="-"/>
            </a:pPr>
            <a:r>
              <a:rPr lang="en-US" dirty="0"/>
              <a:t>After review of previous research</a:t>
            </a:r>
          </a:p>
          <a:p>
            <a:endParaRPr lang="en-US" sz="1800" dirty="0">
              <a:solidFill>
                <a:srgbClr val="6CB255"/>
              </a:solidFill>
            </a:endParaRPr>
          </a:p>
        </p:txBody>
      </p:sp>
    </p:spTree>
    <p:extLst>
      <p:ext uri="{BB962C8B-B14F-4D97-AF65-F5344CB8AC3E}">
        <p14:creationId xmlns:p14="http://schemas.microsoft.com/office/powerpoint/2010/main" val="2829763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Experimental Research</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937982"/>
            <a:ext cx="9124893" cy="4238981"/>
          </a:xfrm>
        </p:spPr>
        <p:txBody>
          <a:bodyPr>
            <a:normAutofit fontScale="92500"/>
          </a:bodyPr>
          <a:lstStyle/>
          <a:p>
            <a:pPr marL="0" indent="0">
              <a:buNone/>
            </a:pPr>
            <a:r>
              <a:rPr lang="en-US" b="1" dirty="0">
                <a:latin typeface="Times New Roman" pitchFamily="18" charset="0"/>
                <a:cs typeface="Times New Roman" pitchFamily="18" charset="0"/>
              </a:rPr>
              <a:t>Experimental research </a:t>
            </a:r>
            <a:r>
              <a:rPr lang="en-US" dirty="0">
                <a:latin typeface="Times New Roman" pitchFamily="18" charset="0"/>
                <a:cs typeface="Times New Roman" pitchFamily="18" charset="0"/>
              </a:rPr>
              <a:t>investigating the relationship between two (or more) variables by deliberately producing a change in one variable in a situation (experimental manipulation) and observing the effects of that change on other aspects of the situation.</a:t>
            </a:r>
          </a:p>
          <a:p>
            <a:r>
              <a:rPr lang="en-US" b="1" dirty="0">
                <a:latin typeface="Times New Roman" pitchFamily="18" charset="0"/>
                <a:cs typeface="Times New Roman" pitchFamily="18" charset="0"/>
              </a:rPr>
              <a:t>Experimental group: </a:t>
            </a:r>
            <a:r>
              <a:rPr lang="en-US" dirty="0">
                <a:latin typeface="Times New Roman" pitchFamily="18" charset="0"/>
                <a:cs typeface="Times New Roman" pitchFamily="18" charset="0"/>
              </a:rPr>
              <a:t>Any group participating in an experiment that receives a treatment.</a:t>
            </a:r>
          </a:p>
          <a:p>
            <a:r>
              <a:rPr lang="en-US" b="1" dirty="0">
                <a:latin typeface="Times New Roman" pitchFamily="18" charset="0"/>
                <a:cs typeface="Times New Roman" pitchFamily="18" charset="0"/>
              </a:rPr>
              <a:t>Control group: </a:t>
            </a:r>
            <a:r>
              <a:rPr lang="en-US" dirty="0">
                <a:latin typeface="Times New Roman" pitchFamily="18" charset="0"/>
                <a:cs typeface="Times New Roman" pitchFamily="18" charset="0"/>
              </a:rPr>
              <a:t>A group participating in an experiment that receives no treatment.</a:t>
            </a:r>
          </a:p>
          <a:p>
            <a:pPr marL="0" indent="0">
              <a:buNone/>
            </a:pPr>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Example</a:t>
            </a:r>
            <a:r>
              <a:rPr lang="en-US" dirty="0">
                <a:latin typeface="Times New Roman" pitchFamily="18" charset="0"/>
                <a:cs typeface="Times New Roman" pitchFamily="18" charset="0"/>
              </a:rPr>
              <a:t>: aggression is caused by the TV viewing</a:t>
            </a:r>
          </a:p>
        </p:txBody>
      </p:sp>
    </p:spTree>
    <p:extLst>
      <p:ext uri="{BB962C8B-B14F-4D97-AF65-F5344CB8AC3E}">
        <p14:creationId xmlns:p14="http://schemas.microsoft.com/office/powerpoint/2010/main" val="271890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1128" y="1351128"/>
            <a:ext cx="9416956" cy="4825835"/>
          </a:xfrm>
        </p:spPr>
        <p:txBody>
          <a:bodyPr>
            <a:normAutofit fontScale="92500" lnSpcReduction="10000"/>
          </a:bodyPr>
          <a:lstStyle/>
          <a:p>
            <a:pPr marL="0" indent="0">
              <a:buNone/>
            </a:pPr>
            <a:endParaRPr lang="en-US" sz="2400" b="1" dirty="0" smtClean="0">
              <a:latin typeface="Times New Roman" panose="02020603050405020304" pitchFamily="18" charset="0"/>
              <a:cs typeface="Times New Roman" panose="02020603050405020304" pitchFamily="18" charset="0"/>
            </a:endParaRPr>
          </a:p>
          <a:p>
            <a:pPr marL="0" indent="0">
              <a:buNone/>
            </a:pPr>
            <a:r>
              <a:rPr lang="en-US" sz="3300" b="1" dirty="0">
                <a:latin typeface="Times New Roman" panose="02020603050405020304" pitchFamily="18" charset="0"/>
                <a:cs typeface="Times New Roman" panose="02020603050405020304" pitchFamily="18" charset="0"/>
              </a:rPr>
              <a:t>Lab Experiment</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type of experiment is conducted in a well-controlled environment – not necessarily a laboratory – and therefore accurate and objective measurements are possible.</a:t>
            </a:r>
            <a:endParaRPr lang="en-US" sz="2400" b="1" dirty="0">
              <a:latin typeface="Times New Roman" panose="02020603050405020304" pitchFamily="18" charset="0"/>
              <a:cs typeface="Times New Roman" panose="02020603050405020304" pitchFamily="18" charset="0"/>
            </a:endParaRPr>
          </a:p>
          <a:p>
            <a:pPr marL="0" indent="0">
              <a:buNone/>
            </a:pPr>
            <a:r>
              <a:rPr lang="en-US" sz="3200" b="1" dirty="0" smtClean="0">
                <a:latin typeface="Times New Roman" panose="02020603050405020304" pitchFamily="18" charset="0"/>
                <a:cs typeface="Times New Roman" panose="02020603050405020304" pitchFamily="18" charset="0"/>
              </a:rPr>
              <a:t>Field Experiment</a:t>
            </a:r>
          </a:p>
          <a:p>
            <a:pPr marL="0" indent="0">
              <a:buNone/>
            </a:pPr>
            <a:r>
              <a:rPr lang="en-US" dirty="0">
                <a:latin typeface="Times New Roman" panose="02020603050405020304" pitchFamily="18" charset="0"/>
                <a:cs typeface="Times New Roman" panose="02020603050405020304" pitchFamily="18" charset="0"/>
              </a:rPr>
              <a:t>These are conducted in the everyday (i.e. natural) environment of the participants but the situations are still artificially set up</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sz="3200" b="1" dirty="0" smtClean="0">
                <a:latin typeface="Times New Roman" panose="02020603050405020304" pitchFamily="18" charset="0"/>
                <a:cs typeface="Times New Roman" panose="02020603050405020304" pitchFamily="18" charset="0"/>
              </a:rPr>
              <a:t>Natural Experiment</a:t>
            </a:r>
          </a:p>
          <a:p>
            <a:pPr marL="0" indent="0">
              <a:buNone/>
            </a:pPr>
            <a:r>
              <a:rPr lang="en-US" dirty="0">
                <a:latin typeface="Times New Roman" panose="02020603050405020304" pitchFamily="18" charset="0"/>
                <a:cs typeface="Times New Roman" panose="02020603050405020304" pitchFamily="18" charset="0"/>
              </a:rPr>
              <a:t>Natural experiments are when a naturally occurring IV is investigated that isn’t deliberately manipulated, it exists </a:t>
            </a:r>
            <a:r>
              <a:rPr lang="en-US" dirty="0" smtClean="0">
                <a:latin typeface="Times New Roman" panose="02020603050405020304" pitchFamily="18" charset="0"/>
                <a:cs typeface="Times New Roman" panose="02020603050405020304" pitchFamily="18" charset="0"/>
              </a:rPr>
              <a:t>anyway. Participants </a:t>
            </a:r>
            <a:r>
              <a:rPr lang="en-US" dirty="0">
                <a:latin typeface="Times New Roman" panose="02020603050405020304" pitchFamily="18" charset="0"/>
                <a:cs typeface="Times New Roman" panose="02020603050405020304" pitchFamily="18" charset="0"/>
              </a:rPr>
              <a:t>are not randomly allocated and the natural event may only occur rarely.</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3535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Designing an experiment</a:t>
            </a:r>
          </a:p>
        </p:txBody>
      </p:sp>
      <p:sp>
        <p:nvSpPr>
          <p:cNvPr id="4" name="Text Placeholder 3"/>
          <p:cNvSpPr>
            <a:spLocks noGrp="1"/>
          </p:cNvSpPr>
          <p:nvPr>
            <p:ph type="body" sz="quarter" idx="14"/>
          </p:nvPr>
        </p:nvSpPr>
        <p:spPr>
          <a:xfrm>
            <a:off x="1981200" y="993036"/>
            <a:ext cx="8062912" cy="4964853"/>
          </a:xfrm>
        </p:spPr>
        <p:txBody>
          <a:bodyPr>
            <a:normAutofit/>
          </a:bodyPr>
          <a:lstStyle/>
          <a:p>
            <a:r>
              <a:rPr lang="en-US" sz="1800" b="1" u="sng" dirty="0">
                <a:solidFill>
                  <a:srgbClr val="6CB255"/>
                </a:solidFill>
              </a:rPr>
              <a:t>EXPERIMENTAL AND CONTROL GROUPS</a:t>
            </a:r>
          </a:p>
          <a:p>
            <a:r>
              <a:rPr lang="en-US" sz="1800" b="1" dirty="0"/>
              <a:t>Experimental group </a:t>
            </a:r>
            <a:r>
              <a:rPr lang="en-US" sz="1800" dirty="0"/>
              <a:t>- The participants that experience the manipulated variable (group designed to answer the research question).</a:t>
            </a:r>
          </a:p>
          <a:p>
            <a:r>
              <a:rPr lang="en-US" sz="1800" b="1" dirty="0"/>
              <a:t>Control group </a:t>
            </a:r>
            <a:r>
              <a:rPr lang="en-US" sz="1800" dirty="0"/>
              <a:t>- Participants that do not experience the manipulated variable. </a:t>
            </a:r>
          </a:p>
          <a:p>
            <a:pPr marL="342900" indent="-342900">
              <a:buFontTx/>
              <a:buChar char="-"/>
            </a:pPr>
            <a:r>
              <a:rPr lang="en-US" sz="1800" dirty="0"/>
              <a:t>Serve as a basis for comparison and controls for chance factors that might influence the results of the study</a:t>
            </a:r>
          </a:p>
          <a:p>
            <a:r>
              <a:rPr lang="en-US" sz="1800" dirty="0"/>
              <a:t>Experimental manipulation is the only difference between the experimental and control groups, so any differences between the two are due to experimental manipulation rather than chance.</a:t>
            </a:r>
          </a:p>
          <a:p>
            <a:r>
              <a:rPr lang="en-US" sz="1800" b="1" u="sng" dirty="0">
                <a:solidFill>
                  <a:srgbClr val="6CB255"/>
                </a:solidFill>
              </a:rPr>
              <a:t>DEFINING VARIABLES AND HOW THEY WILL BE MEASURED</a:t>
            </a:r>
          </a:p>
          <a:p>
            <a:r>
              <a:rPr lang="en-US" sz="1800" b="1" dirty="0"/>
              <a:t>Operational definition </a:t>
            </a:r>
            <a:r>
              <a:rPr lang="en-US" sz="1800" dirty="0"/>
              <a:t>- description of what actions and operations will be used to measure the dependent variables and manipulate the independent variables.</a:t>
            </a:r>
          </a:p>
          <a:p>
            <a:endParaRPr lang="en-US" sz="1800" dirty="0"/>
          </a:p>
          <a:p>
            <a:endParaRPr lang="en-US" dirty="0"/>
          </a:p>
        </p:txBody>
      </p:sp>
    </p:spTree>
    <p:extLst>
      <p:ext uri="{BB962C8B-B14F-4D97-AF65-F5344CB8AC3E}">
        <p14:creationId xmlns:p14="http://schemas.microsoft.com/office/powerpoint/2010/main" val="2278513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p:txBody>
          <a:bodyPr>
            <a:normAutofit/>
          </a:bodyPr>
          <a:lstStyle/>
          <a:p>
            <a:r>
              <a:rPr lang="en-US" sz="1600" dirty="0"/>
              <a:t>Providing the control group with a placebo treatment protects against bias caused by expectancy. (credit: Elaine and Arthur Shapiro)</a:t>
            </a:r>
          </a:p>
        </p:txBody>
      </p:sp>
      <p:pic>
        <p:nvPicPr>
          <p:cNvPr id="4" name="Figure" descr="A photograph shows three glass bottles of pills labeled as placebos."/>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6859" r="-36859"/>
          <a:stretch>
            <a:fillRect/>
          </a:stretch>
        </p:blipFill>
        <p:spPr/>
      </p:pic>
      <p:sp>
        <p:nvSpPr>
          <p:cNvPr id="5" name="Figure Number"/>
          <p:cNvSpPr>
            <a:spLocks noGrp="1"/>
          </p:cNvSpPr>
          <p:nvPr>
            <p:ph type="title"/>
          </p:nvPr>
        </p:nvSpPr>
        <p:spPr/>
        <p:txBody>
          <a:bodyPr>
            <a:normAutofit fontScale="90000"/>
          </a:bodyPr>
          <a:lstStyle/>
          <a:p>
            <a:r>
              <a:rPr lang="en-US" dirty="0"/>
              <a:t>Figure 2.16</a:t>
            </a:r>
          </a:p>
        </p:txBody>
      </p:sp>
    </p:spTree>
    <p:extLst>
      <p:ext uri="{BB962C8B-B14F-4D97-AF65-F5344CB8AC3E}">
        <p14:creationId xmlns:p14="http://schemas.microsoft.com/office/powerpoint/2010/main" val="1659471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928" y="241327"/>
            <a:ext cx="9477184" cy="751709"/>
          </a:xfrm>
        </p:spPr>
        <p:txBody>
          <a:bodyPr>
            <a:noAutofit/>
          </a:bodyPr>
          <a:lstStyle/>
          <a:p>
            <a:r>
              <a:rPr lang="en-US" sz="3600" dirty="0"/>
              <a:t>A</a:t>
            </a:r>
            <a:r>
              <a:rPr lang="en-US" sz="3600" dirty="0" smtClean="0"/>
              <a:t>ssigning participants to groups:</a:t>
            </a:r>
            <a:br>
              <a:rPr lang="en-US" sz="3600" dirty="0" smtClean="0"/>
            </a:br>
            <a:r>
              <a:rPr lang="en-US" sz="3600" dirty="0" smtClean="0"/>
              <a:t>experimental or control</a:t>
            </a:r>
            <a:endParaRPr lang="en-US" sz="3600" dirty="0"/>
          </a:p>
        </p:txBody>
      </p:sp>
      <p:sp>
        <p:nvSpPr>
          <p:cNvPr id="4" name="Text Placeholder 3"/>
          <p:cNvSpPr>
            <a:spLocks noGrp="1"/>
          </p:cNvSpPr>
          <p:nvPr>
            <p:ph type="body" sz="quarter" idx="14"/>
          </p:nvPr>
        </p:nvSpPr>
        <p:spPr>
          <a:xfrm>
            <a:off x="1981201" y="1243531"/>
            <a:ext cx="8367221" cy="5114407"/>
          </a:xfrm>
        </p:spPr>
        <p:txBody>
          <a:bodyPr>
            <a:normAutofit/>
          </a:bodyPr>
          <a:lstStyle/>
          <a:p>
            <a:r>
              <a:rPr lang="en-US" sz="1700" b="1" dirty="0"/>
              <a:t>Random Assignment </a:t>
            </a:r>
            <a:r>
              <a:rPr lang="mr-IN" sz="1700" dirty="0"/>
              <a:t>–</a:t>
            </a:r>
            <a:r>
              <a:rPr lang="en-US" sz="1700" dirty="0"/>
              <a:t> Method of experimental group assignment in which all participants have an equal chance of being assigned to either group.</a:t>
            </a:r>
          </a:p>
          <a:p>
            <a:pPr marL="285750" indent="-285750">
              <a:buFontTx/>
              <a:buChar char="-"/>
            </a:pPr>
            <a:r>
              <a:rPr lang="en-US" sz="1700" dirty="0"/>
              <a:t>Can be achieved using statistical software or by simply flipping a coin.</a:t>
            </a:r>
          </a:p>
          <a:p>
            <a:pPr marL="285750" indent="-285750">
              <a:buFontTx/>
              <a:buChar char="-"/>
            </a:pPr>
            <a:r>
              <a:rPr lang="en-US" sz="1700" dirty="0"/>
              <a:t>Prevents systematic differences between groups such as gender or age. </a:t>
            </a:r>
          </a:p>
          <a:p>
            <a:r>
              <a:rPr lang="en-US" sz="1700" dirty="0"/>
              <a:t>Without random assignment, an experiment cannot find a true cause-and-effect relationship. Any relationship could be due to preexisting differences between the groups. </a:t>
            </a:r>
          </a:p>
          <a:p>
            <a:r>
              <a:rPr lang="en-US" sz="1700" dirty="0"/>
              <a:t>Random assignment helps to avoid preexisting systematic differences so that any significant differences between groups can be said to be the result of the manipulation.</a:t>
            </a:r>
          </a:p>
          <a:p>
            <a:pPr marL="285750" indent="-285750">
              <a:buFontTx/>
              <a:buChar char="-"/>
            </a:pPr>
            <a:endParaRPr lang="en-US" sz="1700" dirty="0"/>
          </a:p>
          <a:p>
            <a:endParaRPr lang="en-US" dirty="0"/>
          </a:p>
          <a:p>
            <a:endParaRPr lang="en-US" dirty="0"/>
          </a:p>
        </p:txBody>
      </p:sp>
    </p:spTree>
    <p:extLst>
      <p:ext uri="{BB962C8B-B14F-4D97-AF65-F5344CB8AC3E}">
        <p14:creationId xmlns:p14="http://schemas.microsoft.com/office/powerpoint/2010/main" val="2347569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smtClean="0">
                <a:latin typeface="Arial" panose="020B0604020202020204" pitchFamily="34" charset="0"/>
              </a:rPr>
              <a:t/>
            </a:r>
            <a:br>
              <a:rPr lang="en-US" b="1" dirty="0" smtClean="0">
                <a:latin typeface="Arial" panose="020B0604020202020204" pitchFamily="34" charset="0"/>
              </a:rPr>
            </a:br>
            <a:r>
              <a:rPr lang="en-US" b="1" dirty="0" smtClean="0">
                <a:latin typeface="Arial" panose="020B0604020202020204" pitchFamily="34" charset="0"/>
              </a:rPr>
              <a:t>How </a:t>
            </a:r>
            <a:r>
              <a:rPr lang="en-US" b="1" dirty="0">
                <a:latin typeface="Arial" panose="020B0604020202020204" pitchFamily="34" charset="0"/>
              </a:rPr>
              <a:t>Experimental Research Is Done</a:t>
            </a:r>
            <a:br>
              <a:rPr lang="en-US" b="1" dirty="0">
                <a:latin typeface="Arial" panose="020B0604020202020204" pitchFamily="34" charset="0"/>
              </a:rPr>
            </a:b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518236989"/>
              </p:ext>
            </p:extLst>
          </p:nvPr>
        </p:nvGraphicFramePr>
        <p:xfrm>
          <a:off x="794331" y="1078993"/>
          <a:ext cx="9542379" cy="5274709"/>
        </p:xfrm>
        <a:graphic>
          <a:graphicData uri="http://schemas.openxmlformats.org/drawingml/2006/table">
            <a:tbl>
              <a:tblPr/>
              <a:tblGrid>
                <a:gridCol w="3180793"/>
                <a:gridCol w="3180793"/>
                <a:gridCol w="3180793"/>
              </a:tblGrid>
              <a:tr h="338976">
                <a:tc>
                  <a:txBody>
                    <a:bodyPr/>
                    <a:lstStyle/>
                    <a:p>
                      <a:r>
                        <a:rPr lang="en-US" sz="1500" b="1" dirty="0"/>
                        <a:t>Step</a:t>
                      </a:r>
                      <a:endParaRPr lang="en-US" sz="1500" dirty="0"/>
                    </a:p>
                  </a:txBody>
                  <a:tcPr marL="73751" marR="73751" marT="36876" marB="36876" anchor="ctr">
                    <a:lnL>
                      <a:noFill/>
                    </a:lnL>
                    <a:lnR>
                      <a:noFill/>
                    </a:lnR>
                    <a:lnT>
                      <a:noFill/>
                    </a:lnT>
                    <a:lnB>
                      <a:noFill/>
                    </a:lnB>
                  </a:tcPr>
                </a:tc>
                <a:tc>
                  <a:txBody>
                    <a:bodyPr/>
                    <a:lstStyle/>
                    <a:p>
                      <a:r>
                        <a:rPr lang="en-US" sz="1500" b="1"/>
                        <a:t>Description</a:t>
                      </a:r>
                      <a:endParaRPr lang="en-US" sz="1500"/>
                    </a:p>
                  </a:txBody>
                  <a:tcPr marL="73751" marR="73751" marT="36876" marB="36876" anchor="ctr">
                    <a:lnL>
                      <a:noFill/>
                    </a:lnL>
                    <a:lnR>
                      <a:noFill/>
                    </a:lnR>
                    <a:lnT>
                      <a:noFill/>
                    </a:lnT>
                    <a:lnB>
                      <a:noFill/>
                    </a:lnB>
                  </a:tcPr>
                </a:tc>
                <a:tc>
                  <a:txBody>
                    <a:bodyPr/>
                    <a:lstStyle/>
                    <a:p>
                      <a:r>
                        <a:rPr lang="en-US" sz="1500" b="1"/>
                        <a:t>Example (Computer Science)</a:t>
                      </a:r>
                      <a:endParaRPr lang="en-US" sz="1500"/>
                    </a:p>
                  </a:txBody>
                  <a:tcPr marL="73751" marR="73751" marT="36876" marB="36876" anchor="ctr">
                    <a:lnL>
                      <a:noFill/>
                    </a:lnL>
                    <a:lnR>
                      <a:noFill/>
                    </a:lnR>
                    <a:lnT>
                      <a:noFill/>
                    </a:lnT>
                    <a:lnB>
                      <a:noFill/>
                    </a:lnB>
                  </a:tcPr>
                </a:tc>
              </a:tr>
              <a:tr h="595266">
                <a:tc>
                  <a:txBody>
                    <a:bodyPr/>
                    <a:lstStyle/>
                    <a:p>
                      <a:r>
                        <a:rPr lang="en-US" sz="1500" b="1"/>
                        <a:t>1. Identify the Problem</a:t>
                      </a:r>
                      <a:endParaRPr lang="en-US" sz="1500"/>
                    </a:p>
                  </a:txBody>
                  <a:tcPr marL="73751" marR="73751" marT="36876" marB="36876" anchor="ctr">
                    <a:lnL>
                      <a:noFill/>
                    </a:lnL>
                    <a:lnR>
                      <a:noFill/>
                    </a:lnR>
                    <a:lnT>
                      <a:noFill/>
                    </a:lnT>
                    <a:lnB>
                      <a:noFill/>
                    </a:lnB>
                  </a:tcPr>
                </a:tc>
                <a:tc>
                  <a:txBody>
                    <a:bodyPr/>
                    <a:lstStyle/>
                    <a:p>
                      <a:r>
                        <a:rPr lang="en-US" sz="1500"/>
                        <a:t>Decide what you want to study.</a:t>
                      </a:r>
                    </a:p>
                  </a:txBody>
                  <a:tcPr marL="73751" marR="73751" marT="36876" marB="36876" anchor="ctr">
                    <a:lnL>
                      <a:noFill/>
                    </a:lnL>
                    <a:lnR>
                      <a:noFill/>
                    </a:lnR>
                    <a:lnT>
                      <a:noFill/>
                    </a:lnT>
                    <a:lnB>
                      <a:noFill/>
                    </a:lnB>
                  </a:tcPr>
                </a:tc>
                <a:tc>
                  <a:txBody>
                    <a:bodyPr/>
                    <a:lstStyle/>
                    <a:p>
                      <a:r>
                        <a:rPr lang="en-US" sz="1500"/>
                        <a:t>“Does changing button color affect click rate?”</a:t>
                      </a:r>
                    </a:p>
                  </a:txBody>
                  <a:tcPr marL="73751" marR="73751" marT="36876" marB="36876" anchor="ctr">
                    <a:lnL>
                      <a:noFill/>
                    </a:lnL>
                    <a:lnR>
                      <a:noFill/>
                    </a:lnR>
                    <a:lnT>
                      <a:noFill/>
                    </a:lnT>
                    <a:lnB>
                      <a:noFill/>
                    </a:lnB>
                  </a:tcPr>
                </a:tc>
              </a:tr>
              <a:tr h="595266">
                <a:tc>
                  <a:txBody>
                    <a:bodyPr/>
                    <a:lstStyle/>
                    <a:p>
                      <a:r>
                        <a:rPr lang="en-US" sz="1500" b="1"/>
                        <a:t>2. Form a Hypothesis</a:t>
                      </a:r>
                      <a:endParaRPr lang="en-US" sz="1500"/>
                    </a:p>
                  </a:txBody>
                  <a:tcPr marL="73751" marR="73751" marT="36876" marB="36876" anchor="ctr">
                    <a:lnL>
                      <a:noFill/>
                    </a:lnL>
                    <a:lnR>
                      <a:noFill/>
                    </a:lnR>
                    <a:lnT>
                      <a:noFill/>
                    </a:lnT>
                    <a:lnB>
                      <a:noFill/>
                    </a:lnB>
                  </a:tcPr>
                </a:tc>
                <a:tc>
                  <a:txBody>
                    <a:bodyPr/>
                    <a:lstStyle/>
                    <a:p>
                      <a:r>
                        <a:rPr lang="en-US" sz="1500"/>
                        <a:t>Make a prediction.</a:t>
                      </a:r>
                    </a:p>
                  </a:txBody>
                  <a:tcPr marL="73751" marR="73751" marT="36876" marB="36876" anchor="ctr">
                    <a:lnL>
                      <a:noFill/>
                    </a:lnL>
                    <a:lnR>
                      <a:noFill/>
                    </a:lnR>
                    <a:lnT>
                      <a:noFill/>
                    </a:lnT>
                    <a:lnB>
                      <a:noFill/>
                    </a:lnB>
                  </a:tcPr>
                </a:tc>
                <a:tc>
                  <a:txBody>
                    <a:bodyPr/>
                    <a:lstStyle/>
                    <a:p>
                      <a:r>
                        <a:rPr lang="en-US" sz="1500"/>
                        <a:t>“A red button will get more clicks than a blue one.”</a:t>
                      </a:r>
                    </a:p>
                  </a:txBody>
                  <a:tcPr marL="73751" marR="73751" marT="36876" marB="36876" anchor="ctr">
                    <a:lnL>
                      <a:noFill/>
                    </a:lnL>
                    <a:lnR>
                      <a:noFill/>
                    </a:lnR>
                    <a:lnT>
                      <a:noFill/>
                    </a:lnT>
                    <a:lnB>
                      <a:noFill/>
                    </a:lnB>
                  </a:tcPr>
                </a:tc>
              </a:tr>
              <a:tr h="1107847">
                <a:tc>
                  <a:txBody>
                    <a:bodyPr/>
                    <a:lstStyle/>
                    <a:p>
                      <a:r>
                        <a:rPr lang="en-US" sz="1500" b="1" dirty="0"/>
                        <a:t>3. Select Variables</a:t>
                      </a:r>
                      <a:endParaRPr lang="en-US" sz="1500" dirty="0"/>
                    </a:p>
                  </a:txBody>
                  <a:tcPr marL="73751" marR="73751" marT="36876" marB="36876" anchor="ctr">
                    <a:lnL>
                      <a:noFill/>
                    </a:lnL>
                    <a:lnR>
                      <a:noFill/>
                    </a:lnR>
                    <a:lnT>
                      <a:noFill/>
                    </a:lnT>
                    <a:lnB>
                      <a:noFill/>
                    </a:lnB>
                  </a:tcPr>
                </a:tc>
                <a:tc>
                  <a:txBody>
                    <a:bodyPr/>
                    <a:lstStyle/>
                    <a:p>
                      <a:r>
                        <a:rPr lang="en-US" sz="1500"/>
                        <a:t>- IV: what you change</a:t>
                      </a:r>
                      <a:br>
                        <a:rPr lang="en-US" sz="1500"/>
                      </a:br>
                      <a:r>
                        <a:rPr lang="en-US" sz="1500"/>
                        <a:t>- DV: what you measure</a:t>
                      </a:r>
                      <a:br>
                        <a:rPr lang="en-US" sz="1500"/>
                      </a:br>
                      <a:r>
                        <a:rPr lang="en-US" sz="1500"/>
                        <a:t>- Controls: what you keep constant</a:t>
                      </a:r>
                    </a:p>
                  </a:txBody>
                  <a:tcPr marL="73751" marR="73751" marT="36876" marB="36876" anchor="ctr">
                    <a:lnL>
                      <a:noFill/>
                    </a:lnL>
                    <a:lnR>
                      <a:noFill/>
                    </a:lnR>
                    <a:lnT>
                      <a:noFill/>
                    </a:lnT>
                    <a:lnB>
                      <a:noFill/>
                    </a:lnB>
                  </a:tcPr>
                </a:tc>
                <a:tc>
                  <a:txBody>
                    <a:bodyPr/>
                    <a:lstStyle/>
                    <a:p>
                      <a:r>
                        <a:rPr lang="en-US" sz="1500"/>
                        <a:t>- IV: Button color</a:t>
                      </a:r>
                      <a:br>
                        <a:rPr lang="en-US" sz="1500"/>
                      </a:br>
                      <a:r>
                        <a:rPr lang="en-US" sz="1500"/>
                        <a:t>- DV: Number of clicks</a:t>
                      </a:r>
                      <a:br>
                        <a:rPr lang="en-US" sz="1500"/>
                      </a:br>
                      <a:r>
                        <a:rPr lang="en-US" sz="1500"/>
                        <a:t>- Controls: Same text, position, size</a:t>
                      </a:r>
                    </a:p>
                  </a:txBody>
                  <a:tcPr marL="73751" marR="73751" marT="36876" marB="36876" anchor="ctr">
                    <a:lnL>
                      <a:noFill/>
                    </a:lnL>
                    <a:lnR>
                      <a:noFill/>
                    </a:lnR>
                    <a:lnT>
                      <a:noFill/>
                    </a:lnT>
                    <a:lnB>
                      <a:noFill/>
                    </a:lnB>
                  </a:tcPr>
                </a:tc>
              </a:tr>
              <a:tr h="851556">
                <a:tc>
                  <a:txBody>
                    <a:bodyPr/>
                    <a:lstStyle/>
                    <a:p>
                      <a:r>
                        <a:rPr lang="en-US" sz="1500" b="1"/>
                        <a:t>4. Choose Participants</a:t>
                      </a:r>
                      <a:endParaRPr lang="en-US" sz="1500"/>
                    </a:p>
                  </a:txBody>
                  <a:tcPr marL="73751" marR="73751" marT="36876" marB="36876" anchor="ctr">
                    <a:lnL>
                      <a:noFill/>
                    </a:lnL>
                    <a:lnR>
                      <a:noFill/>
                    </a:lnR>
                    <a:lnT>
                      <a:noFill/>
                    </a:lnT>
                    <a:lnB>
                      <a:noFill/>
                    </a:lnB>
                  </a:tcPr>
                </a:tc>
                <a:tc>
                  <a:txBody>
                    <a:bodyPr/>
                    <a:lstStyle/>
                    <a:p>
                      <a:r>
                        <a:rPr lang="en-US" sz="1500"/>
                        <a:t>Select and randomly assign people to groups.</a:t>
                      </a:r>
                    </a:p>
                  </a:txBody>
                  <a:tcPr marL="73751" marR="73751" marT="36876" marB="36876" anchor="ctr">
                    <a:lnL>
                      <a:noFill/>
                    </a:lnL>
                    <a:lnR>
                      <a:noFill/>
                    </a:lnR>
                    <a:lnT>
                      <a:noFill/>
                    </a:lnT>
                    <a:lnB>
                      <a:noFill/>
                    </a:lnB>
                  </a:tcPr>
                </a:tc>
                <a:tc>
                  <a:txBody>
                    <a:bodyPr/>
                    <a:lstStyle/>
                    <a:p>
                      <a:r>
                        <a:rPr lang="en-US" sz="1500"/>
                        <a:t>Split users randomly into two groups (Group A sees red button, Group B sees blue).</a:t>
                      </a:r>
                    </a:p>
                  </a:txBody>
                  <a:tcPr marL="73751" marR="73751" marT="36876" marB="36876" anchor="ctr">
                    <a:lnL>
                      <a:noFill/>
                    </a:lnL>
                    <a:lnR>
                      <a:noFill/>
                    </a:lnR>
                    <a:lnT>
                      <a:noFill/>
                    </a:lnT>
                    <a:lnB>
                      <a:noFill/>
                    </a:lnB>
                  </a:tcPr>
                </a:tc>
              </a:tr>
              <a:tr h="595266">
                <a:tc>
                  <a:txBody>
                    <a:bodyPr/>
                    <a:lstStyle/>
                    <a:p>
                      <a:r>
                        <a:rPr lang="en-US" sz="1500" b="1"/>
                        <a:t>5. Conduct the Experiment</a:t>
                      </a:r>
                      <a:endParaRPr lang="en-US" sz="1500"/>
                    </a:p>
                  </a:txBody>
                  <a:tcPr marL="73751" marR="73751" marT="36876" marB="36876" anchor="ctr">
                    <a:lnL>
                      <a:noFill/>
                    </a:lnL>
                    <a:lnR>
                      <a:noFill/>
                    </a:lnR>
                    <a:lnT>
                      <a:noFill/>
                    </a:lnT>
                    <a:lnB>
                      <a:noFill/>
                    </a:lnB>
                  </a:tcPr>
                </a:tc>
                <a:tc>
                  <a:txBody>
                    <a:bodyPr/>
                    <a:lstStyle/>
                    <a:p>
                      <a:r>
                        <a:rPr lang="en-US" sz="1500"/>
                        <a:t>Give each group the conditions and collect data.</a:t>
                      </a:r>
                    </a:p>
                  </a:txBody>
                  <a:tcPr marL="73751" marR="73751" marT="36876" marB="36876" anchor="ctr">
                    <a:lnL>
                      <a:noFill/>
                    </a:lnL>
                    <a:lnR>
                      <a:noFill/>
                    </a:lnR>
                    <a:lnT>
                      <a:noFill/>
                    </a:lnT>
                    <a:lnB>
                      <a:noFill/>
                    </a:lnB>
                  </a:tcPr>
                </a:tc>
                <a:tc>
                  <a:txBody>
                    <a:bodyPr/>
                    <a:lstStyle/>
                    <a:p>
                      <a:r>
                        <a:rPr lang="en-US" sz="1500"/>
                        <a:t>Users interact with the website for 10 minutes.</a:t>
                      </a:r>
                    </a:p>
                  </a:txBody>
                  <a:tcPr marL="73751" marR="73751" marT="36876" marB="36876" anchor="ctr">
                    <a:lnL>
                      <a:noFill/>
                    </a:lnL>
                    <a:lnR>
                      <a:noFill/>
                    </a:lnR>
                    <a:lnT>
                      <a:noFill/>
                    </a:lnT>
                    <a:lnB>
                      <a:noFill/>
                    </a:lnB>
                  </a:tcPr>
                </a:tc>
              </a:tr>
              <a:tr h="595266">
                <a:tc>
                  <a:txBody>
                    <a:bodyPr/>
                    <a:lstStyle/>
                    <a:p>
                      <a:r>
                        <a:rPr lang="en-US" sz="1500" b="1"/>
                        <a:t>6. Analyze the Data</a:t>
                      </a:r>
                      <a:endParaRPr lang="en-US" sz="1500"/>
                    </a:p>
                  </a:txBody>
                  <a:tcPr marL="73751" marR="73751" marT="36876" marB="36876" anchor="ctr">
                    <a:lnL>
                      <a:noFill/>
                    </a:lnL>
                    <a:lnR>
                      <a:noFill/>
                    </a:lnR>
                    <a:lnT>
                      <a:noFill/>
                    </a:lnT>
                    <a:lnB>
                      <a:noFill/>
                    </a:lnB>
                  </a:tcPr>
                </a:tc>
                <a:tc>
                  <a:txBody>
                    <a:bodyPr/>
                    <a:lstStyle/>
                    <a:p>
                      <a:r>
                        <a:rPr lang="en-US" sz="1500"/>
                        <a:t>Compare results to see if the change made a difference.</a:t>
                      </a:r>
                    </a:p>
                  </a:txBody>
                  <a:tcPr marL="73751" marR="73751" marT="36876" marB="36876" anchor="ctr">
                    <a:lnL>
                      <a:noFill/>
                    </a:lnL>
                    <a:lnR>
                      <a:noFill/>
                    </a:lnR>
                    <a:lnT>
                      <a:noFill/>
                    </a:lnT>
                    <a:lnB>
                      <a:noFill/>
                    </a:lnB>
                  </a:tcPr>
                </a:tc>
                <a:tc>
                  <a:txBody>
                    <a:bodyPr/>
                    <a:lstStyle/>
                    <a:p>
                      <a:r>
                        <a:rPr lang="en-US" sz="1500"/>
                        <a:t>Count how many times each button was clicked.</a:t>
                      </a:r>
                    </a:p>
                  </a:txBody>
                  <a:tcPr marL="73751" marR="73751" marT="36876" marB="36876" anchor="ctr">
                    <a:lnL>
                      <a:noFill/>
                    </a:lnL>
                    <a:lnR>
                      <a:noFill/>
                    </a:lnR>
                    <a:lnT>
                      <a:noFill/>
                    </a:lnT>
                    <a:lnB>
                      <a:noFill/>
                    </a:lnB>
                  </a:tcPr>
                </a:tc>
              </a:tr>
              <a:tr h="595266">
                <a:tc>
                  <a:txBody>
                    <a:bodyPr/>
                    <a:lstStyle/>
                    <a:p>
                      <a:r>
                        <a:rPr lang="en-US" sz="1500" b="1"/>
                        <a:t>7. Draw Conclusions</a:t>
                      </a:r>
                      <a:endParaRPr lang="en-US" sz="1500"/>
                    </a:p>
                  </a:txBody>
                  <a:tcPr marL="73751" marR="73751" marT="36876" marB="36876" anchor="ctr">
                    <a:lnL>
                      <a:noFill/>
                    </a:lnL>
                    <a:lnR>
                      <a:noFill/>
                    </a:lnR>
                    <a:lnT>
                      <a:noFill/>
                    </a:lnT>
                    <a:lnB>
                      <a:noFill/>
                    </a:lnB>
                  </a:tcPr>
                </a:tc>
                <a:tc>
                  <a:txBody>
                    <a:bodyPr/>
                    <a:lstStyle/>
                    <a:p>
                      <a:r>
                        <a:rPr lang="en-US" sz="1500"/>
                        <a:t>Accept or reject the hypothesis.</a:t>
                      </a:r>
                    </a:p>
                  </a:txBody>
                  <a:tcPr marL="73751" marR="73751" marT="36876" marB="36876" anchor="ctr">
                    <a:lnL>
                      <a:noFill/>
                    </a:lnL>
                    <a:lnR>
                      <a:noFill/>
                    </a:lnR>
                    <a:lnT>
                      <a:noFill/>
                    </a:lnT>
                    <a:lnB>
                      <a:noFill/>
                    </a:lnB>
                  </a:tcPr>
                </a:tc>
                <a:tc>
                  <a:txBody>
                    <a:bodyPr/>
                    <a:lstStyle/>
                    <a:p>
                      <a:r>
                        <a:rPr lang="en-US" sz="1500" dirty="0"/>
                        <a:t>If red got more clicks, color affects user behavior.</a:t>
                      </a:r>
                    </a:p>
                  </a:txBody>
                  <a:tcPr marL="73751" marR="73751" marT="36876" marB="36876" anchor="ctr">
                    <a:lnL>
                      <a:noFill/>
                    </a:lnL>
                    <a:lnR>
                      <a:noFill/>
                    </a:lnR>
                    <a:lnT>
                      <a:noFill/>
                    </a:lnT>
                    <a:lnB>
                      <a:noFill/>
                    </a:lnB>
                  </a:tcPr>
                </a:tc>
              </a:tr>
            </a:tbl>
          </a:graphicData>
        </a:graphic>
      </p:graphicFrame>
    </p:spTree>
    <p:extLst>
      <p:ext uri="{BB962C8B-B14F-4D97-AF65-F5344CB8AC3E}">
        <p14:creationId xmlns:p14="http://schemas.microsoft.com/office/powerpoint/2010/main" val="441733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Experimental Research</a:t>
            </a:r>
          </a:p>
        </p:txBody>
      </p:sp>
      <p:pic>
        <p:nvPicPr>
          <p:cNvPr id="6" name="Picture 5"/>
          <p:cNvPicPr>
            <a:picLocks noChangeAspect="1"/>
          </p:cNvPicPr>
          <p:nvPr/>
        </p:nvPicPr>
        <p:blipFill>
          <a:blip r:embed="rId2"/>
          <a:stretch>
            <a:fillRect/>
          </a:stretch>
        </p:blipFill>
        <p:spPr>
          <a:xfrm>
            <a:off x="609600" y="1307592"/>
            <a:ext cx="10485356" cy="4846320"/>
          </a:xfrm>
          <a:prstGeom prst="rect">
            <a:avLst/>
          </a:prstGeom>
        </p:spPr>
      </p:pic>
    </p:spTree>
    <p:extLst>
      <p:ext uri="{BB962C8B-B14F-4D97-AF65-F5344CB8AC3E}">
        <p14:creationId xmlns:p14="http://schemas.microsoft.com/office/powerpoint/2010/main" val="3964765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t>
            </a:r>
            <a:r>
              <a:rPr lang="en-US" dirty="0"/>
              <a:t>Why It’s Important (Especially for CS Students)</a:t>
            </a:r>
            <a:br>
              <a:rPr lang="en-US" dirty="0"/>
            </a:br>
            <a:endParaRPr lang="en-US" dirty="0"/>
          </a:p>
        </p:txBody>
      </p:sp>
      <p:sp>
        <p:nvSpPr>
          <p:cNvPr id="4" name="Text Placeholder 3"/>
          <p:cNvSpPr>
            <a:spLocks noGrp="1"/>
          </p:cNvSpPr>
          <p:nvPr>
            <p:ph type="body" sz="quarter" idx="14"/>
          </p:nvPr>
        </p:nvSpPr>
        <p:spPr>
          <a:xfrm>
            <a:off x="609600" y="1399032"/>
            <a:ext cx="10750549" cy="4611332"/>
          </a:xfrm>
        </p:spPr>
        <p:txBody>
          <a:bodyPr/>
          <a:lstStyle/>
          <a:p>
            <a:r>
              <a:rPr lang="en-US" sz="2000" dirty="0" smtClean="0"/>
              <a:t>Helps </a:t>
            </a:r>
            <a:r>
              <a:rPr lang="en-US" sz="2000" dirty="0"/>
              <a:t>test software, interfaces, or algorithms scientifically</a:t>
            </a:r>
          </a:p>
          <a:p>
            <a:r>
              <a:rPr lang="en-US" sz="2000" dirty="0"/>
              <a:t>Useful in user experience (UX) design, A/B testing, and AI evaluation</a:t>
            </a:r>
          </a:p>
          <a:p>
            <a:r>
              <a:rPr lang="en-US" sz="2000" dirty="0"/>
              <a:t>Encourages evidence-based decision-making instead of guessing</a:t>
            </a:r>
          </a:p>
          <a:p>
            <a:r>
              <a:rPr lang="en-US" sz="2000" dirty="0"/>
              <a:t>Builds skills in data analysis and critical thinking</a:t>
            </a:r>
          </a:p>
          <a:p>
            <a:endParaRPr lang="en-US" dirty="0"/>
          </a:p>
        </p:txBody>
      </p:sp>
    </p:spTree>
    <p:extLst>
      <p:ext uri="{BB962C8B-B14F-4D97-AF65-F5344CB8AC3E}">
        <p14:creationId xmlns:p14="http://schemas.microsoft.com/office/powerpoint/2010/main" val="2673893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Ethics in Research </a:t>
            </a:r>
            <a:endParaRPr lang="en-US" dirty="0"/>
          </a:p>
        </p:txBody>
      </p:sp>
      <p:sp>
        <p:nvSpPr>
          <p:cNvPr id="4" name="Text Placeholder 3"/>
          <p:cNvSpPr>
            <a:spLocks noGrp="1"/>
          </p:cNvSpPr>
          <p:nvPr>
            <p:ph type="body" sz="quarter" idx="14"/>
          </p:nvPr>
        </p:nvSpPr>
        <p:spPr>
          <a:xfrm>
            <a:off x="609600" y="1170432"/>
            <a:ext cx="10750549" cy="5349240"/>
          </a:xfrm>
        </p:spPr>
        <p:txBody>
          <a:bodyPr>
            <a:normAutofit fontScale="70000" lnSpcReduction="20000"/>
          </a:bodyPr>
          <a:lstStyle/>
          <a:p>
            <a:pPr marL="0" indent="0">
              <a:buNone/>
            </a:pPr>
            <a:r>
              <a:rPr lang="en-US" sz="3400" b="1" dirty="0" smtClean="0"/>
              <a:t>1. Informed Consent</a:t>
            </a:r>
          </a:p>
          <a:p>
            <a:pPr marL="0" indent="0">
              <a:buNone/>
            </a:pPr>
            <a:r>
              <a:rPr lang="en-US" dirty="0" smtClean="0"/>
              <a:t>This </a:t>
            </a:r>
            <a:r>
              <a:rPr lang="en-US" dirty="0"/>
              <a:t>means participants must be fully informed about the purpose, methods, risks, and benefits of the study or activity before agreeing to take part</a:t>
            </a:r>
            <a:r>
              <a:rPr lang="en-US" dirty="0" smtClean="0"/>
              <a:t>. They </a:t>
            </a:r>
            <a:r>
              <a:rPr lang="en-US" dirty="0"/>
              <a:t>should understand what they are agreeing to and give their consent freely, usually in writing</a:t>
            </a:r>
            <a:r>
              <a:rPr lang="en-US" dirty="0" smtClean="0"/>
              <a:t>.</a:t>
            </a:r>
          </a:p>
          <a:p>
            <a:pPr marL="0" indent="0">
              <a:buNone/>
            </a:pPr>
            <a:r>
              <a:rPr lang="en-US" dirty="0" smtClean="0"/>
              <a:t>Example: Before </a:t>
            </a:r>
            <a:r>
              <a:rPr lang="en-US" dirty="0"/>
              <a:t>joining a medical study, participants are told about possible side effects and what procedures will be done</a:t>
            </a:r>
            <a:r>
              <a:rPr lang="en-US" dirty="0" smtClean="0"/>
              <a:t>.</a:t>
            </a:r>
          </a:p>
          <a:p>
            <a:pPr marL="0" indent="0">
              <a:buNone/>
            </a:pPr>
            <a:r>
              <a:rPr lang="en-US" sz="4000" b="1" dirty="0" smtClean="0"/>
              <a:t>2</a:t>
            </a:r>
            <a:r>
              <a:rPr lang="en-US" sz="4000" b="1" dirty="0"/>
              <a:t>. Voluntary </a:t>
            </a:r>
            <a:r>
              <a:rPr lang="en-US" sz="4000" b="1" dirty="0" smtClean="0"/>
              <a:t>Participation</a:t>
            </a:r>
          </a:p>
          <a:p>
            <a:pPr marL="0" indent="0">
              <a:buNone/>
            </a:pPr>
            <a:r>
              <a:rPr lang="en-US" dirty="0" smtClean="0"/>
              <a:t>Participation </a:t>
            </a:r>
            <a:r>
              <a:rPr lang="en-US" dirty="0"/>
              <a:t>must be completely </a:t>
            </a:r>
            <a:r>
              <a:rPr lang="en-US" dirty="0" smtClean="0"/>
              <a:t>voluntary, </a:t>
            </a:r>
            <a:r>
              <a:rPr lang="en-US" dirty="0"/>
              <a:t>people should not be forced, pressured, or tricked into taking part</a:t>
            </a:r>
            <a:r>
              <a:rPr lang="en-US" dirty="0" smtClean="0"/>
              <a:t>. They </a:t>
            </a:r>
            <a:r>
              <a:rPr lang="en-US" dirty="0"/>
              <a:t>should also have the right to withdraw at any time without any negative consequences</a:t>
            </a:r>
            <a:r>
              <a:rPr lang="en-US" dirty="0" smtClean="0"/>
              <a:t>.</a:t>
            </a:r>
          </a:p>
          <a:p>
            <a:pPr marL="0" indent="0">
              <a:buNone/>
            </a:pPr>
            <a:r>
              <a:rPr lang="en-US" dirty="0" smtClean="0"/>
              <a:t>Example: A </a:t>
            </a:r>
            <a:r>
              <a:rPr lang="en-US" dirty="0"/>
              <a:t>student taking part in a survey should be free to stop answering questions if they feel uncomfortable</a:t>
            </a:r>
            <a:r>
              <a:rPr lang="en-US" dirty="0" smtClean="0"/>
              <a:t>.</a:t>
            </a:r>
          </a:p>
          <a:p>
            <a:pPr marL="0" indent="0">
              <a:buNone/>
            </a:pPr>
            <a:r>
              <a:rPr lang="en-US" sz="4000" b="1" dirty="0" smtClean="0"/>
              <a:t>3</a:t>
            </a:r>
            <a:r>
              <a:rPr lang="en-US" sz="4000" b="1" dirty="0"/>
              <a:t>. Do No </a:t>
            </a:r>
            <a:r>
              <a:rPr lang="en-US" sz="4000" b="1" dirty="0" smtClean="0"/>
              <a:t>Harm</a:t>
            </a:r>
          </a:p>
          <a:p>
            <a:pPr marL="0" indent="0">
              <a:buNone/>
            </a:pPr>
            <a:r>
              <a:rPr lang="en-US" dirty="0" smtClean="0"/>
              <a:t>Researchers </a:t>
            </a:r>
            <a:r>
              <a:rPr lang="en-US" dirty="0"/>
              <a:t>and professionals must ensure that no physical, emotional, or psychological harm comes to participants as a result of the study</a:t>
            </a:r>
            <a:r>
              <a:rPr lang="en-US" dirty="0" smtClean="0"/>
              <a:t>. This </a:t>
            </a:r>
            <a:r>
              <a:rPr lang="en-US" dirty="0"/>
              <a:t>includes avoiding stress, embarrassment, or danger</a:t>
            </a:r>
            <a:r>
              <a:rPr lang="en-US" dirty="0" smtClean="0"/>
              <a:t>.</a:t>
            </a:r>
          </a:p>
          <a:p>
            <a:pPr marL="0" indent="0">
              <a:buNone/>
            </a:pPr>
            <a:r>
              <a:rPr lang="en-US" dirty="0" smtClean="0"/>
              <a:t>Example: If </a:t>
            </a:r>
            <a:r>
              <a:rPr lang="en-US" dirty="0"/>
              <a:t>a study topic could cause emotional distress, researchers should provide support or counseling resources</a:t>
            </a:r>
            <a:r>
              <a:rPr lang="en-US" dirty="0" smtClean="0"/>
              <a:t>.</a:t>
            </a:r>
          </a:p>
        </p:txBody>
      </p:sp>
    </p:spTree>
    <p:extLst>
      <p:ext uri="{BB962C8B-B14F-4D97-AF65-F5344CB8AC3E}">
        <p14:creationId xmlns:p14="http://schemas.microsoft.com/office/powerpoint/2010/main" val="2216445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Ethics in Research </a:t>
            </a:r>
            <a:endParaRPr lang="en-US" dirty="0"/>
          </a:p>
        </p:txBody>
      </p:sp>
      <p:sp>
        <p:nvSpPr>
          <p:cNvPr id="4" name="Text Placeholder 3"/>
          <p:cNvSpPr>
            <a:spLocks noGrp="1"/>
          </p:cNvSpPr>
          <p:nvPr>
            <p:ph type="body" sz="quarter" idx="14"/>
          </p:nvPr>
        </p:nvSpPr>
        <p:spPr>
          <a:xfrm>
            <a:off x="609600" y="1170432"/>
            <a:ext cx="10750549" cy="4839932"/>
          </a:xfrm>
        </p:spPr>
        <p:txBody>
          <a:bodyPr>
            <a:normAutofit fontScale="70000" lnSpcReduction="20000"/>
          </a:bodyPr>
          <a:lstStyle/>
          <a:p>
            <a:pPr marL="0" indent="0">
              <a:buNone/>
            </a:pPr>
            <a:r>
              <a:rPr lang="en-US" sz="4000" b="1" dirty="0" smtClean="0"/>
              <a:t>4. Confidentiality</a:t>
            </a:r>
          </a:p>
          <a:p>
            <a:pPr marL="0" indent="0">
              <a:buNone/>
            </a:pPr>
            <a:r>
              <a:rPr lang="en-US" dirty="0" smtClean="0"/>
              <a:t>This means that personal information shared by participants must be kept private and secure. Only the research team (or authorized people) should have access to identifying information. </a:t>
            </a:r>
          </a:p>
          <a:p>
            <a:pPr marL="0" indent="0">
              <a:buNone/>
            </a:pPr>
            <a:r>
              <a:rPr lang="en-US" dirty="0" smtClean="0"/>
              <a:t>Example: A researcher does not share a participant’s name or responses with anyone outside the study team.</a:t>
            </a:r>
          </a:p>
          <a:p>
            <a:pPr marL="0" indent="0">
              <a:buNone/>
            </a:pPr>
            <a:r>
              <a:rPr lang="en-US" sz="4000" b="1" dirty="0" smtClean="0"/>
              <a:t>5. Anonymity</a:t>
            </a:r>
          </a:p>
          <a:p>
            <a:pPr marL="0" indent="0">
              <a:buNone/>
            </a:pPr>
            <a:r>
              <a:rPr lang="en-US" dirty="0" smtClean="0"/>
              <a:t>Anonymity goes a step further than confidentiality, it means that the researcher does not even know who the participants are. No names or identifying details are collected, so responses cannot be linked to specific people.</a:t>
            </a:r>
          </a:p>
          <a:p>
            <a:pPr marL="0" indent="0">
              <a:buNone/>
            </a:pPr>
            <a:r>
              <a:rPr lang="en-US" dirty="0" smtClean="0"/>
              <a:t>Example: An anonymous online survey where no names or emails are recorded.</a:t>
            </a:r>
          </a:p>
          <a:p>
            <a:pPr marL="0" indent="0">
              <a:buNone/>
            </a:pPr>
            <a:r>
              <a:rPr lang="en-US" sz="4000" b="1" dirty="0" smtClean="0"/>
              <a:t>6. Plagiarism</a:t>
            </a:r>
          </a:p>
          <a:p>
            <a:pPr marL="0" indent="0">
              <a:buNone/>
            </a:pPr>
            <a:r>
              <a:rPr lang="en-US" dirty="0" smtClean="0"/>
              <a:t>Plagiarism means using someone else’s words, ideas, or work without proper acknowledgment and presenting them as your own. It is a serious ethical violation in research, writing, and academics.</a:t>
            </a:r>
          </a:p>
          <a:p>
            <a:pPr marL="0" indent="0">
              <a:buNone/>
            </a:pPr>
            <a:r>
              <a:rPr lang="en-US" dirty="0" smtClean="0"/>
              <a:t>Example: Copying text from a website or another student’s paper without citing the source is plagiarism. To avoid it, you should: Always use quotation marks for direct quotes. Paraphrase ideas in your own words. Provide proper citations and references.</a:t>
            </a:r>
            <a:endParaRPr lang="en-US" dirty="0"/>
          </a:p>
        </p:txBody>
      </p:sp>
    </p:spTree>
    <p:extLst>
      <p:ext uri="{BB962C8B-B14F-4D97-AF65-F5344CB8AC3E}">
        <p14:creationId xmlns:p14="http://schemas.microsoft.com/office/powerpoint/2010/main" val="2121495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1899</Words>
  <Application>Microsoft Office PowerPoint</Application>
  <PresentationFormat>Widescreen</PresentationFormat>
  <Paragraphs>185</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Mangal</vt:lpstr>
      <vt:lpstr>Times New Roman</vt:lpstr>
      <vt:lpstr>Office Theme</vt:lpstr>
      <vt:lpstr>Fundamentals of Psychology</vt:lpstr>
      <vt:lpstr>Why is research important?</vt:lpstr>
      <vt:lpstr>Use of research information</vt:lpstr>
      <vt:lpstr>variables</vt:lpstr>
      <vt:lpstr>Selecting participants</vt:lpstr>
      <vt:lpstr>The scientific method</vt:lpstr>
      <vt:lpstr>2.2 Approaches to research</vt:lpstr>
      <vt:lpstr>Clinical or case studies</vt:lpstr>
      <vt:lpstr>Observational Research</vt:lpstr>
      <vt:lpstr>PowerPoint Presentation</vt:lpstr>
      <vt:lpstr> Naturalistic Observation </vt:lpstr>
      <vt:lpstr>surveys</vt:lpstr>
      <vt:lpstr>Archival research</vt:lpstr>
      <vt:lpstr>Causality: conducting experiments &amp; using the data</vt:lpstr>
      <vt:lpstr>Experimental Research</vt:lpstr>
      <vt:lpstr>PowerPoint Presentation</vt:lpstr>
      <vt:lpstr>Designing an experiment</vt:lpstr>
      <vt:lpstr>Figure 2.16</vt:lpstr>
      <vt:lpstr>Assigning participants to groups: experimental or control</vt:lpstr>
      <vt:lpstr> How Experimental Research Is Done </vt:lpstr>
      <vt:lpstr>Types of Experimental Research</vt:lpstr>
      <vt:lpstr> 💡 Why It’s Important (Especially for CS Students) </vt:lpstr>
      <vt:lpstr>Ethics in Research </vt:lpstr>
      <vt:lpstr>Ethics in Research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Psychology</dc:title>
  <dc:creator>Syeda Sadia Qazi</dc:creator>
  <cp:lastModifiedBy>Syeda Sadia Qazi</cp:lastModifiedBy>
  <cp:revision>7</cp:revision>
  <dcterms:created xsi:type="dcterms:W3CDTF">2023-10-19T16:26:46Z</dcterms:created>
  <dcterms:modified xsi:type="dcterms:W3CDTF">2025-10-13T11:21:10Z</dcterms:modified>
</cp:coreProperties>
</file>