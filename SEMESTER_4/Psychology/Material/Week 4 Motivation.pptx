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2" r:id="rId1"/>
  </p:sldMasterIdLst>
  <p:notesMasterIdLst>
    <p:notesMasterId r:id="rId18"/>
  </p:notesMasterIdLst>
  <p:sldIdLst>
    <p:sldId id="256" r:id="rId2"/>
    <p:sldId id="303" r:id="rId3"/>
    <p:sldId id="312" r:id="rId4"/>
    <p:sldId id="313" r:id="rId5"/>
    <p:sldId id="314" r:id="rId6"/>
    <p:sldId id="259" r:id="rId7"/>
    <p:sldId id="302" r:id="rId8"/>
    <p:sldId id="311" r:id="rId9"/>
    <p:sldId id="304" r:id="rId10"/>
    <p:sldId id="305" r:id="rId11"/>
    <p:sldId id="306" r:id="rId12"/>
    <p:sldId id="307" r:id="rId13"/>
    <p:sldId id="309" r:id="rId14"/>
    <p:sldId id="266" r:id="rId15"/>
    <p:sldId id="265" r:id="rId16"/>
    <p:sldId id="297"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78" autoAdjust="0"/>
    <p:restoredTop sz="93175"/>
  </p:normalViewPr>
  <p:slideViewPr>
    <p:cSldViewPr snapToGrid="0">
      <p:cViewPr varScale="1">
        <p:scale>
          <a:sx n="82" d="100"/>
          <a:sy n="82" d="100"/>
        </p:scale>
        <p:origin x="682"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593874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3199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4466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281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25764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88356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609600" y="6172201"/>
            <a:ext cx="4572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609600" y="6492876"/>
            <a:ext cx="4572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p:nvPr/>
        </p:nvSpPr>
        <p:spPr>
          <a:xfrm>
            <a:off x="0" y="789677"/>
            <a:ext cx="12192000" cy="70915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6CB255"/>
              </a:buClr>
              <a:buSzPts val="3500"/>
              <a:buFont typeface="Arial Black"/>
              <a:buNone/>
            </a:pPr>
            <a:r>
              <a:rPr lang="en-US" sz="3500" b="0" i="0" u="none" strike="noStrike" cap="none">
                <a:solidFill>
                  <a:srgbClr val="6CB255"/>
                </a:solidFill>
                <a:latin typeface="Arial Black"/>
                <a:ea typeface="Arial Black"/>
                <a:cs typeface="Arial Black"/>
                <a:sym typeface="Arial Black"/>
              </a:rPr>
              <a:t>COLLEGE PHYSICS</a:t>
            </a:r>
            <a:endParaRPr sz="1400"/>
          </a:p>
          <a:p>
            <a:pPr marL="0" marR="0" lvl="0" indent="0" algn="ctr" rtl="0">
              <a:spcBef>
                <a:spcPts val="0"/>
              </a:spcBef>
              <a:spcAft>
                <a:spcPts val="0"/>
              </a:spcAft>
              <a:buClr>
                <a:srgbClr val="6CB255"/>
              </a:buClr>
              <a:buSzPts val="1800"/>
              <a:buFont typeface="Arial Black"/>
              <a:buNone/>
            </a:pPr>
            <a:endParaRPr sz="1800" b="0" i="0" u="none" strike="noStrike" cap="none">
              <a:solidFill>
                <a:srgbClr val="EAF1DD"/>
              </a:solidFill>
              <a:latin typeface="Arial"/>
              <a:ea typeface="Arial"/>
              <a:cs typeface="Arial"/>
              <a:sym typeface="Arial"/>
            </a:endParaRPr>
          </a:p>
          <a:p>
            <a:pPr marL="0" marR="0" lvl="0" indent="0" algn="ctr" rtl="0">
              <a:spcBef>
                <a:spcPts val="0"/>
              </a:spcBef>
              <a:spcAft>
                <a:spcPts val="0"/>
              </a:spcAft>
              <a:buClr>
                <a:srgbClr val="212F62"/>
              </a:buClr>
              <a:buSzPts val="2000"/>
              <a:buFont typeface="Arial"/>
              <a:buNone/>
            </a:pPr>
            <a:r>
              <a:rPr lang="en-US" sz="2000" b="1" i="0" u="none" strike="noStrike" cap="none">
                <a:solidFill>
                  <a:srgbClr val="212F62"/>
                </a:solidFill>
                <a:latin typeface="Arial"/>
                <a:ea typeface="Arial"/>
                <a:cs typeface="Arial"/>
                <a:sym typeface="Arial"/>
              </a:rPr>
              <a:t>Chapter # Chapter Title</a:t>
            </a:r>
            <a:endParaRPr sz="1400"/>
          </a:p>
          <a:p>
            <a:pPr marL="0" marR="0" lvl="0" indent="0" algn="ctr" rtl="0">
              <a:spcBef>
                <a:spcPts val="0"/>
              </a:spcBef>
              <a:spcAft>
                <a:spcPts val="0"/>
              </a:spcAft>
              <a:buClr>
                <a:schemeClr val="dk1"/>
              </a:buClr>
              <a:buSzPts val="1600"/>
              <a:buFont typeface="Arial"/>
              <a:buNone/>
            </a:pPr>
            <a:r>
              <a:rPr lang="en-US" sz="1600" b="0" i="0" u="none" strike="noStrike" cap="none">
                <a:solidFill>
                  <a:schemeClr val="dk1"/>
                </a:solidFill>
                <a:latin typeface="Arial"/>
                <a:ea typeface="Arial"/>
                <a:cs typeface="Arial"/>
                <a:sym typeface="Arial"/>
              </a:rPr>
              <a:t>PowerPoint Image Slideshow</a:t>
            </a:r>
            <a:endParaRPr sz="1600" b="0" i="0" u="none" strike="noStrike" cap="none">
              <a:solidFill>
                <a:schemeClr val="dk1"/>
              </a:solidFill>
              <a:latin typeface="Arial"/>
              <a:ea typeface="Arial"/>
              <a:cs typeface="Arial"/>
              <a:sym typeface="Arial"/>
            </a:endParaRPr>
          </a:p>
        </p:txBody>
      </p:sp>
      <p:pic>
        <p:nvPicPr>
          <p:cNvPr id="19" name="Google Shape;19;p2" descr="medium_covers_Page_2.png"/>
          <p:cNvPicPr preferRelativeResize="0"/>
          <p:nvPr/>
        </p:nvPicPr>
        <p:blipFill rotWithShape="1">
          <a:blip r:embed="rId2">
            <a:alphaModFix/>
          </a:blip>
          <a:srcRect/>
          <a:stretch/>
        </p:blipFill>
        <p:spPr>
          <a:xfrm>
            <a:off x="4750344" y="2517424"/>
            <a:ext cx="2680909" cy="2603836"/>
          </a:xfrm>
          <a:prstGeom prst="rect">
            <a:avLst/>
          </a:prstGeom>
          <a:noFill/>
          <a:ln>
            <a:noFill/>
          </a:ln>
          <a:effectLst>
            <a:reflection stA="52000" endA="300" endPos="35000" sy="-100000" algn="bl" rotWithShape="0"/>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p:cSld name="Title and Content">
    <p:spTree>
      <p:nvGrpSpPr>
        <p:cNvPr id="1" name="Shape 20"/>
        <p:cNvGrpSpPr/>
        <p:nvPr/>
      </p:nvGrpSpPr>
      <p:grpSpPr>
        <a:xfrm>
          <a:off x="0" y="0"/>
          <a:ext cx="0" cy="0"/>
          <a:chOff x="0" y="0"/>
          <a:chExt cx="0" cy="0"/>
        </a:xfrm>
      </p:grpSpPr>
      <p:sp>
        <p:nvSpPr>
          <p:cNvPr id="21" name="Google Shape;21;p3"/>
          <p:cNvSpPr txBox="1">
            <a:spLocks noGrp="1"/>
          </p:cNvSpPr>
          <p:nvPr>
            <p:ph type="dt" idx="10"/>
          </p:nvPr>
        </p:nvSpPr>
        <p:spPr>
          <a:xfrm>
            <a:off x="609600" y="6172201"/>
            <a:ext cx="4572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ftr" idx="11"/>
          </p:nvPr>
        </p:nvSpPr>
        <p:spPr>
          <a:xfrm>
            <a:off x="609600" y="6492876"/>
            <a:ext cx="4572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rot="-5400000">
            <a:off x="10945706" y="623041"/>
            <a:ext cx="1315721"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
        <p:nvSpPr>
          <p:cNvPr id="24" name="Google Shape;24;p3"/>
          <p:cNvSpPr txBox="1">
            <a:spLocks noGrp="1"/>
          </p:cNvSpPr>
          <p:nvPr>
            <p:ph type="title"/>
          </p:nvPr>
        </p:nvSpPr>
        <p:spPr>
          <a:xfrm>
            <a:off x="609600" y="241327"/>
            <a:ext cx="10750549" cy="65953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6CB25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
          <p:cNvSpPr>
            <a:spLocks noGrp="1"/>
          </p:cNvSpPr>
          <p:nvPr>
            <p:ph type="pic" idx="2"/>
          </p:nvPr>
        </p:nvSpPr>
        <p:spPr>
          <a:xfrm>
            <a:off x="609599" y="1122387"/>
            <a:ext cx="10750551" cy="3500071"/>
          </a:xfrm>
          <a:prstGeom prst="rect">
            <a:avLst/>
          </a:prstGeom>
          <a:noFill/>
          <a:ln>
            <a:noFill/>
          </a:ln>
        </p:spPr>
        <p:txBody>
          <a:bodyPr spcFirstLastPara="1" wrap="square" lIns="91425" tIns="45700" rIns="91425" bIns="45700" anchor="t" anchorCtr="0">
            <a:noAutofit/>
          </a:bodyPr>
          <a:lstStyle>
            <a:lvl1pPr marR="0" lvl="0" algn="l" rtl="0">
              <a:spcBef>
                <a:spcPts val="400"/>
              </a:spcBef>
              <a:spcAft>
                <a:spcPts val="0"/>
              </a:spcAft>
              <a:buClr>
                <a:srgbClr val="6CB255"/>
              </a:buClr>
              <a:buSzPts val="2000"/>
              <a:buFont typeface="Arial"/>
              <a:buNone/>
              <a:defRPr sz="2000" b="0" i="0" u="none" strike="noStrike" cap="none">
                <a:solidFill>
                  <a:schemeClr val="dk1"/>
                </a:solidFill>
                <a:latin typeface="Arial"/>
                <a:ea typeface="Arial"/>
                <a:cs typeface="Arial"/>
                <a:sym typeface="Arial"/>
              </a:defRPr>
            </a:lvl1pPr>
            <a:lvl2pPr marR="0" lvl="1" algn="l" rtl="0">
              <a:spcBef>
                <a:spcPts val="600"/>
              </a:spcBef>
              <a:spcAft>
                <a:spcPts val="0"/>
              </a:spcAft>
              <a:buClr>
                <a:srgbClr val="6CB255"/>
              </a:buClr>
              <a:buSzPts val="2000"/>
              <a:buFont typeface="Arial"/>
              <a:buChar char="•"/>
              <a:defRPr sz="2000" b="0" i="0" u="none" strike="noStrike" cap="none">
                <a:solidFill>
                  <a:srgbClr val="000000"/>
                </a:solidFill>
                <a:latin typeface="Arial"/>
                <a:ea typeface="Arial"/>
                <a:cs typeface="Arial"/>
                <a:sym typeface="Arial"/>
              </a:defRPr>
            </a:lvl2pPr>
            <a:lvl3pPr marR="0" lvl="2"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3pPr>
            <a:lvl4pPr marR="0" lvl="3"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4pPr>
            <a:lvl5pPr marR="0" lvl="4"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5pPr>
            <a:lvl6pPr marR="0" lvl="5"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6pPr>
            <a:lvl7pPr marR="0" lvl="6"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7pPr>
            <a:lvl8pPr marR="0" lvl="7"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8pPr>
            <a:lvl9pPr marR="0" lvl="8"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6" name="Google Shape;26;p3"/>
          <p:cNvSpPr txBox="1">
            <a:spLocks noGrp="1"/>
          </p:cNvSpPr>
          <p:nvPr>
            <p:ph type="body" idx="1"/>
          </p:nvPr>
        </p:nvSpPr>
        <p:spPr>
          <a:xfrm>
            <a:off x="609600" y="4843982"/>
            <a:ext cx="10750549" cy="1166382"/>
          </a:xfrm>
          <a:prstGeom prst="rect">
            <a:avLst/>
          </a:prstGeom>
          <a:noFill/>
          <a:ln>
            <a:noFill/>
          </a:ln>
        </p:spPr>
        <p:txBody>
          <a:bodyPr spcFirstLastPara="1" wrap="square" lIns="91425" tIns="45700" rIns="91425" bIns="45700" anchor="t" anchorCtr="0">
            <a:noAutofit/>
          </a:bodyPr>
          <a:lstStyle>
            <a:lvl1pPr marL="457200" lvl="0" indent="-228600" algn="l">
              <a:spcBef>
                <a:spcPts val="400"/>
              </a:spcBef>
              <a:spcAft>
                <a:spcPts val="0"/>
              </a:spcAft>
              <a:buClr>
                <a:srgbClr val="6CB255"/>
              </a:buClr>
              <a:buSzPts val="2000"/>
              <a:buNone/>
              <a:defRPr>
                <a:solidFill>
                  <a:srgbClr val="000000"/>
                </a:solidFill>
              </a:defRPr>
            </a:lvl1pPr>
            <a:lvl2pPr marL="914400" lvl="1" indent="-355600" algn="l">
              <a:spcBef>
                <a:spcPts val="600"/>
              </a:spcBef>
              <a:spcAft>
                <a:spcPts val="0"/>
              </a:spcAft>
              <a:buClr>
                <a:srgbClr val="6CB255"/>
              </a:buClr>
              <a:buSzPts val="2000"/>
              <a:buFont typeface="Arial Black"/>
              <a:buAutoNum type="alphaLcParenR"/>
              <a:defRPr>
                <a:solidFill>
                  <a:schemeClr val="dk1"/>
                </a:solidFill>
              </a:defRPr>
            </a:lvl2pPr>
            <a:lvl3pPr marL="1371600" lvl="2" indent="-342900" algn="l">
              <a:spcBef>
                <a:spcPts val="360"/>
              </a:spcBef>
              <a:spcAft>
                <a:spcPts val="0"/>
              </a:spcAft>
              <a:buClr>
                <a:srgbClr val="6CB255"/>
              </a:buClr>
              <a:buSzPts val="1800"/>
              <a:buFont typeface="Arial Black"/>
              <a:buAutoNum type="alphaLcParenR"/>
              <a:defRPr>
                <a:solidFill>
                  <a:schemeClr val="dk1"/>
                </a:solidFill>
              </a:defRPr>
            </a:lvl3pPr>
            <a:lvl4pPr marL="1828800" lvl="3" indent="-342900" algn="l">
              <a:spcBef>
                <a:spcPts val="360"/>
              </a:spcBef>
              <a:spcAft>
                <a:spcPts val="0"/>
              </a:spcAft>
              <a:buClr>
                <a:srgbClr val="6CB255"/>
              </a:buClr>
              <a:buSzPts val="1800"/>
              <a:buFont typeface="Arial Black"/>
              <a:buAutoNum type="alphaLcParenR"/>
              <a:defRPr>
                <a:solidFill>
                  <a:schemeClr val="dk1"/>
                </a:solidFill>
              </a:defRPr>
            </a:lvl4pPr>
            <a:lvl5pPr marL="2286000" lvl="4" indent="-342900" algn="l">
              <a:spcBef>
                <a:spcPts val="360"/>
              </a:spcBef>
              <a:spcAft>
                <a:spcPts val="0"/>
              </a:spcAft>
              <a:buClr>
                <a:srgbClr val="6CB255"/>
              </a:buClr>
              <a:buSzPts val="1800"/>
              <a:buFont typeface="Arial Black"/>
              <a:buAutoNum type="alphaLcParenR"/>
              <a:defRPr>
                <a:solidFill>
                  <a:schemeClr val="dk1"/>
                </a:solidFill>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wo Content">
  <p:cSld name="Two Content">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609600" y="241327"/>
            <a:ext cx="10750549" cy="65953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6CB25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dt" idx="10"/>
          </p:nvPr>
        </p:nvSpPr>
        <p:spPr>
          <a:xfrm>
            <a:off x="609600" y="6172201"/>
            <a:ext cx="4572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609600" y="6492876"/>
            <a:ext cx="4572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rot="-5400000">
            <a:off x="10945706" y="623041"/>
            <a:ext cx="1315721"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
        <p:nvSpPr>
          <p:cNvPr id="32" name="Google Shape;32;p4"/>
          <p:cNvSpPr>
            <a:spLocks noGrp="1"/>
          </p:cNvSpPr>
          <p:nvPr>
            <p:ph type="pic" idx="2"/>
          </p:nvPr>
        </p:nvSpPr>
        <p:spPr>
          <a:xfrm>
            <a:off x="609599" y="1107619"/>
            <a:ext cx="5375492" cy="4607689"/>
          </a:xfrm>
          <a:prstGeom prst="rect">
            <a:avLst/>
          </a:prstGeom>
          <a:noFill/>
          <a:ln>
            <a:noFill/>
          </a:ln>
        </p:spPr>
        <p:txBody>
          <a:bodyPr spcFirstLastPara="1" wrap="square" lIns="91425" tIns="45700" rIns="91425" bIns="45700" anchor="t" anchorCtr="0">
            <a:noAutofit/>
          </a:bodyPr>
          <a:lstStyle>
            <a:lvl1pPr marR="0" lvl="0" algn="l" rtl="0">
              <a:spcBef>
                <a:spcPts val="400"/>
              </a:spcBef>
              <a:spcAft>
                <a:spcPts val="0"/>
              </a:spcAft>
              <a:buClr>
                <a:srgbClr val="6CB255"/>
              </a:buClr>
              <a:buSzPts val="2000"/>
              <a:buFont typeface="Arial"/>
              <a:buNone/>
              <a:defRPr sz="2000" b="0" i="0" u="none" strike="noStrike" cap="none">
                <a:solidFill>
                  <a:schemeClr val="dk1"/>
                </a:solidFill>
                <a:latin typeface="Arial"/>
                <a:ea typeface="Arial"/>
                <a:cs typeface="Arial"/>
                <a:sym typeface="Arial"/>
              </a:defRPr>
            </a:lvl1pPr>
            <a:lvl2pPr marR="0" lvl="1" algn="l" rtl="0">
              <a:spcBef>
                <a:spcPts val="600"/>
              </a:spcBef>
              <a:spcAft>
                <a:spcPts val="0"/>
              </a:spcAft>
              <a:buClr>
                <a:srgbClr val="6CB255"/>
              </a:buClr>
              <a:buSzPts val="2000"/>
              <a:buFont typeface="Arial"/>
              <a:buChar char="•"/>
              <a:defRPr sz="2000" b="0" i="0" u="none" strike="noStrike" cap="none">
                <a:solidFill>
                  <a:srgbClr val="000000"/>
                </a:solidFill>
                <a:latin typeface="Arial"/>
                <a:ea typeface="Arial"/>
                <a:cs typeface="Arial"/>
                <a:sym typeface="Arial"/>
              </a:defRPr>
            </a:lvl2pPr>
            <a:lvl3pPr marR="0" lvl="2"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3pPr>
            <a:lvl4pPr marR="0" lvl="3"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4pPr>
            <a:lvl5pPr marR="0" lvl="4"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5pPr>
            <a:lvl6pPr marR="0" lvl="5"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6pPr>
            <a:lvl7pPr marR="0" lvl="6"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7pPr>
            <a:lvl8pPr marR="0" lvl="7"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8pPr>
            <a:lvl9pPr marR="0" lvl="8"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3" name="Google Shape;33;p4"/>
          <p:cNvSpPr txBox="1">
            <a:spLocks noGrp="1"/>
          </p:cNvSpPr>
          <p:nvPr>
            <p:ph type="body" idx="1"/>
          </p:nvPr>
        </p:nvSpPr>
        <p:spPr>
          <a:xfrm>
            <a:off x="6142567" y="1107618"/>
            <a:ext cx="5217584" cy="4607382"/>
          </a:xfrm>
          <a:prstGeom prst="rect">
            <a:avLst/>
          </a:prstGeom>
          <a:noFill/>
          <a:ln>
            <a:noFill/>
          </a:ln>
        </p:spPr>
        <p:txBody>
          <a:bodyPr spcFirstLastPara="1" wrap="square" lIns="91425" tIns="45700" rIns="91425" bIns="45700" anchor="t" anchorCtr="0">
            <a:noAutofit/>
          </a:bodyPr>
          <a:lstStyle>
            <a:lvl1pPr marL="457200" lvl="0" indent="-228600" algn="l">
              <a:spcBef>
                <a:spcPts val="400"/>
              </a:spcBef>
              <a:spcAft>
                <a:spcPts val="0"/>
              </a:spcAft>
              <a:buClr>
                <a:srgbClr val="6CB255"/>
              </a:buClr>
              <a:buSzPts val="2000"/>
              <a:buNone/>
              <a:defRPr>
                <a:solidFill>
                  <a:srgbClr val="212F62"/>
                </a:solidFill>
              </a:defRPr>
            </a:lvl1pPr>
            <a:lvl2pPr marL="914400" lvl="1" indent="-355600" algn="l">
              <a:spcBef>
                <a:spcPts val="600"/>
              </a:spcBef>
              <a:spcAft>
                <a:spcPts val="0"/>
              </a:spcAft>
              <a:buClr>
                <a:srgbClr val="6CB255"/>
              </a:buClr>
              <a:buSzPts val="2000"/>
              <a:buFont typeface="Arial Black"/>
              <a:buAutoNum type="alphaLcParenR"/>
              <a:defRPr>
                <a:solidFill>
                  <a:schemeClr val="dk1"/>
                </a:solidFill>
              </a:defRPr>
            </a:lvl2pPr>
            <a:lvl3pPr marL="1371600" lvl="2" indent="-342900" algn="l">
              <a:spcBef>
                <a:spcPts val="360"/>
              </a:spcBef>
              <a:spcAft>
                <a:spcPts val="0"/>
              </a:spcAft>
              <a:buClr>
                <a:srgbClr val="6CB255"/>
              </a:buClr>
              <a:buSzPts val="1800"/>
              <a:buFont typeface="Arial Black"/>
              <a:buAutoNum type="alphaLcParenR"/>
              <a:defRPr>
                <a:solidFill>
                  <a:schemeClr val="dk1"/>
                </a:solidFill>
              </a:defRPr>
            </a:lvl3pPr>
            <a:lvl4pPr marL="1828800" lvl="3" indent="-342900" algn="l">
              <a:spcBef>
                <a:spcPts val="360"/>
              </a:spcBef>
              <a:spcAft>
                <a:spcPts val="0"/>
              </a:spcAft>
              <a:buClr>
                <a:srgbClr val="6CB255"/>
              </a:buClr>
              <a:buSzPts val="1800"/>
              <a:buFont typeface="Arial Black"/>
              <a:buAutoNum type="alphaLcParenR"/>
              <a:defRPr>
                <a:solidFill>
                  <a:schemeClr val="dk1"/>
                </a:solidFill>
              </a:defRPr>
            </a:lvl4pPr>
            <a:lvl5pPr marL="2286000" lvl="4" indent="-342900" algn="l">
              <a:spcBef>
                <a:spcPts val="360"/>
              </a:spcBef>
              <a:spcAft>
                <a:spcPts val="0"/>
              </a:spcAft>
              <a:buClr>
                <a:srgbClr val="6CB255"/>
              </a:buClr>
              <a:buSzPts val="1800"/>
              <a:buFont typeface="Arial Black"/>
              <a:buAutoNum type="alphaLcParenR"/>
              <a:defRPr>
                <a:solidFill>
                  <a:schemeClr val="dk1"/>
                </a:solidFill>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ontent with Caption">
  <p:cSld name="Content with Caption">
    <p:spTree>
      <p:nvGrpSpPr>
        <p:cNvPr id="1" name="Shape 34"/>
        <p:cNvGrpSpPr/>
        <p:nvPr/>
      </p:nvGrpSpPr>
      <p:grpSpPr>
        <a:xfrm>
          <a:off x="0" y="0"/>
          <a:ext cx="0" cy="0"/>
          <a:chOff x="0" y="0"/>
          <a:chExt cx="0" cy="0"/>
        </a:xfrm>
      </p:grpSpPr>
      <p:sp>
        <p:nvSpPr>
          <p:cNvPr id="35" name="Google Shape;35;p5"/>
          <p:cNvSpPr txBox="1">
            <a:spLocks noGrp="1"/>
          </p:cNvSpPr>
          <p:nvPr>
            <p:ph type="body" idx="1"/>
          </p:nvPr>
        </p:nvSpPr>
        <p:spPr>
          <a:xfrm>
            <a:off x="4766733" y="1600200"/>
            <a:ext cx="6815667" cy="4480560"/>
          </a:xfrm>
          <a:prstGeom prst="rect">
            <a:avLst/>
          </a:prstGeom>
          <a:noFill/>
          <a:ln>
            <a:noFill/>
          </a:ln>
        </p:spPr>
        <p:txBody>
          <a:bodyPr spcFirstLastPara="1" wrap="square" lIns="91425" tIns="45700" rIns="91425" bIns="45700" anchor="t" anchorCtr="0">
            <a:noAutofit/>
          </a:bodyPr>
          <a:lstStyle>
            <a:lvl1pPr marL="457200" lvl="0" indent="-228600" algn="l">
              <a:spcBef>
                <a:spcPts val="640"/>
              </a:spcBef>
              <a:spcAft>
                <a:spcPts val="0"/>
              </a:spcAft>
              <a:buSzPts val="3200"/>
              <a:buNone/>
              <a:defRPr sz="3200"/>
            </a:lvl1pPr>
            <a:lvl2pPr marL="914400" lvl="1" indent="-406400" algn="l">
              <a:spcBef>
                <a:spcPts val="600"/>
              </a:spcBef>
              <a:spcAft>
                <a:spcPts val="0"/>
              </a:spcAft>
              <a:buSzPts val="2800"/>
              <a:buFont typeface="Arial Black"/>
              <a:buAutoNum type="alphaLcParenR"/>
              <a:defRPr sz="2800"/>
            </a:lvl2pPr>
            <a:lvl3pPr marL="1371600" lvl="2" indent="-381000" algn="l">
              <a:spcBef>
                <a:spcPts val="480"/>
              </a:spcBef>
              <a:spcAft>
                <a:spcPts val="0"/>
              </a:spcAft>
              <a:buSzPts val="2400"/>
              <a:buFont typeface="Arial Black"/>
              <a:buAutoNum type="alphaLcParenR"/>
              <a:defRPr sz="2400"/>
            </a:lvl3pPr>
            <a:lvl4pPr marL="1828800" lvl="3" indent="-355600" algn="l">
              <a:spcBef>
                <a:spcPts val="400"/>
              </a:spcBef>
              <a:spcAft>
                <a:spcPts val="0"/>
              </a:spcAft>
              <a:buSzPts val="2000"/>
              <a:buFont typeface="Arial Black"/>
              <a:buAutoNum type="alphaLcParenR"/>
              <a:defRPr sz="2000"/>
            </a:lvl4pPr>
            <a:lvl5pPr marL="2286000" lvl="4" indent="-355600" algn="l">
              <a:spcBef>
                <a:spcPts val="400"/>
              </a:spcBef>
              <a:spcAft>
                <a:spcPts val="0"/>
              </a:spcAft>
              <a:buSzPts val="2000"/>
              <a:buFont typeface="Arial Black"/>
              <a:buAutoNum type="alphaLcParenR"/>
              <a:defRPr sz="2000"/>
            </a:lvl5pPr>
            <a:lvl6pPr marL="2743200" lvl="5" indent="-355600" algn="l">
              <a:spcBef>
                <a:spcPts val="400"/>
              </a:spcBef>
              <a:spcAft>
                <a:spcPts val="0"/>
              </a:spcAft>
              <a:buSzPts val="2000"/>
              <a:buChar char="•"/>
              <a:defRPr sz="2000"/>
            </a:lvl6pPr>
            <a:lvl7pPr marL="3200400" lvl="6" indent="-355600" algn="l">
              <a:spcBef>
                <a:spcPts val="400"/>
              </a:spcBef>
              <a:spcAft>
                <a:spcPts val="0"/>
              </a:spcAft>
              <a:buSzPts val="2000"/>
              <a:buChar char="•"/>
              <a:defRPr sz="2000"/>
            </a:lvl7pPr>
            <a:lvl8pPr marL="3657600" lvl="7" indent="-355600" algn="l">
              <a:spcBef>
                <a:spcPts val="400"/>
              </a:spcBef>
              <a:spcAft>
                <a:spcPts val="0"/>
              </a:spcAft>
              <a:buSzPts val="2000"/>
              <a:buChar char="•"/>
              <a:defRPr sz="2000"/>
            </a:lvl8pPr>
            <a:lvl9pPr marL="4114800" lvl="8" indent="-355600" algn="l">
              <a:spcBef>
                <a:spcPts val="400"/>
              </a:spcBef>
              <a:spcAft>
                <a:spcPts val="0"/>
              </a:spcAft>
              <a:buSzPts val="2000"/>
              <a:buChar char="•"/>
              <a:defRPr sz="2000"/>
            </a:lvl9pPr>
          </a:lstStyle>
          <a:p>
            <a:endParaRPr/>
          </a:p>
        </p:txBody>
      </p:sp>
      <p:sp>
        <p:nvSpPr>
          <p:cNvPr id="36" name="Google Shape;36;p5"/>
          <p:cNvSpPr txBox="1">
            <a:spLocks noGrp="1"/>
          </p:cNvSpPr>
          <p:nvPr>
            <p:ph type="body" idx="2"/>
          </p:nvPr>
        </p:nvSpPr>
        <p:spPr>
          <a:xfrm>
            <a:off x="609601" y="1600200"/>
            <a:ext cx="4011084" cy="448056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SzPts val="1600"/>
              <a:buNone/>
              <a:defRPr sz="1600"/>
            </a:lvl1pPr>
            <a:lvl2pPr marL="914400" lvl="1" indent="-228600" algn="l">
              <a:spcBef>
                <a:spcPts val="60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37" name="Google Shape;37;p5"/>
          <p:cNvSpPr txBox="1">
            <a:spLocks noGrp="1"/>
          </p:cNvSpPr>
          <p:nvPr>
            <p:ph type="dt" idx="10"/>
          </p:nvPr>
        </p:nvSpPr>
        <p:spPr>
          <a:xfrm>
            <a:off x="609600" y="6172201"/>
            <a:ext cx="4572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609600" y="6492876"/>
            <a:ext cx="4572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rot="-5400000">
            <a:off x="10945706" y="623041"/>
            <a:ext cx="1315721"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
        <p:nvSpPr>
          <p:cNvPr id="40" name="Google Shape;40;p5"/>
          <p:cNvSpPr txBox="1">
            <a:spLocks noGrp="1"/>
          </p:cNvSpPr>
          <p:nvPr>
            <p:ph type="title"/>
          </p:nvPr>
        </p:nvSpPr>
        <p:spPr>
          <a:xfrm>
            <a:off x="609600" y="241327"/>
            <a:ext cx="10750549" cy="65953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6CB25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09600" y="152718"/>
            <a:ext cx="7721600" cy="13716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6CB255"/>
              </a:buClr>
              <a:buSzPts val="2400"/>
              <a:buFont typeface="Arial Black"/>
              <a:buNone/>
              <a:defRPr sz="2400" b="0" i="0" u="none" strike="noStrike" cap="none">
                <a:solidFill>
                  <a:srgbClr val="6CB255"/>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09600" y="1752601"/>
            <a:ext cx="10160000" cy="43735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00"/>
              </a:spcBef>
              <a:spcAft>
                <a:spcPts val="0"/>
              </a:spcAft>
              <a:buClr>
                <a:srgbClr val="6CB255"/>
              </a:buClr>
              <a:buSzPts val="2000"/>
              <a:buFont typeface="Arial"/>
              <a:buNone/>
              <a:defRPr sz="2000" b="0" i="0" u="none" strike="noStrike" cap="none">
                <a:solidFill>
                  <a:schemeClr val="dk1"/>
                </a:solidFill>
                <a:latin typeface="Arial"/>
                <a:ea typeface="Arial"/>
                <a:cs typeface="Arial"/>
                <a:sym typeface="Arial"/>
              </a:defRPr>
            </a:lvl1pPr>
            <a:lvl2pPr marL="914400" marR="0" lvl="1" indent="-355600" algn="l" rtl="0">
              <a:spcBef>
                <a:spcPts val="600"/>
              </a:spcBef>
              <a:spcAft>
                <a:spcPts val="0"/>
              </a:spcAft>
              <a:buClr>
                <a:srgbClr val="6CB255"/>
              </a:buClr>
              <a:buSzPts val="2000"/>
              <a:buFont typeface="Arial"/>
              <a:buChar char="•"/>
              <a:defRPr sz="2000" b="0" i="0" u="none" strike="noStrike" cap="none">
                <a:solidFill>
                  <a:srgbClr val="000000"/>
                </a:solidFill>
                <a:latin typeface="Arial"/>
                <a:ea typeface="Arial"/>
                <a:cs typeface="Arial"/>
                <a:sym typeface="Arial"/>
              </a:defRPr>
            </a:lvl2pPr>
            <a:lvl3pPr marL="1371600" marR="0" lvl="2" indent="-342900"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3pPr>
            <a:lvl4pPr marL="1828800" marR="0" lvl="3" indent="-342900"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4pPr>
            <a:lvl5pPr marL="2286000" marR="0" lvl="4" indent="-342900" algn="l" rtl="0">
              <a:spcBef>
                <a:spcPts val="360"/>
              </a:spcBef>
              <a:spcAft>
                <a:spcPts val="0"/>
              </a:spcAft>
              <a:buClr>
                <a:srgbClr val="6CB255"/>
              </a:buClr>
              <a:buSzPts val="1800"/>
              <a:buFont typeface="Arial"/>
              <a:buChar char="•"/>
              <a:defRPr sz="1800" b="0" i="0" u="none" strike="noStrike" cap="none">
                <a:solidFill>
                  <a:srgbClr val="000000"/>
                </a:solidFill>
                <a:latin typeface="Arial"/>
                <a:ea typeface="Arial"/>
                <a:cs typeface="Arial"/>
                <a:sym typeface="Arial"/>
              </a:defRPr>
            </a:lvl5pPr>
            <a:lvl6pPr marL="2743200" marR="0" lvl="5"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609600" y="6172201"/>
            <a:ext cx="4572000" cy="304800"/>
          </a:xfrm>
          <a:prstGeom prst="rect">
            <a:avLst/>
          </a:prstGeom>
          <a:noFill/>
          <a:ln>
            <a:noFill/>
          </a:ln>
        </p:spPr>
        <p:txBody>
          <a:bodyPr spcFirstLastPara="1" wrap="square" lIns="91425" tIns="45700" rIns="91425" bIns="0" anchor="b" anchorCtr="0">
            <a:noAutofit/>
          </a:bodyPr>
          <a:lstStyle>
            <a:lvl1pPr marR="0" lvl="0" algn="l" rtl="0">
              <a:spcBef>
                <a:spcPts val="0"/>
              </a:spcBef>
              <a:spcAft>
                <a:spcPts val="0"/>
              </a:spcAft>
              <a:buSzPts val="1400"/>
              <a:buNone/>
              <a:defRPr sz="10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609600" y="6492876"/>
            <a:ext cx="4572000" cy="28384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rot="-5400000">
            <a:off x="10945706" y="623041"/>
            <a:ext cx="1315721" cy="486833"/>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2400" b="1" i="0" u="none" strike="noStrike" cap="none">
                <a:solidFill>
                  <a:srgbClr val="FFFFFF"/>
                </a:solidFill>
                <a:latin typeface="Arial"/>
                <a:ea typeface="Arial"/>
                <a:cs typeface="Arial"/>
                <a:sym typeface="Arial"/>
              </a:defRPr>
            </a:lvl1pPr>
            <a:lvl2pPr marL="0" marR="0" lvl="1" indent="0" algn="r" rtl="0">
              <a:spcBef>
                <a:spcPts val="0"/>
              </a:spcBef>
              <a:buNone/>
              <a:defRPr sz="2400" b="1" i="0" u="none" strike="noStrike" cap="none">
                <a:solidFill>
                  <a:srgbClr val="FFFFFF"/>
                </a:solidFill>
                <a:latin typeface="Arial"/>
                <a:ea typeface="Arial"/>
                <a:cs typeface="Arial"/>
                <a:sym typeface="Arial"/>
              </a:defRPr>
            </a:lvl2pPr>
            <a:lvl3pPr marL="0" marR="0" lvl="2" indent="0" algn="r" rtl="0">
              <a:spcBef>
                <a:spcPts val="0"/>
              </a:spcBef>
              <a:buNone/>
              <a:defRPr sz="2400" b="1" i="0" u="none" strike="noStrike" cap="none">
                <a:solidFill>
                  <a:srgbClr val="FFFFFF"/>
                </a:solidFill>
                <a:latin typeface="Arial"/>
                <a:ea typeface="Arial"/>
                <a:cs typeface="Arial"/>
                <a:sym typeface="Arial"/>
              </a:defRPr>
            </a:lvl3pPr>
            <a:lvl4pPr marL="0" marR="0" lvl="3" indent="0" algn="r" rtl="0">
              <a:spcBef>
                <a:spcPts val="0"/>
              </a:spcBef>
              <a:buNone/>
              <a:defRPr sz="2400" b="1" i="0" u="none" strike="noStrike" cap="none">
                <a:solidFill>
                  <a:srgbClr val="FFFFFF"/>
                </a:solidFill>
                <a:latin typeface="Arial"/>
                <a:ea typeface="Arial"/>
                <a:cs typeface="Arial"/>
                <a:sym typeface="Arial"/>
              </a:defRPr>
            </a:lvl4pPr>
            <a:lvl5pPr marL="0" marR="0" lvl="4" indent="0" algn="r" rtl="0">
              <a:spcBef>
                <a:spcPts val="0"/>
              </a:spcBef>
              <a:buNone/>
              <a:defRPr sz="2400" b="1" i="0" u="none" strike="noStrike" cap="none">
                <a:solidFill>
                  <a:srgbClr val="FFFFFF"/>
                </a:solidFill>
                <a:latin typeface="Arial"/>
                <a:ea typeface="Arial"/>
                <a:cs typeface="Arial"/>
                <a:sym typeface="Arial"/>
              </a:defRPr>
            </a:lvl5pPr>
            <a:lvl6pPr marL="0" marR="0" lvl="5" indent="0" algn="r" rtl="0">
              <a:spcBef>
                <a:spcPts val="0"/>
              </a:spcBef>
              <a:buNone/>
              <a:defRPr sz="2400" b="1" i="0" u="none" strike="noStrike" cap="none">
                <a:solidFill>
                  <a:srgbClr val="FFFFFF"/>
                </a:solidFill>
                <a:latin typeface="Arial"/>
                <a:ea typeface="Arial"/>
                <a:cs typeface="Arial"/>
                <a:sym typeface="Arial"/>
              </a:defRPr>
            </a:lvl6pPr>
            <a:lvl7pPr marL="0" marR="0" lvl="6" indent="0" algn="r" rtl="0">
              <a:spcBef>
                <a:spcPts val="0"/>
              </a:spcBef>
              <a:buNone/>
              <a:defRPr sz="2400" b="1" i="0" u="none" strike="noStrike" cap="none">
                <a:solidFill>
                  <a:srgbClr val="FFFFFF"/>
                </a:solidFill>
                <a:latin typeface="Arial"/>
                <a:ea typeface="Arial"/>
                <a:cs typeface="Arial"/>
                <a:sym typeface="Arial"/>
              </a:defRPr>
            </a:lvl7pPr>
            <a:lvl8pPr marL="0" marR="0" lvl="7" indent="0" algn="r" rtl="0">
              <a:spcBef>
                <a:spcPts val="0"/>
              </a:spcBef>
              <a:buNone/>
              <a:defRPr sz="2400" b="1" i="0" u="none" strike="noStrike" cap="none">
                <a:solidFill>
                  <a:srgbClr val="FFFFFF"/>
                </a:solidFill>
                <a:latin typeface="Arial"/>
                <a:ea typeface="Arial"/>
                <a:cs typeface="Arial"/>
                <a:sym typeface="Arial"/>
              </a:defRPr>
            </a:lvl8pPr>
            <a:lvl9pPr marL="0" marR="0" lvl="8" indent="0" algn="r" rtl="0">
              <a:spcBef>
                <a:spcPts val="0"/>
              </a:spcBef>
              <a:buNone/>
              <a:defRPr sz="2400" b="1" i="0" u="none" strike="noStrike" cap="none">
                <a:solidFill>
                  <a:srgbClr val="FFFFFF"/>
                </a:solidFill>
                <a:latin typeface="Arial"/>
                <a:ea typeface="Arial"/>
                <a:cs typeface="Arial"/>
                <a:sym typeface="Arial"/>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2" name="Chapter Title">
            <a:extLst>
              <a:ext uri="{FF2B5EF4-FFF2-40B4-BE49-F238E27FC236}">
                <a16:creationId xmlns="" xmlns:a16="http://schemas.microsoft.com/office/drawing/2014/main" id="{279F366A-9D53-D8EB-404B-2591E93D2B33}"/>
              </a:ext>
            </a:extLst>
          </p:cNvPr>
          <p:cNvSpPr txBox="1">
            <a:spLocks/>
          </p:cNvSpPr>
          <p:nvPr/>
        </p:nvSpPr>
        <p:spPr>
          <a:xfrm>
            <a:off x="1337651" y="3060441"/>
            <a:ext cx="9144000" cy="1287624"/>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endParaRPr lang="en-US" sz="1800" cap="none" dirty="0">
              <a:solidFill>
                <a:schemeClr val="accent3">
                  <a:lumMod val="20000"/>
                  <a:lumOff val="80000"/>
                </a:schemeClr>
              </a:solidFill>
              <a:latin typeface="+mn-lt"/>
            </a:endParaRPr>
          </a:p>
          <a:p>
            <a:pPr algn="ctr"/>
            <a:r>
              <a:rPr lang="en-US" sz="2000" b="1" cap="none" dirty="0">
                <a:solidFill>
                  <a:srgbClr val="212F62"/>
                </a:solidFill>
                <a:latin typeface="+mn-lt"/>
              </a:rPr>
              <a:t>Chapter 8 Emotions</a:t>
            </a:r>
          </a:p>
          <a:p>
            <a:pPr algn="ctr"/>
            <a:r>
              <a:rPr lang="en-US" sz="1600" cap="none" dirty="0" smtClean="0">
                <a:solidFill>
                  <a:srgbClr val="212F62"/>
                </a:solidFill>
                <a:latin typeface="+mn-lt"/>
              </a:rPr>
              <a:t>Sadia Qazi</a:t>
            </a:r>
            <a:endParaRPr lang="en-US" sz="1600" cap="none" dirty="0">
              <a:solidFill>
                <a:srgbClr val="212F62"/>
              </a:solidFill>
              <a:latin typeface="+mn-lt"/>
            </a:endParaRPr>
          </a:p>
          <a:p>
            <a:pPr algn="ctr"/>
            <a:r>
              <a:rPr lang="en-US" sz="1600" cap="none" dirty="0" smtClean="0">
                <a:solidFill>
                  <a:srgbClr val="212F62"/>
                </a:solidFill>
                <a:latin typeface="+mn-lt"/>
              </a:rPr>
              <a:t>Sadia.Qazi@ucp.edu.pk</a:t>
            </a:r>
            <a:endParaRPr lang="en-US" sz="1600" cap="none" dirty="0">
              <a:solidFill>
                <a:srgbClr val="212F62"/>
              </a:solidFill>
              <a:latin typeface="+mn-lt"/>
            </a:endParaRPr>
          </a:p>
        </p:txBody>
      </p:sp>
      <p:sp>
        <p:nvSpPr>
          <p:cNvPr id="5" name="Title">
            <a:extLst>
              <a:ext uri="{FF2B5EF4-FFF2-40B4-BE49-F238E27FC236}">
                <a16:creationId xmlns="" xmlns:a16="http://schemas.microsoft.com/office/drawing/2014/main" id="{C1BE9F74-02F5-E1BB-4F2E-0FAAC5D37AAE}"/>
              </a:ext>
            </a:extLst>
          </p:cNvPr>
          <p:cNvSpPr txBox="1">
            <a:spLocks/>
          </p:cNvSpPr>
          <p:nvPr/>
        </p:nvSpPr>
        <p:spPr>
          <a:xfrm>
            <a:off x="1337651" y="1835420"/>
            <a:ext cx="9144000" cy="1141243"/>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6CB255"/>
              </a:buClr>
              <a:buSzPts val="2400"/>
              <a:buFont typeface="Arial Black"/>
              <a:buNone/>
              <a:defRPr sz="2400" b="0" i="0" u="none" strike="noStrike" cap="none">
                <a:solidFill>
                  <a:srgbClr val="6CB255"/>
                </a:solidFill>
                <a:latin typeface="Arial Black"/>
                <a:ea typeface="Arial Black"/>
                <a:cs typeface="Arial Black"/>
                <a:sym typeface="Arial Blac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3600" dirty="0">
                <a:solidFill>
                  <a:srgbClr val="00B050"/>
                </a:solidFill>
              </a:rPr>
              <a:t>Introduction to </a:t>
            </a:r>
            <a:br>
              <a:rPr lang="en-US" sz="3600" dirty="0">
                <a:solidFill>
                  <a:srgbClr val="00B050"/>
                </a:solidFill>
              </a:rPr>
            </a:br>
            <a:r>
              <a:rPr lang="en-US" sz="3600" dirty="0">
                <a:solidFill>
                  <a:srgbClr val="00B050"/>
                </a:solidFill>
              </a:rPr>
              <a:t>Psychology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ext Placeholder 3"/>
          <p:cNvSpPr>
            <a:spLocks noGrp="1"/>
          </p:cNvSpPr>
          <p:nvPr>
            <p:ph type="body" idx="1"/>
          </p:nvPr>
        </p:nvSpPr>
        <p:spPr>
          <a:xfrm>
            <a:off x="609600" y="1296955"/>
            <a:ext cx="10750549" cy="4713409"/>
          </a:xfrm>
        </p:spPr>
        <p:txBody>
          <a:bodyPr/>
          <a:lstStyle/>
          <a:p>
            <a:pPr lvl="0"/>
            <a:r>
              <a:rPr lang="en-US" dirty="0">
                <a:solidFill>
                  <a:srgbClr val="FF0000"/>
                </a:solidFill>
              </a:rPr>
              <a:t>Intrinsic &amp; extrinsic</a:t>
            </a:r>
          </a:p>
          <a:p>
            <a:pPr lvl="0"/>
            <a:r>
              <a:rPr lang="en-US" dirty="0">
                <a:solidFill>
                  <a:srgbClr val="FF0000"/>
                </a:solidFill>
              </a:rPr>
              <a:t>Instinct Approaches: Born to Be Motivated</a:t>
            </a:r>
          </a:p>
          <a:p>
            <a:pPr lvl="0"/>
            <a:r>
              <a:rPr lang="en-US" dirty="0"/>
              <a:t>Drive-Reduction Approaches: Satisfying Our Needs</a:t>
            </a:r>
          </a:p>
          <a:p>
            <a:pPr lvl="0"/>
            <a:r>
              <a:rPr lang="en-US" dirty="0"/>
              <a:t>Arousal Approaches: Beyond Drive Reduction </a:t>
            </a:r>
          </a:p>
          <a:p>
            <a:pPr lvl="0"/>
            <a:r>
              <a:rPr lang="en-US" dirty="0"/>
              <a:t>Incentive Approaches: Motivation’s Pull</a:t>
            </a:r>
          </a:p>
          <a:p>
            <a:pPr lvl="0"/>
            <a:r>
              <a:rPr lang="en-US" dirty="0"/>
              <a:t>Cognitive Approaches: The Thoughts Behind Motivation</a:t>
            </a:r>
          </a:p>
          <a:p>
            <a:pPr lvl="0"/>
            <a:r>
              <a:rPr lang="en-US" dirty="0"/>
              <a:t>Maslow’s Hierarchy: Ordering Motivational Needs</a:t>
            </a:r>
          </a:p>
          <a:p>
            <a:pPr lvl="0"/>
            <a:r>
              <a:rPr lang="en-US" dirty="0"/>
              <a:t>Applying the Different Approaches to Motivation</a:t>
            </a:r>
          </a:p>
          <a:p>
            <a:endParaRPr lang="en-US" dirty="0"/>
          </a:p>
        </p:txBody>
      </p:sp>
    </p:spTree>
    <p:extLst>
      <p:ext uri="{BB962C8B-B14F-4D97-AF65-F5344CB8AC3E}">
        <p14:creationId xmlns:p14="http://schemas.microsoft.com/office/powerpoint/2010/main" val="2043537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idx="2"/>
          </p:nvPr>
        </p:nvPicPr>
        <p:blipFill>
          <a:blip r:embed="rId2"/>
          <a:srcRect t="28293" b="28293"/>
          <a:stretch>
            <a:fillRect/>
          </a:stretch>
        </p:blipFill>
        <p:spPr>
          <a:xfrm>
            <a:off x="0" y="1"/>
            <a:ext cx="12192000" cy="6858000"/>
          </a:xfrm>
          <a:prstGeom prst="rect">
            <a:avLst/>
          </a:prstGeom>
        </p:spPr>
      </p:pic>
    </p:spTree>
    <p:extLst>
      <p:ext uri="{BB962C8B-B14F-4D97-AF65-F5344CB8AC3E}">
        <p14:creationId xmlns:p14="http://schemas.microsoft.com/office/powerpoint/2010/main" val="1661975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41327"/>
            <a:ext cx="10750549" cy="1214249"/>
          </a:xfrm>
        </p:spPr>
        <p:txBody>
          <a:bodyPr/>
          <a:lstStyle/>
          <a:p>
            <a:r>
              <a:rPr lang="en-US" b="1" dirty="0"/>
              <a:t>What is Motivation?</a:t>
            </a:r>
            <a:br>
              <a:rPr lang="en-US" b="1" dirty="0"/>
            </a:br>
            <a:endParaRPr lang="en-US" dirty="0"/>
          </a:p>
        </p:txBody>
      </p:sp>
      <p:sp>
        <p:nvSpPr>
          <p:cNvPr id="4" name="Text Placeholder 3"/>
          <p:cNvSpPr>
            <a:spLocks noGrp="1"/>
          </p:cNvSpPr>
          <p:nvPr>
            <p:ph type="body" idx="1"/>
          </p:nvPr>
        </p:nvSpPr>
        <p:spPr>
          <a:xfrm>
            <a:off x="609600" y="1231641"/>
            <a:ext cx="10750549" cy="4778723"/>
          </a:xfrm>
        </p:spPr>
        <p:txBody>
          <a:bodyPr/>
          <a:lstStyle/>
          <a:p>
            <a:pPr>
              <a:lnSpc>
                <a:spcPct val="150000"/>
              </a:lnSpc>
            </a:pPr>
            <a:r>
              <a:rPr lang="en-US" b="1" dirty="0" smtClean="0"/>
              <a:t>Motivation</a:t>
            </a:r>
            <a:r>
              <a:rPr lang="en-US" dirty="0" smtClean="0"/>
              <a:t> </a:t>
            </a:r>
            <a:r>
              <a:rPr lang="en-US" dirty="0"/>
              <a:t>refers to the </a:t>
            </a:r>
            <a:r>
              <a:rPr lang="en-US" b="1" dirty="0"/>
              <a:t>internal processes</a:t>
            </a:r>
            <a:r>
              <a:rPr lang="en-US" dirty="0"/>
              <a:t> and </a:t>
            </a:r>
            <a:r>
              <a:rPr lang="en-US" b="1" dirty="0"/>
              <a:t>external influences</a:t>
            </a:r>
            <a:r>
              <a:rPr lang="en-US" dirty="0"/>
              <a:t> that initiate, direct, and sustain human behavior toward achieving specific goals. It is the force that determines </a:t>
            </a:r>
            <a:r>
              <a:rPr lang="en-US" b="1" dirty="0"/>
              <a:t>why people act</a:t>
            </a:r>
            <a:r>
              <a:rPr lang="en-US" dirty="0"/>
              <a:t>, </a:t>
            </a:r>
            <a:r>
              <a:rPr lang="en-US" b="1" dirty="0"/>
              <a:t>how much effort they put in</a:t>
            </a:r>
            <a:r>
              <a:rPr lang="en-US" dirty="0"/>
              <a:t>, and </a:t>
            </a:r>
            <a:r>
              <a:rPr lang="en-US" b="1" dirty="0"/>
              <a:t>how persistent they are</a:t>
            </a:r>
            <a:r>
              <a:rPr lang="en-US" dirty="0"/>
              <a:t> in pursuing a task or objective.</a:t>
            </a:r>
          </a:p>
          <a:p>
            <a:pPr>
              <a:lnSpc>
                <a:spcPct val="150000"/>
              </a:lnSpc>
            </a:pPr>
            <a:r>
              <a:rPr lang="en-US" dirty="0"/>
              <a:t>In other words, motivation is </a:t>
            </a:r>
            <a:r>
              <a:rPr lang="en-US" b="1" dirty="0"/>
              <a:t>what drives individuals to act in particular ways</a:t>
            </a:r>
            <a:r>
              <a:rPr lang="en-US" dirty="0"/>
              <a:t>—to start an activity, continue it, and work toward desired outcomes</a:t>
            </a:r>
            <a:r>
              <a:rPr lang="en-US" dirty="0" smtClean="0"/>
              <a:t>.</a:t>
            </a:r>
            <a:endParaRPr lang="en-US" dirty="0"/>
          </a:p>
        </p:txBody>
      </p:sp>
    </p:spTree>
    <p:extLst>
      <p:ext uri="{BB962C8B-B14F-4D97-AF65-F5344CB8AC3E}">
        <p14:creationId xmlns:p14="http://schemas.microsoft.com/office/powerpoint/2010/main" val="1933242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41327"/>
            <a:ext cx="10750549" cy="1064959"/>
          </a:xfrm>
        </p:spPr>
        <p:txBody>
          <a:bodyPr/>
          <a:lstStyle/>
          <a:p>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smtClean="0"/>
              <a:t/>
            </a:r>
            <a:br>
              <a:rPr lang="en-US" b="1" dirty="0" smtClean="0"/>
            </a:br>
            <a:r>
              <a:rPr lang="en-US" b="1" dirty="0" smtClean="0"/>
              <a:t>Key </a:t>
            </a:r>
            <a:r>
              <a:rPr lang="en-US" b="1" dirty="0"/>
              <a:t>Elements of Motivation</a:t>
            </a:r>
            <a:br>
              <a:rPr lang="en-US" b="1" dirty="0"/>
            </a:br>
            <a:endParaRPr lang="en-US" dirty="0"/>
          </a:p>
        </p:txBody>
      </p:sp>
      <p:sp>
        <p:nvSpPr>
          <p:cNvPr id="4" name="Text Placeholder 3"/>
          <p:cNvSpPr>
            <a:spLocks noGrp="1"/>
          </p:cNvSpPr>
          <p:nvPr>
            <p:ph type="body" idx="1"/>
          </p:nvPr>
        </p:nvSpPr>
        <p:spPr>
          <a:xfrm>
            <a:off x="609600" y="1446245"/>
            <a:ext cx="10750549" cy="4564119"/>
          </a:xfrm>
        </p:spPr>
        <p:txBody>
          <a:bodyPr/>
          <a:lstStyle/>
          <a:p>
            <a:pPr>
              <a:lnSpc>
                <a:spcPct val="150000"/>
              </a:lnSpc>
            </a:pPr>
            <a:r>
              <a:rPr lang="en-US" b="1" dirty="0" smtClean="0"/>
              <a:t>Activation</a:t>
            </a:r>
            <a:r>
              <a:rPr lang="en-US" b="1" dirty="0"/>
              <a:t>:</a:t>
            </a:r>
            <a:r>
              <a:rPr lang="en-US" dirty="0"/>
              <a:t/>
            </a:r>
            <a:br>
              <a:rPr lang="en-US" dirty="0"/>
            </a:br>
            <a:r>
              <a:rPr lang="en-US" dirty="0"/>
              <a:t>The decision or trigger to begin a behavior.</a:t>
            </a:r>
            <a:br>
              <a:rPr lang="en-US" dirty="0"/>
            </a:br>
            <a:r>
              <a:rPr lang="en-US" i="1" dirty="0"/>
              <a:t>Example:</a:t>
            </a:r>
            <a:r>
              <a:rPr lang="en-US" dirty="0"/>
              <a:t> Deciding to start learning a new programming language.</a:t>
            </a:r>
          </a:p>
          <a:p>
            <a:pPr>
              <a:lnSpc>
                <a:spcPct val="150000"/>
              </a:lnSpc>
            </a:pPr>
            <a:r>
              <a:rPr lang="en-US" b="1" dirty="0"/>
              <a:t>Persistence:</a:t>
            </a:r>
            <a:r>
              <a:rPr lang="en-US" dirty="0"/>
              <a:t/>
            </a:r>
            <a:br>
              <a:rPr lang="en-US" dirty="0"/>
            </a:br>
            <a:r>
              <a:rPr lang="en-US" dirty="0"/>
              <a:t>The continued effort toward a goal despite challenges or obstacles.</a:t>
            </a:r>
            <a:br>
              <a:rPr lang="en-US" dirty="0"/>
            </a:br>
            <a:r>
              <a:rPr lang="en-US" i="1" dirty="0"/>
              <a:t>Example:</a:t>
            </a:r>
            <a:r>
              <a:rPr lang="en-US" dirty="0"/>
              <a:t> Continuing to debug code even after repeated errors.</a:t>
            </a:r>
          </a:p>
          <a:p>
            <a:pPr>
              <a:lnSpc>
                <a:spcPct val="150000"/>
              </a:lnSpc>
            </a:pPr>
            <a:r>
              <a:rPr lang="en-US" b="1" dirty="0"/>
              <a:t>Intensity:</a:t>
            </a:r>
            <a:r>
              <a:rPr lang="en-US" dirty="0"/>
              <a:t/>
            </a:r>
            <a:br>
              <a:rPr lang="en-US" dirty="0"/>
            </a:br>
            <a:r>
              <a:rPr lang="en-US" dirty="0"/>
              <a:t>The level of focus and energy put into achieving the goal.</a:t>
            </a:r>
            <a:br>
              <a:rPr lang="en-US" dirty="0"/>
            </a:br>
            <a:r>
              <a:rPr lang="en-US" i="1" dirty="0"/>
              <a:t>Example:</a:t>
            </a:r>
            <a:r>
              <a:rPr lang="en-US" dirty="0"/>
              <a:t> Spending extra hours perfecting a software project before a deadline.</a:t>
            </a:r>
          </a:p>
          <a:p>
            <a:endParaRPr lang="en-US" dirty="0"/>
          </a:p>
          <a:p>
            <a:endParaRPr lang="en-US" dirty="0"/>
          </a:p>
        </p:txBody>
      </p:sp>
    </p:spTree>
    <p:extLst>
      <p:ext uri="{BB962C8B-B14F-4D97-AF65-F5344CB8AC3E}">
        <p14:creationId xmlns:p14="http://schemas.microsoft.com/office/powerpoint/2010/main" val="2183558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981200" y="241327"/>
            <a:ext cx="8062912" cy="659535"/>
          </a:xfrm>
          <a:prstGeom prst="rect">
            <a:avLst/>
          </a:prstGeom>
          <a:noFill/>
          <a:ln>
            <a:noFill/>
          </a:ln>
        </p:spPr>
        <p:txBody>
          <a:bodyPr spcFirstLastPara="1" wrap="square" lIns="91425" tIns="45700" rIns="91425" bIns="45700" anchor="b" anchorCtr="0">
            <a:noAutofit/>
          </a:bodyPr>
          <a:lstStyle/>
          <a:p>
            <a:pPr>
              <a:buSzPts val="2400"/>
            </a:pPr>
            <a:r>
              <a:rPr lang="en-US"/>
              <a:t>INTRINSIC VS EXTRINSIC MOTIVATION</a:t>
            </a:r>
            <a:endParaRPr/>
          </a:p>
        </p:txBody>
      </p:sp>
      <p:sp>
        <p:nvSpPr>
          <p:cNvPr id="68" name="Google Shape;68;p9"/>
          <p:cNvSpPr txBox="1">
            <a:spLocks noGrp="1"/>
          </p:cNvSpPr>
          <p:nvPr>
            <p:ph type="body" idx="1"/>
          </p:nvPr>
        </p:nvSpPr>
        <p:spPr>
          <a:xfrm>
            <a:off x="1981200" y="1680021"/>
            <a:ext cx="8367221" cy="1358061"/>
          </a:xfrm>
          <a:prstGeom prst="rect">
            <a:avLst/>
          </a:prstGeom>
          <a:noFill/>
          <a:ln>
            <a:noFill/>
          </a:ln>
        </p:spPr>
        <p:txBody>
          <a:bodyPr spcFirstLastPara="1" wrap="square" lIns="91425" tIns="45700" rIns="91425" bIns="45700" anchor="t" anchorCtr="0">
            <a:noAutofit/>
          </a:bodyPr>
          <a:lstStyle/>
          <a:p>
            <a:pPr marL="0" indent="0">
              <a:spcBef>
                <a:spcPts val="0"/>
              </a:spcBef>
              <a:buSzPts val="1600"/>
            </a:pPr>
            <a:r>
              <a:rPr lang="en-US" sz="1600" b="1" dirty="0">
                <a:solidFill>
                  <a:srgbClr val="6CB255"/>
                </a:solidFill>
              </a:rPr>
              <a:t>Intrinsic motivation: </a:t>
            </a:r>
            <a:endParaRPr dirty="0"/>
          </a:p>
          <a:p>
            <a:pPr marL="285750" indent="-285750">
              <a:spcBef>
                <a:spcPts val="920"/>
              </a:spcBef>
              <a:buSzPts val="1600"/>
              <a:buFont typeface="Arial"/>
              <a:buChar char="•"/>
            </a:pPr>
            <a:r>
              <a:rPr lang="en-US" sz="1600" dirty="0" smtClean="0"/>
              <a:t>Intrinsic </a:t>
            </a:r>
            <a:r>
              <a:rPr lang="en-US" sz="1600" dirty="0"/>
              <a:t>motivation refers to engaging in an activity or behavior because it is inherently enjoyable, interesting, or personally satisfying. The motivation comes from within, driven by internal factors such as curiosity, a sense of competence, or the enjoyment of the task itself.</a:t>
            </a:r>
          </a:p>
          <a:p>
            <a:pPr marL="285750" indent="-285750">
              <a:spcBef>
                <a:spcPts val="920"/>
              </a:spcBef>
              <a:buSzPts val="1600"/>
              <a:buFont typeface="Arial"/>
              <a:buChar char="•"/>
            </a:pPr>
            <a:endParaRPr lang="en-US" sz="1600" dirty="0"/>
          </a:p>
          <a:p>
            <a:pPr marL="285750" indent="-285750">
              <a:spcBef>
                <a:spcPts val="920"/>
              </a:spcBef>
              <a:buSzPts val="1600"/>
              <a:buFont typeface="Arial"/>
              <a:buChar char="•"/>
            </a:pPr>
            <a:r>
              <a:rPr lang="en-US" sz="1600" dirty="0"/>
              <a:t>Characteristics</a:t>
            </a:r>
            <a:r>
              <a:rPr lang="en-US" sz="1600" dirty="0" smtClean="0"/>
              <a:t>:</a:t>
            </a:r>
            <a:endParaRPr lang="en-US" sz="1600" dirty="0"/>
          </a:p>
          <a:p>
            <a:pPr marL="285750" indent="-285750">
              <a:spcBef>
                <a:spcPts val="920"/>
              </a:spcBef>
              <a:buSzPts val="1600"/>
              <a:buFont typeface="Arial"/>
              <a:buChar char="•"/>
            </a:pPr>
            <a:r>
              <a:rPr lang="en-US" sz="1600" dirty="0"/>
              <a:t>Activities pursued for their own sake.</a:t>
            </a:r>
          </a:p>
          <a:p>
            <a:pPr marL="285750" indent="-285750">
              <a:spcBef>
                <a:spcPts val="920"/>
              </a:spcBef>
              <a:buSzPts val="1600"/>
              <a:buFont typeface="Arial"/>
              <a:buChar char="•"/>
            </a:pPr>
            <a:r>
              <a:rPr lang="en-US" sz="1600" dirty="0"/>
              <a:t>Individuals find the task inherently rewarding.</a:t>
            </a:r>
          </a:p>
          <a:p>
            <a:pPr marL="285750" indent="-285750">
              <a:spcBef>
                <a:spcPts val="920"/>
              </a:spcBef>
              <a:buSzPts val="1600"/>
              <a:buFont typeface="Arial"/>
              <a:buChar char="•"/>
            </a:pPr>
            <a:r>
              <a:rPr lang="en-US" sz="1600" dirty="0"/>
              <a:t>Associated with creativity, deep learning, and sustained interest.</a:t>
            </a:r>
          </a:p>
          <a:p>
            <a:pPr marL="285750" indent="-285750">
              <a:spcBef>
                <a:spcPts val="920"/>
              </a:spcBef>
              <a:buSzPts val="1600"/>
              <a:buFont typeface="Arial"/>
              <a:buChar char="•"/>
            </a:pPr>
            <a:r>
              <a:rPr lang="en-US" sz="1600" dirty="0"/>
              <a:t>Examples</a:t>
            </a:r>
            <a:r>
              <a:rPr lang="en-US" sz="1600" dirty="0" smtClean="0"/>
              <a:t>:</a:t>
            </a:r>
            <a:endParaRPr lang="en-US" sz="1600" dirty="0"/>
          </a:p>
          <a:p>
            <a:pPr marL="285750" indent="-285750">
              <a:spcBef>
                <a:spcPts val="920"/>
              </a:spcBef>
              <a:buSzPts val="1600"/>
              <a:buFont typeface="Arial"/>
              <a:buChar char="•"/>
            </a:pPr>
            <a:r>
              <a:rPr lang="en-US" sz="1600" dirty="0"/>
              <a:t>Reading a book for personal enjoyment.</a:t>
            </a:r>
          </a:p>
          <a:p>
            <a:pPr marL="285750" indent="-285750">
              <a:spcBef>
                <a:spcPts val="920"/>
              </a:spcBef>
              <a:buSzPts val="1600"/>
              <a:buFont typeface="Arial"/>
              <a:buChar char="•"/>
            </a:pPr>
            <a:r>
              <a:rPr lang="en-US" sz="1600" dirty="0"/>
              <a:t>Engaging in a hobby purely for the pleasure it brings.</a:t>
            </a:r>
          </a:p>
          <a:p>
            <a:pPr marL="285750" indent="-285750">
              <a:spcBef>
                <a:spcPts val="920"/>
              </a:spcBef>
              <a:buSzPts val="1600"/>
              <a:buFont typeface="Arial"/>
              <a:buChar char="•"/>
            </a:pPr>
            <a:r>
              <a:rPr lang="en-US" sz="1600" dirty="0"/>
              <a:t>Solving a challenging puzzle out of curiosity.</a:t>
            </a:r>
            <a:endParaRPr sz="1600" dirty="0"/>
          </a:p>
          <a:p>
            <a:pPr marL="0" indent="0">
              <a:spcBef>
                <a:spcPts val="920"/>
              </a:spcBef>
              <a:buSzPts val="1600"/>
            </a:pPr>
            <a:endParaRPr sz="1600" dirty="0"/>
          </a:p>
          <a:p>
            <a:pPr marL="0" indent="0">
              <a:spcBef>
                <a:spcPts val="920"/>
              </a:spcBef>
              <a:buSzPts val="1600"/>
            </a:pPr>
            <a:endParaRPr dirty="0"/>
          </a:p>
        </p:txBody>
      </p:sp>
      <p:sp>
        <p:nvSpPr>
          <p:cNvPr id="72" name="Google Shape;72;p9"/>
          <p:cNvSpPr txBox="1"/>
          <p:nvPr/>
        </p:nvSpPr>
        <p:spPr>
          <a:xfrm>
            <a:off x="1981200" y="1103124"/>
            <a:ext cx="7561943" cy="338554"/>
          </a:xfrm>
          <a:prstGeom prst="rect">
            <a:avLst/>
          </a:prstGeom>
          <a:noFill/>
          <a:ln>
            <a:noFill/>
          </a:ln>
        </p:spPr>
        <p:txBody>
          <a:bodyPr spcFirstLastPara="1" wrap="square" lIns="91425" tIns="45700" rIns="91425" bIns="45700" anchor="t" anchorCtr="0">
            <a:noAutofit/>
          </a:bodyPr>
          <a:lstStyle/>
          <a:p>
            <a:r>
              <a:rPr lang="en-US" sz="1600" b="1">
                <a:solidFill>
                  <a:schemeClr val="dk1"/>
                </a:solidFill>
              </a:rPr>
              <a:t>Motivation</a:t>
            </a:r>
            <a:r>
              <a:rPr lang="en-US" sz="1600">
                <a:solidFill>
                  <a:schemeClr val="dk1"/>
                </a:solidFill>
              </a:rPr>
              <a:t> – the wants or needs that direct behavior toward a goal.</a:t>
            </a:r>
            <a:endParaRPr sz="1600">
              <a:solidFill>
                <a:schemeClr val="dk1"/>
              </a:solidFill>
            </a:endParaRPr>
          </a:p>
        </p:txBody>
      </p:sp>
      <p:pic>
        <p:nvPicPr>
          <p:cNvPr id="3" name="Picture 2" descr="An illustration shows a person's upper torso. An arrow on the left begins at the person's chest and curves around to point inside the head; inside the curve of the arrow are the words &quot;intrinsic motivation (from within)&quot; and three bullet points: &quot;autonomy,&quot; &quot;mastery,&quot; &quot;purpose.&quot; An arrow on the right begins in empty space and curves to a point inside the head. Above the arrow are the words &quot;extrinsic motivation (from outside)&quot; and three bullet points: &quot;compensation,&quot; &quot;punishment,&quot; and &quot;reward.&quot;" title="Figur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5504" y="3986759"/>
            <a:ext cx="3966496" cy="211763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41327"/>
            <a:ext cx="10750549" cy="1064959"/>
          </a:xfrm>
        </p:spPr>
        <p:txBody>
          <a:bodyPr/>
          <a:lstStyle/>
          <a:p>
            <a:r>
              <a:rPr lang="en-US" b="1" dirty="0"/>
              <a:t>Extrinsic motivation:</a:t>
            </a:r>
            <a:r>
              <a:rPr lang="en-US" dirty="0"/>
              <a:t/>
            </a:r>
            <a:br>
              <a:rPr lang="en-US" dirty="0"/>
            </a:br>
            <a:endParaRPr lang="en-US" dirty="0"/>
          </a:p>
        </p:txBody>
      </p:sp>
      <p:sp>
        <p:nvSpPr>
          <p:cNvPr id="4" name="Text Placeholder 3"/>
          <p:cNvSpPr>
            <a:spLocks noGrp="1"/>
          </p:cNvSpPr>
          <p:nvPr>
            <p:ph type="body" idx="1"/>
          </p:nvPr>
        </p:nvSpPr>
        <p:spPr>
          <a:xfrm>
            <a:off x="609600" y="923731"/>
            <a:ext cx="10750549" cy="5086633"/>
          </a:xfrm>
        </p:spPr>
        <p:txBody>
          <a:bodyPr/>
          <a:lstStyle/>
          <a:p>
            <a:pPr marL="0" indent="0">
              <a:spcBef>
                <a:spcPts val="920"/>
              </a:spcBef>
              <a:buSzPts val="1600"/>
            </a:pPr>
            <a:r>
              <a:rPr lang="en-US" dirty="0" smtClean="0"/>
              <a:t>Extrinsic </a:t>
            </a:r>
            <a:r>
              <a:rPr lang="en-US" dirty="0"/>
              <a:t>motivation involves engaging in an activity or behavior to attain a separate outcome or external reward. The motivation comes from external factors such as rewards, recognition, or avoiding punishment, rather than inherent enjoyment of the activity itself</a:t>
            </a:r>
            <a:r>
              <a:rPr lang="en-US" dirty="0" smtClean="0"/>
              <a:t>.</a:t>
            </a:r>
            <a:endParaRPr lang="en-US" dirty="0"/>
          </a:p>
          <a:p>
            <a:pPr marL="0" indent="0">
              <a:spcBef>
                <a:spcPts val="920"/>
              </a:spcBef>
              <a:buSzPts val="1600"/>
            </a:pPr>
            <a:r>
              <a:rPr lang="en-US" b="1" dirty="0"/>
              <a:t>Characteristics</a:t>
            </a:r>
            <a:r>
              <a:rPr lang="en-US" b="1" dirty="0" smtClean="0"/>
              <a:t>:</a:t>
            </a:r>
            <a:endParaRPr lang="en-US" b="1" dirty="0"/>
          </a:p>
          <a:p>
            <a:pPr marL="285750" indent="-285750">
              <a:spcBef>
                <a:spcPts val="920"/>
              </a:spcBef>
              <a:buSzPts val="1600"/>
              <a:buFont typeface="Arial"/>
              <a:buChar char="•"/>
            </a:pPr>
            <a:r>
              <a:rPr lang="en-US" dirty="0"/>
              <a:t>Activities pursued for external rewards or outcomes.</a:t>
            </a:r>
          </a:p>
          <a:p>
            <a:pPr marL="285750" indent="-285750">
              <a:spcBef>
                <a:spcPts val="920"/>
              </a:spcBef>
              <a:buSzPts val="1600"/>
              <a:buFont typeface="Arial"/>
              <a:buChar char="•"/>
            </a:pPr>
            <a:r>
              <a:rPr lang="en-US" dirty="0"/>
              <a:t>Motivation driven by external factors.</a:t>
            </a:r>
          </a:p>
          <a:p>
            <a:pPr marL="285750" indent="-285750">
              <a:spcBef>
                <a:spcPts val="920"/>
              </a:spcBef>
              <a:buSzPts val="1600"/>
              <a:buFont typeface="Arial"/>
              <a:buChar char="•"/>
            </a:pPr>
            <a:r>
              <a:rPr lang="en-US" dirty="0"/>
              <a:t>May involve the desire for recognition, grades, or financial </a:t>
            </a:r>
            <a:r>
              <a:rPr lang="en-US" dirty="0" smtClean="0"/>
              <a:t>gain.</a:t>
            </a:r>
          </a:p>
          <a:p>
            <a:pPr marL="0" indent="0">
              <a:spcBef>
                <a:spcPts val="920"/>
              </a:spcBef>
              <a:buSzPts val="1600"/>
            </a:pPr>
            <a:r>
              <a:rPr lang="en-US" b="1" dirty="0" smtClean="0"/>
              <a:t>Examples:</a:t>
            </a:r>
            <a:endParaRPr lang="en-US" b="1" dirty="0"/>
          </a:p>
          <a:p>
            <a:pPr marL="285750" indent="-285750">
              <a:spcBef>
                <a:spcPts val="920"/>
              </a:spcBef>
              <a:buSzPts val="1600"/>
              <a:buFont typeface="Arial"/>
              <a:buChar char="•"/>
            </a:pPr>
            <a:r>
              <a:rPr lang="en-US" dirty="0"/>
              <a:t>Studying for a test to earn a good grade.</a:t>
            </a:r>
          </a:p>
          <a:p>
            <a:pPr marL="285750" indent="-285750">
              <a:spcBef>
                <a:spcPts val="920"/>
              </a:spcBef>
              <a:buSzPts val="1600"/>
              <a:buFont typeface="Arial"/>
              <a:buChar char="•"/>
            </a:pPr>
            <a:r>
              <a:rPr lang="en-US" dirty="0"/>
              <a:t>Working on a project to receive a bonus.</a:t>
            </a:r>
          </a:p>
          <a:p>
            <a:pPr marL="285750" indent="-285750">
              <a:spcBef>
                <a:spcPts val="920"/>
              </a:spcBef>
              <a:buSzPts val="1600"/>
              <a:buFont typeface="Arial"/>
              <a:buChar char="•"/>
            </a:pPr>
            <a:r>
              <a:rPr lang="en-US" dirty="0"/>
              <a:t>Completing chores to avoid punishment.</a:t>
            </a:r>
          </a:p>
        </p:txBody>
      </p:sp>
    </p:spTree>
    <p:extLst>
      <p:ext uri="{BB962C8B-B14F-4D97-AF65-F5344CB8AC3E}">
        <p14:creationId xmlns:p14="http://schemas.microsoft.com/office/powerpoint/2010/main" val="2291997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522514"/>
            <a:ext cx="10391192" cy="849086"/>
          </a:xfrm>
        </p:spPr>
        <p:txBody>
          <a:bodyPr/>
          <a:lstStyle/>
          <a:p>
            <a:r>
              <a:rPr lang="en-US" dirty="0" smtClean="0"/>
              <a:t/>
            </a:r>
            <a:br>
              <a:rPr lang="en-US" dirty="0" smtClean="0"/>
            </a:br>
            <a:r>
              <a:rPr lang="en-US" dirty="0" smtClean="0"/>
              <a:t/>
            </a:r>
            <a:br>
              <a:rPr lang="en-US" dirty="0" smtClean="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b="1" dirty="0" smtClean="0"/>
              <a:t>Instinct </a:t>
            </a:r>
            <a:r>
              <a:rPr lang="en-US" b="1" dirty="0"/>
              <a:t>Approaches: Born to Be Motivated</a:t>
            </a:r>
            <a:br>
              <a:rPr lang="en-US" b="1" dirty="0"/>
            </a:br>
            <a:endParaRPr lang="en-US" dirty="0"/>
          </a:p>
        </p:txBody>
      </p:sp>
      <p:sp>
        <p:nvSpPr>
          <p:cNvPr id="4" name="Text Placeholder 3"/>
          <p:cNvSpPr>
            <a:spLocks noGrp="1"/>
          </p:cNvSpPr>
          <p:nvPr>
            <p:ph type="body" idx="1"/>
          </p:nvPr>
        </p:nvSpPr>
        <p:spPr>
          <a:xfrm>
            <a:off x="609600" y="1240971"/>
            <a:ext cx="10750549" cy="5365102"/>
          </a:xfrm>
        </p:spPr>
        <p:txBody>
          <a:bodyPr/>
          <a:lstStyle/>
          <a:p>
            <a:pPr>
              <a:lnSpc>
                <a:spcPct val="150000"/>
              </a:lnSpc>
            </a:pPr>
            <a:r>
              <a:rPr lang="en-US" sz="1800" b="1" dirty="0" smtClean="0"/>
              <a:t>Theory</a:t>
            </a:r>
            <a:r>
              <a:rPr lang="en-US" sz="1800" b="1" dirty="0"/>
              <a:t>:</a:t>
            </a:r>
            <a:r>
              <a:rPr lang="en-US" sz="1800" dirty="0"/>
              <a:t> Instinct Theory of Motivation</a:t>
            </a:r>
            <a:br>
              <a:rPr lang="en-US" sz="1800" dirty="0"/>
            </a:br>
            <a:r>
              <a:rPr lang="en-US" sz="1800" b="1" dirty="0"/>
              <a:t>Theorists:</a:t>
            </a:r>
            <a:r>
              <a:rPr lang="en-US" sz="1800" dirty="0"/>
              <a:t> William James (1890), William McDougall (</a:t>
            </a:r>
            <a:r>
              <a:rPr lang="en-US" sz="1800" dirty="0" smtClean="0"/>
              <a:t>1908)</a:t>
            </a:r>
          </a:p>
          <a:p>
            <a:pPr>
              <a:lnSpc>
                <a:spcPct val="150000"/>
              </a:lnSpc>
            </a:pPr>
            <a:r>
              <a:rPr lang="en-US" sz="1800" b="1" dirty="0" smtClean="0"/>
              <a:t>Explanation</a:t>
            </a:r>
            <a:r>
              <a:rPr lang="en-US" sz="1800" b="1" dirty="0"/>
              <a:t>:</a:t>
            </a:r>
            <a:r>
              <a:rPr lang="en-US" sz="1800" dirty="0"/>
              <a:t/>
            </a:r>
            <a:br>
              <a:rPr lang="en-US" sz="1800" dirty="0"/>
            </a:br>
            <a:r>
              <a:rPr lang="en-US" sz="1800" dirty="0" smtClean="0"/>
              <a:t>The </a:t>
            </a:r>
            <a:r>
              <a:rPr lang="en-US" sz="1800" dirty="0"/>
              <a:t>instinct approach suggests that much of human behavior is </a:t>
            </a:r>
            <a:r>
              <a:rPr lang="en-US" sz="1800" b="1" dirty="0"/>
              <a:t>innate and biologically programmed</a:t>
            </a:r>
            <a:r>
              <a:rPr lang="en-US" sz="1800" dirty="0"/>
              <a:t>. Instincts are </a:t>
            </a:r>
            <a:r>
              <a:rPr lang="en-US" sz="1800" b="1" dirty="0"/>
              <a:t>inborn tendencies or patterns of behavior</a:t>
            </a:r>
            <a:r>
              <a:rPr lang="en-US" sz="1800" dirty="0"/>
              <a:t> that help organisms survive and reproduce.</a:t>
            </a:r>
          </a:p>
          <a:p>
            <a:r>
              <a:rPr lang="en-US" sz="1800" dirty="0"/>
              <a:t>William James proposed a list of human instincts such as </a:t>
            </a:r>
            <a:r>
              <a:rPr lang="en-US" sz="1800" dirty="0" smtClean="0"/>
              <a:t>fear</a:t>
            </a:r>
            <a:r>
              <a:rPr lang="en-US" sz="1800" dirty="0"/>
              <a:t>, love, curiosity, and cleanliness. McDougall later expanded on this, arguing that instincts provide the foundation for complex social behaviors. Although later research has shown that human behavior is more flexible than pure instinct, this theory laid the groundwork for studying the biological bases of motivation</a:t>
            </a:r>
            <a:r>
              <a:rPr lang="en-US" sz="1800" dirty="0" smtClean="0"/>
              <a:t>.</a:t>
            </a:r>
            <a:endParaRPr lang="en-US" sz="1800" dirty="0"/>
          </a:p>
          <a:p>
            <a:pPr>
              <a:lnSpc>
                <a:spcPct val="150000"/>
              </a:lnSpc>
            </a:pPr>
            <a:r>
              <a:rPr lang="en-US" sz="1800" b="1" dirty="0"/>
              <a:t>Example in Psychology:</a:t>
            </a:r>
            <a:r>
              <a:rPr lang="en-US" sz="1800" dirty="0"/>
              <a:t/>
            </a:r>
            <a:br>
              <a:rPr lang="en-US" sz="1800" dirty="0"/>
            </a:br>
            <a:r>
              <a:rPr lang="en-US" sz="1800" dirty="0"/>
              <a:t>An infant’s sucking reflex or a parent’s instinct to protect their child</a:t>
            </a:r>
            <a:r>
              <a:rPr lang="en-US" sz="1800" dirty="0" smtClean="0"/>
              <a:t>.</a:t>
            </a:r>
            <a:endParaRPr lang="en-US" sz="1800" dirty="0"/>
          </a:p>
        </p:txBody>
      </p:sp>
    </p:spTree>
    <p:extLst>
      <p:ext uri="{BB962C8B-B14F-4D97-AF65-F5344CB8AC3E}">
        <p14:creationId xmlns:p14="http://schemas.microsoft.com/office/powerpoint/2010/main" val="2023409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b="1" dirty="0"/>
              <a:t>Drive-Reduction Approaches: Satisfying Our Needs</a:t>
            </a:r>
            <a:br>
              <a:rPr lang="en-US" b="1" dirty="0"/>
            </a:br>
            <a:endParaRPr lang="en-US" dirty="0"/>
          </a:p>
        </p:txBody>
      </p:sp>
      <p:sp>
        <p:nvSpPr>
          <p:cNvPr id="4" name="Text Placeholder 3"/>
          <p:cNvSpPr>
            <a:spLocks noGrp="1"/>
          </p:cNvSpPr>
          <p:nvPr>
            <p:ph type="body" idx="1"/>
          </p:nvPr>
        </p:nvSpPr>
        <p:spPr>
          <a:xfrm>
            <a:off x="609600" y="1054359"/>
            <a:ext cx="10750549" cy="5598368"/>
          </a:xfrm>
        </p:spPr>
        <p:txBody>
          <a:bodyPr/>
          <a:lstStyle/>
          <a:p>
            <a:pPr>
              <a:lnSpc>
                <a:spcPct val="150000"/>
              </a:lnSpc>
            </a:pPr>
            <a:r>
              <a:rPr lang="en-US" sz="1800" b="1" dirty="0" smtClean="0"/>
              <a:t>Theory</a:t>
            </a:r>
            <a:r>
              <a:rPr lang="en-US" sz="1800" b="1" dirty="0"/>
              <a:t>:</a:t>
            </a:r>
            <a:r>
              <a:rPr lang="en-US" sz="1800" dirty="0"/>
              <a:t> Drive-Reduction Theory</a:t>
            </a:r>
            <a:br>
              <a:rPr lang="en-US" sz="1800" dirty="0"/>
            </a:br>
            <a:r>
              <a:rPr lang="en-US" sz="1800" b="1" dirty="0"/>
              <a:t>Theorist:</a:t>
            </a:r>
            <a:r>
              <a:rPr lang="en-US" sz="1800" dirty="0"/>
              <a:t> Clark L. Hull (1943)</a:t>
            </a:r>
          </a:p>
          <a:p>
            <a:pPr>
              <a:lnSpc>
                <a:spcPct val="150000"/>
              </a:lnSpc>
            </a:pPr>
            <a:r>
              <a:rPr lang="en-US" sz="1800" b="1" dirty="0"/>
              <a:t>Explanation</a:t>
            </a:r>
            <a:r>
              <a:rPr lang="en-US" sz="1800" b="1" dirty="0" smtClean="0"/>
              <a:t>:</a:t>
            </a:r>
          </a:p>
          <a:p>
            <a:r>
              <a:rPr lang="en-US" sz="1800" dirty="0"/>
              <a:t>Hull proposed that motivation arises from </a:t>
            </a:r>
            <a:r>
              <a:rPr lang="en-US" sz="1800" b="1" dirty="0"/>
              <a:t>biological needs</a:t>
            </a:r>
            <a:r>
              <a:rPr lang="en-US" sz="1800" dirty="0"/>
              <a:t> that cause internal states of tension, or </a:t>
            </a:r>
            <a:r>
              <a:rPr lang="en-US" sz="1800" b="1" dirty="0"/>
              <a:t>drives</a:t>
            </a:r>
            <a:r>
              <a:rPr lang="en-US" sz="1800" dirty="0"/>
              <a:t>. Individuals act to reduce these drives, thereby maintaining a balanced physiological state known as </a:t>
            </a:r>
            <a:r>
              <a:rPr lang="en-US" sz="1800" b="1" dirty="0"/>
              <a:t>homeostasis</a:t>
            </a:r>
            <a:r>
              <a:rPr lang="en-US" sz="1800" dirty="0"/>
              <a:t>.</a:t>
            </a:r>
          </a:p>
          <a:p>
            <a:r>
              <a:rPr lang="en-US" sz="1800" dirty="0"/>
              <a:t>For example, hunger produces a drive that motivates eating; thirst produces a drive that motivates drinking. Once the need is satisfied, the drive decreases, and the body returns to balance. Drive-reduction theory focuses mainly on </a:t>
            </a:r>
            <a:r>
              <a:rPr lang="en-US" sz="1800" b="1" dirty="0"/>
              <a:t>physiological</a:t>
            </a:r>
            <a:r>
              <a:rPr lang="en-US" sz="1800" dirty="0"/>
              <a:t> rather than </a:t>
            </a:r>
            <a:r>
              <a:rPr lang="en-US" sz="1800" b="1" dirty="0"/>
              <a:t>psychological</a:t>
            </a:r>
            <a:r>
              <a:rPr lang="en-US" sz="1800" dirty="0"/>
              <a:t> </a:t>
            </a:r>
            <a:r>
              <a:rPr lang="en-US" sz="1800" dirty="0" smtClean="0"/>
              <a:t>needs.</a:t>
            </a:r>
            <a:br>
              <a:rPr lang="en-US" sz="1800" dirty="0" smtClean="0"/>
            </a:br>
            <a:endParaRPr lang="en-US" sz="1800" dirty="0" smtClean="0"/>
          </a:p>
          <a:p>
            <a:r>
              <a:rPr lang="en-US" sz="1800" b="1" dirty="0" smtClean="0"/>
              <a:t>Example </a:t>
            </a:r>
            <a:r>
              <a:rPr lang="en-US" sz="1800" b="1" dirty="0"/>
              <a:t>in Psychology:</a:t>
            </a:r>
            <a:r>
              <a:rPr lang="en-US" sz="1800" dirty="0"/>
              <a:t/>
            </a:r>
            <a:br>
              <a:rPr lang="en-US" sz="1800" dirty="0"/>
            </a:br>
            <a:r>
              <a:rPr lang="en-US" sz="1800" dirty="0"/>
              <a:t>A person eats when hungry or drinks water when thirsty to reduce internal tension caused by deprivation.</a:t>
            </a:r>
          </a:p>
          <a:p>
            <a:pPr>
              <a:lnSpc>
                <a:spcPct val="150000"/>
              </a:lnSpc>
            </a:pPr>
            <a:r>
              <a:rPr lang="en-US" sz="1800" b="1" dirty="0"/>
              <a:t>Example in Computer Science:</a:t>
            </a:r>
            <a:r>
              <a:rPr lang="en-US" sz="1800" dirty="0"/>
              <a:t/>
            </a:r>
            <a:br>
              <a:rPr lang="en-US" sz="1800" dirty="0"/>
            </a:br>
            <a:r>
              <a:rPr lang="en-US" sz="1800" dirty="0"/>
              <a:t>A system detects low memory or overheating and automatically runs corrective processes to restore balance — analogous to humans acting to satisfy physiological or psychological needs.</a:t>
            </a:r>
          </a:p>
          <a:p>
            <a:endParaRPr lang="en-US" sz="1800" dirty="0"/>
          </a:p>
        </p:txBody>
      </p:sp>
    </p:spTree>
    <p:extLst>
      <p:ext uri="{BB962C8B-B14F-4D97-AF65-F5344CB8AC3E}">
        <p14:creationId xmlns:p14="http://schemas.microsoft.com/office/powerpoint/2010/main" val="2373200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64754"/>
            <a:ext cx="10750549" cy="889605"/>
          </a:xfrm>
        </p:spPr>
        <p:txBody>
          <a:bodyPr/>
          <a:lstStyle/>
          <a:p>
            <a:r>
              <a:rPr lang="en-US" b="1" dirty="0"/>
              <a:t>Arousal Approaches: Beyond Drive Reduction</a:t>
            </a:r>
            <a:br>
              <a:rPr lang="en-US" b="1" dirty="0"/>
            </a:br>
            <a:endParaRPr lang="en-US" dirty="0"/>
          </a:p>
        </p:txBody>
      </p:sp>
      <p:sp>
        <p:nvSpPr>
          <p:cNvPr id="4" name="Text Placeholder 3"/>
          <p:cNvSpPr>
            <a:spLocks noGrp="1"/>
          </p:cNvSpPr>
          <p:nvPr>
            <p:ph type="body" idx="1"/>
          </p:nvPr>
        </p:nvSpPr>
        <p:spPr>
          <a:xfrm>
            <a:off x="609600" y="653143"/>
            <a:ext cx="10750549" cy="5357221"/>
          </a:xfrm>
        </p:spPr>
        <p:txBody>
          <a:bodyPr/>
          <a:lstStyle/>
          <a:p>
            <a:pPr>
              <a:lnSpc>
                <a:spcPct val="150000"/>
              </a:lnSpc>
            </a:pPr>
            <a:r>
              <a:rPr lang="en-US" b="1" dirty="0" smtClean="0"/>
              <a:t>Theory</a:t>
            </a:r>
            <a:r>
              <a:rPr lang="en-US" b="1" dirty="0"/>
              <a:t>:</a:t>
            </a:r>
            <a:r>
              <a:rPr lang="en-US" dirty="0"/>
              <a:t> Arousal Theory of Motivation; Yerkes–Dodson Law</a:t>
            </a:r>
            <a:br>
              <a:rPr lang="en-US" dirty="0"/>
            </a:br>
            <a:r>
              <a:rPr lang="en-US" b="1" dirty="0"/>
              <a:t>Theorists:</a:t>
            </a:r>
            <a:r>
              <a:rPr lang="en-US" dirty="0"/>
              <a:t> Donald O. </a:t>
            </a:r>
            <a:r>
              <a:rPr lang="en-US" dirty="0" err="1"/>
              <a:t>Hebb</a:t>
            </a:r>
            <a:r>
              <a:rPr lang="en-US" dirty="0"/>
              <a:t> (1955); Robert M. Yerkes and John D. Dodson (1908)</a:t>
            </a:r>
          </a:p>
          <a:p>
            <a:pPr>
              <a:lnSpc>
                <a:spcPct val="150000"/>
              </a:lnSpc>
            </a:pPr>
            <a:r>
              <a:rPr lang="en-US" b="1" dirty="0"/>
              <a:t>Explanation:</a:t>
            </a:r>
            <a:r>
              <a:rPr lang="en-US" dirty="0"/>
              <a:t/>
            </a:r>
            <a:br>
              <a:rPr lang="en-US" dirty="0"/>
            </a:br>
            <a:r>
              <a:rPr lang="en-US" dirty="0"/>
              <a:t>Arousal theory states that individuals are motivated to maintain an </a:t>
            </a:r>
            <a:r>
              <a:rPr lang="en-US" b="1" dirty="0"/>
              <a:t>optimal level of arousal</a:t>
            </a:r>
            <a:r>
              <a:rPr lang="en-US" dirty="0"/>
              <a:t>—not too low (boredom) and not too high (stress).</a:t>
            </a:r>
            <a:br>
              <a:rPr lang="en-US" dirty="0"/>
            </a:br>
            <a:r>
              <a:rPr lang="en-US" dirty="0"/>
              <a:t>The </a:t>
            </a:r>
            <a:r>
              <a:rPr lang="en-US" b="1" dirty="0"/>
              <a:t>Yerkes–Dodson Law</a:t>
            </a:r>
            <a:r>
              <a:rPr lang="en-US" dirty="0"/>
              <a:t> suggests that performance increases with arousal up to a point, after which excessive arousal reduces performance.</a:t>
            </a:r>
          </a:p>
          <a:p>
            <a:pPr>
              <a:lnSpc>
                <a:spcPct val="150000"/>
              </a:lnSpc>
            </a:pPr>
            <a:r>
              <a:rPr lang="en-US" b="1" dirty="0"/>
              <a:t>Example in Psychology:</a:t>
            </a:r>
            <a:r>
              <a:rPr lang="en-US" dirty="0"/>
              <a:t/>
            </a:r>
            <a:br>
              <a:rPr lang="en-US" dirty="0"/>
            </a:br>
            <a:r>
              <a:rPr lang="en-US" dirty="0"/>
              <a:t>An athlete performs best under moderate pressure but may fail if the stress level is too high.</a:t>
            </a:r>
          </a:p>
          <a:p>
            <a:endParaRPr lang="en-US" sz="1800" dirty="0"/>
          </a:p>
        </p:txBody>
      </p:sp>
    </p:spTree>
    <p:extLst>
      <p:ext uri="{BB962C8B-B14F-4D97-AF65-F5344CB8AC3E}">
        <p14:creationId xmlns:p14="http://schemas.microsoft.com/office/powerpoint/2010/main" val="2864240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Incentive Approaches: Motivation’s Pull</a:t>
            </a:r>
            <a:br>
              <a:rPr lang="en-US" b="1" dirty="0"/>
            </a:br>
            <a:endParaRPr lang="en-US" dirty="0"/>
          </a:p>
        </p:txBody>
      </p:sp>
      <p:sp>
        <p:nvSpPr>
          <p:cNvPr id="4" name="Text Placeholder 3"/>
          <p:cNvSpPr>
            <a:spLocks noGrp="1"/>
          </p:cNvSpPr>
          <p:nvPr>
            <p:ph type="body" idx="1"/>
          </p:nvPr>
        </p:nvSpPr>
        <p:spPr>
          <a:xfrm>
            <a:off x="609600" y="1054359"/>
            <a:ext cx="10750549" cy="4956005"/>
          </a:xfrm>
        </p:spPr>
        <p:txBody>
          <a:bodyPr/>
          <a:lstStyle/>
          <a:p>
            <a:pPr>
              <a:lnSpc>
                <a:spcPct val="150000"/>
              </a:lnSpc>
            </a:pPr>
            <a:r>
              <a:rPr lang="en-US" b="1" dirty="0" smtClean="0"/>
              <a:t>Theory</a:t>
            </a:r>
            <a:r>
              <a:rPr lang="en-US" b="1" dirty="0"/>
              <a:t>:</a:t>
            </a:r>
            <a:r>
              <a:rPr lang="en-US" dirty="0"/>
              <a:t> Incentive Theory of Motivation</a:t>
            </a:r>
            <a:br>
              <a:rPr lang="en-US" dirty="0"/>
            </a:br>
            <a:r>
              <a:rPr lang="en-US" b="1" dirty="0"/>
              <a:t>Theorist:</a:t>
            </a:r>
            <a:r>
              <a:rPr lang="en-US" dirty="0"/>
              <a:t> B.F. Skinner (1938) and other behaviorist psychologists</a:t>
            </a:r>
          </a:p>
          <a:p>
            <a:pPr>
              <a:lnSpc>
                <a:spcPct val="150000"/>
              </a:lnSpc>
            </a:pPr>
            <a:r>
              <a:rPr lang="en-US" b="1" dirty="0"/>
              <a:t>Explanation:</a:t>
            </a:r>
            <a:r>
              <a:rPr lang="en-US" dirty="0"/>
              <a:t/>
            </a:r>
            <a:br>
              <a:rPr lang="en-US" dirty="0"/>
            </a:br>
            <a:r>
              <a:rPr lang="en-US" dirty="0"/>
              <a:t>Incentive theory focuses on </a:t>
            </a:r>
            <a:r>
              <a:rPr lang="en-US" b="1" dirty="0"/>
              <a:t>external stimuli</a:t>
            </a:r>
            <a:r>
              <a:rPr lang="en-US" dirty="0"/>
              <a:t> that “pull” individuals toward particular behaviors. Motivation arises not from internal needs but from the desire to obtain rewards or avoid negative outcomes. This theory is grounded in </a:t>
            </a:r>
            <a:r>
              <a:rPr lang="en-US" b="1" dirty="0"/>
              <a:t>operant conditioning</a:t>
            </a:r>
            <a:r>
              <a:rPr lang="en-US" dirty="0"/>
              <a:t>, where behavior is shaped by reinforcement.</a:t>
            </a:r>
          </a:p>
          <a:p>
            <a:pPr>
              <a:lnSpc>
                <a:spcPct val="150000"/>
              </a:lnSpc>
            </a:pPr>
            <a:r>
              <a:rPr lang="en-US" b="1" dirty="0" smtClean="0"/>
              <a:t>Example:</a:t>
            </a:r>
            <a:r>
              <a:rPr lang="en-US" dirty="0"/>
              <a:t/>
            </a:r>
            <a:br>
              <a:rPr lang="en-US" dirty="0"/>
            </a:br>
            <a:r>
              <a:rPr lang="en-US" dirty="0"/>
              <a:t>An employee works overtime to earn a bonus or recognition.</a:t>
            </a:r>
          </a:p>
          <a:p>
            <a:endParaRPr lang="en-US" dirty="0"/>
          </a:p>
        </p:txBody>
      </p:sp>
    </p:spTree>
    <p:extLst>
      <p:ext uri="{BB962C8B-B14F-4D97-AF65-F5344CB8AC3E}">
        <p14:creationId xmlns:p14="http://schemas.microsoft.com/office/powerpoint/2010/main" val="2571070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4645"/>
            <a:ext cx="10750549" cy="826217"/>
          </a:xfrm>
        </p:spPr>
        <p:txBody>
          <a:bodyPr/>
          <a:lstStyle/>
          <a:p>
            <a:r>
              <a:rPr lang="en-US" b="1" dirty="0" smtClean="0"/>
              <a:t/>
            </a:r>
            <a:br>
              <a:rPr lang="en-US" b="1" dirty="0" smtClean="0"/>
            </a:br>
            <a:r>
              <a:rPr lang="en-US" b="1" dirty="0" smtClean="0"/>
              <a:t>Cognitive </a:t>
            </a:r>
            <a:r>
              <a:rPr lang="en-US" b="1" dirty="0"/>
              <a:t>Approaches: The Thoughts Behind Motivation</a:t>
            </a:r>
            <a:br>
              <a:rPr lang="en-US" b="1" dirty="0"/>
            </a:br>
            <a:endParaRPr lang="en-US" dirty="0"/>
          </a:p>
        </p:txBody>
      </p:sp>
      <p:sp>
        <p:nvSpPr>
          <p:cNvPr id="4" name="Text Placeholder 3"/>
          <p:cNvSpPr>
            <a:spLocks noGrp="1"/>
          </p:cNvSpPr>
          <p:nvPr>
            <p:ph type="body" idx="1"/>
          </p:nvPr>
        </p:nvSpPr>
        <p:spPr>
          <a:xfrm>
            <a:off x="609600" y="662473"/>
            <a:ext cx="10750549" cy="5682343"/>
          </a:xfrm>
        </p:spPr>
        <p:txBody>
          <a:bodyPr/>
          <a:lstStyle/>
          <a:p>
            <a:pPr>
              <a:lnSpc>
                <a:spcPct val="150000"/>
              </a:lnSpc>
            </a:pPr>
            <a:r>
              <a:rPr lang="en-US" sz="1600" b="1" dirty="0" smtClean="0"/>
              <a:t>Theories</a:t>
            </a:r>
            <a:r>
              <a:rPr lang="en-US" sz="1600" b="1" dirty="0"/>
              <a:t>:</a:t>
            </a:r>
            <a:r>
              <a:rPr lang="en-US" sz="1600" dirty="0"/>
              <a:t> Expectancy-Value Theory; Cognitive Theory of Motivation</a:t>
            </a:r>
            <a:br>
              <a:rPr lang="en-US" sz="1600" dirty="0"/>
            </a:br>
            <a:r>
              <a:rPr lang="en-US" sz="1600" b="1" dirty="0"/>
              <a:t>Theorists:</a:t>
            </a:r>
            <a:r>
              <a:rPr lang="en-US" sz="1600" dirty="0"/>
              <a:t> John W. Atkinson (1957); Victor H. Vroom (1964)</a:t>
            </a:r>
          </a:p>
          <a:p>
            <a:pPr>
              <a:lnSpc>
                <a:spcPct val="150000"/>
              </a:lnSpc>
            </a:pPr>
            <a:r>
              <a:rPr lang="en-US" sz="1600" b="1" dirty="0"/>
              <a:t>Explanation:</a:t>
            </a:r>
          </a:p>
          <a:p>
            <a:pPr>
              <a:lnSpc>
                <a:spcPct val="150000"/>
              </a:lnSpc>
            </a:pPr>
            <a:r>
              <a:rPr lang="en-US" sz="1600" dirty="0"/>
              <a:t>Cognitive theories argue that motivation is largely determined by </a:t>
            </a:r>
            <a:r>
              <a:rPr lang="en-US" sz="1600" b="1" dirty="0"/>
              <a:t>mental processes</a:t>
            </a:r>
            <a:r>
              <a:rPr lang="en-US" sz="1600" dirty="0"/>
              <a:t>, including beliefs, expectations, and values.</a:t>
            </a:r>
          </a:p>
          <a:p>
            <a:pPr>
              <a:lnSpc>
                <a:spcPct val="150000"/>
              </a:lnSpc>
              <a:buFont typeface="Arial" panose="020B0604020202020204" pitchFamily="34" charset="0"/>
              <a:buChar char="•"/>
            </a:pPr>
            <a:r>
              <a:rPr lang="en-US" sz="1600" b="1" dirty="0"/>
              <a:t>Expectancy-Value Theory</a:t>
            </a:r>
            <a:r>
              <a:rPr lang="en-US" sz="1600" dirty="0"/>
              <a:t> states that motivation is a function of two key factors: the expectation of success and the value placed on that success.</a:t>
            </a:r>
          </a:p>
          <a:p>
            <a:pPr>
              <a:lnSpc>
                <a:spcPct val="150000"/>
              </a:lnSpc>
              <a:buFont typeface="Arial" panose="020B0604020202020204" pitchFamily="34" charset="0"/>
              <a:buChar char="•"/>
            </a:pPr>
            <a:r>
              <a:rPr lang="en-US" sz="1600" b="1" dirty="0"/>
              <a:t>Vroom’s Expectancy Theory</a:t>
            </a:r>
            <a:r>
              <a:rPr lang="en-US" sz="1600" dirty="0"/>
              <a:t> further emphasizes that individuals choose actions based on their expectations of outcomes and the desirability of those outcomes.</a:t>
            </a:r>
          </a:p>
          <a:p>
            <a:pPr>
              <a:lnSpc>
                <a:spcPct val="150000"/>
              </a:lnSpc>
            </a:pPr>
            <a:r>
              <a:rPr lang="en-US" sz="1600" dirty="0"/>
              <a:t>Motivation therefore depends on whether people believe their efforts will lead to desired results and whether those results are meaningful to them.</a:t>
            </a:r>
          </a:p>
          <a:p>
            <a:pPr>
              <a:lnSpc>
                <a:spcPct val="150000"/>
              </a:lnSpc>
            </a:pPr>
            <a:r>
              <a:rPr lang="en-US" sz="1600" b="1" dirty="0"/>
              <a:t>Example in Psychology:</a:t>
            </a:r>
          </a:p>
          <a:p>
            <a:pPr>
              <a:lnSpc>
                <a:spcPct val="150000"/>
              </a:lnSpc>
            </a:pPr>
            <a:r>
              <a:rPr lang="en-US" sz="1600" dirty="0"/>
              <a:t>A student studies intensively because they believe effort will lead to academic success, and they value that success highly.</a:t>
            </a:r>
          </a:p>
          <a:p>
            <a:endParaRPr lang="en-US" dirty="0"/>
          </a:p>
        </p:txBody>
      </p:sp>
    </p:spTree>
    <p:extLst>
      <p:ext uri="{BB962C8B-B14F-4D97-AF65-F5344CB8AC3E}">
        <p14:creationId xmlns:p14="http://schemas.microsoft.com/office/powerpoint/2010/main" val="2201956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41327"/>
            <a:ext cx="10750549" cy="1428853"/>
          </a:xfrm>
        </p:spPr>
        <p:txBody>
          <a:bodyPr/>
          <a:lstStyle/>
          <a:p>
            <a:r>
              <a:rPr lang="en-US" b="1" dirty="0"/>
              <a:t>Maslow’s Hierarchy of Needs: Ordering Motivational Needs</a:t>
            </a:r>
            <a:br>
              <a:rPr lang="en-US" b="1" dirty="0"/>
            </a:br>
            <a:endParaRPr lang="en-US" dirty="0"/>
          </a:p>
        </p:txBody>
      </p:sp>
      <p:sp>
        <p:nvSpPr>
          <p:cNvPr id="4" name="Text Placeholder 3"/>
          <p:cNvSpPr>
            <a:spLocks noGrp="1"/>
          </p:cNvSpPr>
          <p:nvPr>
            <p:ph type="body" idx="1"/>
          </p:nvPr>
        </p:nvSpPr>
        <p:spPr>
          <a:xfrm>
            <a:off x="609600" y="1670180"/>
            <a:ext cx="10750549" cy="4340184"/>
          </a:xfrm>
        </p:spPr>
        <p:txBody>
          <a:bodyPr/>
          <a:lstStyle/>
          <a:p>
            <a:pPr>
              <a:lnSpc>
                <a:spcPct val="150000"/>
              </a:lnSpc>
            </a:pPr>
            <a:r>
              <a:rPr lang="en-US" sz="2400" b="1" dirty="0" smtClean="0"/>
              <a:t>Theory</a:t>
            </a:r>
            <a:r>
              <a:rPr lang="en-US" sz="2400" b="1" dirty="0"/>
              <a:t>:</a:t>
            </a:r>
            <a:r>
              <a:rPr lang="en-US" sz="2400" dirty="0"/>
              <a:t> Hierarchy of Needs</a:t>
            </a:r>
            <a:br>
              <a:rPr lang="en-US" sz="2400" dirty="0"/>
            </a:br>
            <a:r>
              <a:rPr lang="en-US" sz="2400" b="1" dirty="0"/>
              <a:t>Theorist:</a:t>
            </a:r>
            <a:r>
              <a:rPr lang="en-US" sz="2400" dirty="0"/>
              <a:t> Abraham H. Maslow (1943)</a:t>
            </a:r>
          </a:p>
          <a:p>
            <a:pPr>
              <a:lnSpc>
                <a:spcPct val="150000"/>
              </a:lnSpc>
            </a:pPr>
            <a:r>
              <a:rPr lang="en-US" sz="2400" b="1" dirty="0"/>
              <a:t>Explanation:</a:t>
            </a:r>
            <a:r>
              <a:rPr lang="en-US" sz="2400" dirty="0"/>
              <a:t/>
            </a:r>
            <a:br>
              <a:rPr lang="en-US" sz="2400" dirty="0"/>
            </a:br>
            <a:r>
              <a:rPr lang="en-US" sz="2400" dirty="0"/>
              <a:t>Maslow proposed that human motivation is organized in a </a:t>
            </a:r>
            <a:r>
              <a:rPr lang="en-US" sz="2400" b="1" dirty="0"/>
              <a:t>hierarchical structure of needs</a:t>
            </a:r>
            <a:r>
              <a:rPr lang="en-US" sz="2400" dirty="0"/>
              <a:t>, progressing from basic physiological requirements to higher psychological and self-fulfillment goals. Individuals move upward as lower needs are satisfied.</a:t>
            </a:r>
          </a:p>
          <a:p>
            <a:endParaRPr lang="en-US" dirty="0"/>
          </a:p>
        </p:txBody>
      </p:sp>
    </p:spTree>
    <p:extLst>
      <p:ext uri="{BB962C8B-B14F-4D97-AF65-F5344CB8AC3E}">
        <p14:creationId xmlns:p14="http://schemas.microsoft.com/office/powerpoint/2010/main" val="518527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31"/>
        <p:cNvGrpSpPr/>
        <p:nvPr/>
      </p:nvGrpSpPr>
      <p:grpSpPr>
        <a:xfrm>
          <a:off x="0" y="0"/>
          <a:ext cx="0" cy="0"/>
          <a:chOff x="0" y="0"/>
          <a:chExt cx="0" cy="0"/>
        </a:xfrm>
      </p:grpSpPr>
      <p:sp>
        <p:nvSpPr>
          <p:cNvPr id="132" name="Google Shape;132;p16"/>
          <p:cNvSpPr txBox="1">
            <a:spLocks noGrp="1"/>
          </p:cNvSpPr>
          <p:nvPr>
            <p:ph type="title"/>
          </p:nvPr>
        </p:nvSpPr>
        <p:spPr>
          <a:xfrm>
            <a:off x="1981200" y="241327"/>
            <a:ext cx="8062912" cy="659535"/>
          </a:xfrm>
          <a:prstGeom prst="rect">
            <a:avLst/>
          </a:prstGeom>
          <a:noFill/>
          <a:ln>
            <a:noFill/>
          </a:ln>
        </p:spPr>
        <p:txBody>
          <a:bodyPr spcFirstLastPara="1" wrap="square" lIns="91425" tIns="45700" rIns="91425" bIns="45700" anchor="b" anchorCtr="0">
            <a:noAutofit/>
          </a:bodyPr>
          <a:lstStyle/>
          <a:p>
            <a:pPr>
              <a:buSzPts val="2400"/>
            </a:pPr>
            <a:r>
              <a:rPr lang="en-US"/>
              <a:t>MASLOW’S HIERARCHY OF NEEDS</a:t>
            </a:r>
            <a:endParaRPr/>
          </a:p>
        </p:txBody>
      </p:sp>
      <p:sp>
        <p:nvSpPr>
          <p:cNvPr id="134" name="Google Shape;134;p16"/>
          <p:cNvSpPr txBox="1">
            <a:spLocks noGrp="1"/>
          </p:cNvSpPr>
          <p:nvPr>
            <p:ph type="body" idx="1"/>
          </p:nvPr>
        </p:nvSpPr>
        <p:spPr>
          <a:xfrm>
            <a:off x="6130925" y="1434404"/>
            <a:ext cx="3913188" cy="4930186"/>
          </a:xfrm>
          <a:prstGeom prst="rect">
            <a:avLst/>
          </a:prstGeom>
          <a:noFill/>
          <a:ln>
            <a:noFill/>
          </a:ln>
        </p:spPr>
        <p:txBody>
          <a:bodyPr spcFirstLastPara="1" wrap="square" lIns="91425" tIns="45700" rIns="91425" bIns="45700" anchor="t" anchorCtr="0">
            <a:noAutofit/>
          </a:bodyPr>
          <a:lstStyle/>
          <a:p>
            <a:pPr marL="0" indent="0">
              <a:spcBef>
                <a:spcPts val="0"/>
              </a:spcBef>
              <a:buSzPts val="1600"/>
            </a:pPr>
            <a:r>
              <a:rPr lang="en-US" sz="1600" b="1" u="sng">
                <a:solidFill>
                  <a:srgbClr val="6CB255"/>
                </a:solidFill>
              </a:rPr>
              <a:t>Abraham Maslow (1943)</a:t>
            </a:r>
            <a:endParaRPr/>
          </a:p>
          <a:p>
            <a:pPr marL="0" indent="0">
              <a:spcBef>
                <a:spcPts val="1080"/>
              </a:spcBef>
              <a:buSzPts val="1600"/>
            </a:pPr>
            <a:r>
              <a:rPr lang="en-US" sz="1600">
                <a:solidFill>
                  <a:schemeClr val="dk1"/>
                </a:solidFill>
              </a:rPr>
              <a:t>Proposed a theory of motivation that spans the spectrum of motives including biological, individual and social.</a:t>
            </a:r>
            <a:endParaRPr/>
          </a:p>
          <a:p>
            <a:pPr marL="285750" indent="-285750">
              <a:spcBef>
                <a:spcPts val="1080"/>
              </a:spcBef>
              <a:buSzPts val="1600"/>
              <a:buFont typeface="Arial"/>
              <a:buChar char="•"/>
            </a:pPr>
            <a:r>
              <a:rPr lang="en-US" sz="1600">
                <a:solidFill>
                  <a:schemeClr val="dk1"/>
                </a:solidFill>
              </a:rPr>
              <a:t>One must satisfy lower-level needs before addressing the needs in higher levels.</a:t>
            </a:r>
            <a:endParaRPr/>
          </a:p>
          <a:p>
            <a:pPr marL="285750" indent="-285750">
              <a:spcBef>
                <a:spcPts val="1080"/>
              </a:spcBef>
              <a:buSzPts val="1600"/>
              <a:buFont typeface="Arial"/>
              <a:buChar char="•"/>
            </a:pPr>
            <a:r>
              <a:rPr lang="en-US" sz="1600">
                <a:solidFill>
                  <a:schemeClr val="dk1"/>
                </a:solidFill>
              </a:rPr>
              <a:t>A person without food, water and shelter is unlikely to be focused on relationships or what people think of them.</a:t>
            </a:r>
            <a:endParaRPr sz="1600">
              <a:solidFill>
                <a:schemeClr val="dk1"/>
              </a:solidFill>
            </a:endParaRPr>
          </a:p>
        </p:txBody>
      </p:sp>
      <p:pic>
        <p:nvPicPr>
          <p:cNvPr id="8" name="Figure" descr="A triangle is divided vertically into five sections with corresponding labels inside and outside of the triangle for each section. From top to bottom, the triangle's sections are labeled: &quot;self-actualization&quot; corresponds to &quot;Inner fulfillment&quot; &quot;esteem&quot; corresponds to &quot;Self-worth, accomplishment, confidence&quot;; &quot;social&quot; corresponds to &quot;Family, friendship, intimacy, belonging&quot;' &quot;security&quot; corresponds to &quot;Safety, employment, assets&quot;; &quot;physiological&quot; corresponds to &quot;Food, water, shelter, warmth.&quot;"/>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358629" y="1127223"/>
            <a:ext cx="4032250" cy="460355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1981200" y="241327"/>
            <a:ext cx="8062912" cy="659535"/>
          </a:xfrm>
          <a:prstGeom prst="rect">
            <a:avLst/>
          </a:prstGeom>
          <a:noFill/>
          <a:ln>
            <a:noFill/>
          </a:ln>
        </p:spPr>
        <p:txBody>
          <a:bodyPr spcFirstLastPara="1" wrap="square" lIns="91425" tIns="45700" rIns="91425" bIns="45700" anchor="b" anchorCtr="0">
            <a:noAutofit/>
          </a:bodyPr>
          <a:lstStyle/>
          <a:p>
            <a:pPr>
              <a:buSzPts val="2400"/>
            </a:pPr>
            <a:r>
              <a:rPr lang="en-US"/>
              <a:t>SELF-EFFICACY &amp; SOCIAL MOTIVATION</a:t>
            </a:r>
            <a:endParaRPr/>
          </a:p>
        </p:txBody>
      </p:sp>
      <p:sp>
        <p:nvSpPr>
          <p:cNvPr id="126" name="Google Shape;126;p15"/>
          <p:cNvSpPr txBox="1">
            <a:spLocks noGrp="1"/>
          </p:cNvSpPr>
          <p:nvPr>
            <p:ph type="body" idx="1"/>
          </p:nvPr>
        </p:nvSpPr>
        <p:spPr>
          <a:xfrm>
            <a:off x="1981201" y="1317010"/>
            <a:ext cx="8367221" cy="4996704"/>
          </a:xfrm>
          <a:prstGeom prst="rect">
            <a:avLst/>
          </a:prstGeom>
          <a:noFill/>
          <a:ln>
            <a:noFill/>
          </a:ln>
        </p:spPr>
        <p:txBody>
          <a:bodyPr spcFirstLastPara="1" wrap="square" lIns="91425" tIns="45700" rIns="91425" bIns="45700" anchor="t" anchorCtr="0">
            <a:noAutofit/>
          </a:bodyPr>
          <a:lstStyle/>
          <a:p>
            <a:pPr marL="0" indent="0">
              <a:spcBef>
                <a:spcPts val="0"/>
              </a:spcBef>
              <a:buSzPts val="1600"/>
            </a:pPr>
            <a:r>
              <a:rPr lang="en-US" sz="1600" b="1" u="sng">
                <a:solidFill>
                  <a:srgbClr val="6CB255"/>
                </a:solidFill>
              </a:rPr>
              <a:t>Self-Efficacy</a:t>
            </a:r>
            <a:endParaRPr/>
          </a:p>
          <a:p>
            <a:pPr marL="0" indent="0">
              <a:spcBef>
                <a:spcPts val="920"/>
              </a:spcBef>
              <a:buSzPts val="1600"/>
            </a:pPr>
            <a:r>
              <a:rPr lang="en-US" sz="1600" b="1"/>
              <a:t>Self-efficacy</a:t>
            </a:r>
            <a:r>
              <a:rPr lang="en-US" sz="1600"/>
              <a:t> – an individual’s belief in her own capability to complete a task.</a:t>
            </a:r>
            <a:endParaRPr/>
          </a:p>
          <a:p>
            <a:pPr marL="0" indent="0">
              <a:spcBef>
                <a:spcPts val="920"/>
              </a:spcBef>
              <a:buSzPts val="1600"/>
            </a:pPr>
            <a:r>
              <a:rPr lang="en-US" sz="1600" b="1">
                <a:solidFill>
                  <a:srgbClr val="6CB255"/>
                </a:solidFill>
              </a:rPr>
              <a:t>Bandura: </a:t>
            </a:r>
            <a:endParaRPr/>
          </a:p>
          <a:p>
            <a:pPr marL="0" indent="0">
              <a:spcBef>
                <a:spcPts val="920"/>
              </a:spcBef>
              <a:buSzPts val="1600"/>
            </a:pPr>
            <a:r>
              <a:rPr lang="en-US" sz="1600" b="1"/>
              <a:t>T</a:t>
            </a:r>
            <a:r>
              <a:rPr lang="en-US" sz="1600"/>
              <a:t>heorized that self-efficacy plays a role in motivating behavior.</a:t>
            </a:r>
            <a:endParaRPr/>
          </a:p>
          <a:p>
            <a:pPr marL="285750" indent="-285750">
              <a:spcBef>
                <a:spcPts val="920"/>
              </a:spcBef>
              <a:buSzPts val="1600"/>
              <a:buFont typeface="Arial"/>
              <a:buChar char="•"/>
            </a:pPr>
            <a:r>
              <a:rPr lang="en-US" sz="1600"/>
              <a:t>Argues that motivation derives from expectations held about the consequences of behaviors.</a:t>
            </a:r>
            <a:endParaRPr/>
          </a:p>
          <a:p>
            <a:pPr marL="285750" indent="-285750">
              <a:spcBef>
                <a:spcPts val="920"/>
              </a:spcBef>
              <a:buSzPts val="1600"/>
              <a:buFont typeface="Arial"/>
              <a:buChar char="•"/>
            </a:pPr>
            <a:r>
              <a:rPr lang="en-US" sz="1600"/>
              <a:t>Beliefs about our abilities will determine what we do and goals we set for ourselves.</a:t>
            </a:r>
            <a:endParaRPr/>
          </a:p>
          <a:p>
            <a:pPr marL="0" indent="0">
              <a:spcBef>
                <a:spcPts val="920"/>
              </a:spcBef>
              <a:buSzPts val="1600"/>
            </a:pPr>
            <a:endParaRPr sz="1600"/>
          </a:p>
          <a:p>
            <a:pPr marL="0" indent="0">
              <a:spcBef>
                <a:spcPts val="920"/>
              </a:spcBef>
              <a:buSzPts val="1600"/>
            </a:pPr>
            <a:r>
              <a:rPr lang="en-US" sz="1600" b="1" u="sng">
                <a:solidFill>
                  <a:srgbClr val="6CB255"/>
                </a:solidFill>
              </a:rPr>
              <a:t>Social Motives</a:t>
            </a:r>
            <a:endParaRPr/>
          </a:p>
          <a:p>
            <a:pPr marL="0" indent="0">
              <a:spcBef>
                <a:spcPts val="920"/>
              </a:spcBef>
              <a:buSzPts val="1600"/>
            </a:pPr>
            <a:r>
              <a:rPr lang="en-US" sz="1600" b="1"/>
              <a:t>Need for achievement </a:t>
            </a:r>
            <a:r>
              <a:rPr lang="en-US" sz="1600"/>
              <a:t>– drives accomplishment and performance.</a:t>
            </a:r>
            <a:endParaRPr/>
          </a:p>
          <a:p>
            <a:pPr marL="0" indent="0">
              <a:spcBef>
                <a:spcPts val="920"/>
              </a:spcBef>
              <a:buSzPts val="1600"/>
            </a:pPr>
            <a:r>
              <a:rPr lang="en-US" sz="1600" b="1"/>
              <a:t>Need for affiliation </a:t>
            </a:r>
            <a:r>
              <a:rPr lang="en-US" sz="1600"/>
              <a:t>– encourages positive interactions with others.</a:t>
            </a:r>
            <a:endParaRPr/>
          </a:p>
          <a:p>
            <a:pPr marL="0" indent="0">
              <a:spcBef>
                <a:spcPts val="920"/>
              </a:spcBef>
              <a:buSzPts val="1600"/>
            </a:pPr>
            <a:r>
              <a:rPr lang="en-US" sz="1600" b="1"/>
              <a:t>Need for intimacy </a:t>
            </a:r>
            <a:r>
              <a:rPr lang="en-US" sz="1600"/>
              <a:t>– causes us to seek deep, meaningful relationships.</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What Is Achievement Motivation?</a:t>
            </a:r>
            <a:br>
              <a:rPr lang="en-US" dirty="0"/>
            </a:br>
            <a:endParaRPr lang="en-US" dirty="0"/>
          </a:p>
        </p:txBody>
      </p:sp>
      <p:sp>
        <p:nvSpPr>
          <p:cNvPr id="6" name="Text Placeholder 5"/>
          <p:cNvSpPr>
            <a:spLocks noGrp="1"/>
          </p:cNvSpPr>
          <p:nvPr>
            <p:ph type="body" idx="1"/>
          </p:nvPr>
        </p:nvSpPr>
        <p:spPr>
          <a:xfrm>
            <a:off x="609600" y="699796"/>
            <a:ext cx="10750549" cy="5310568"/>
          </a:xfrm>
        </p:spPr>
        <p:txBody>
          <a:bodyPr/>
          <a:lstStyle/>
          <a:p>
            <a:endParaRPr lang="en-US" dirty="0"/>
          </a:p>
          <a:p>
            <a:r>
              <a:rPr lang="en-US" dirty="0"/>
              <a:t>Achievement motivation is defined as </a:t>
            </a:r>
            <a:r>
              <a:rPr lang="en-US" b="1" dirty="0"/>
              <a:t>the need for achievement and is an important determinant of aspiration, effort, and persistence when an individual expects that his performance will be evaluated in relation to some standard of excellence</a:t>
            </a:r>
            <a:r>
              <a:rPr lang="en-US" dirty="0" smtClean="0"/>
              <a:t>.</a:t>
            </a:r>
            <a:endParaRPr lang="en-US" dirty="0"/>
          </a:p>
          <a:p>
            <a:endParaRPr lang="en-US" dirty="0"/>
          </a:p>
          <a:p>
            <a:r>
              <a:rPr lang="en-US" dirty="0"/>
              <a:t>In the case of my workout, I was pushing myself to get the best possible score, knowing it would be measured against all other athletes and written on the board for everyone to see.</a:t>
            </a:r>
          </a:p>
          <a:p>
            <a:endParaRPr lang="en-US" dirty="0"/>
          </a:p>
          <a:p>
            <a:r>
              <a:rPr lang="en-US" dirty="0"/>
              <a:t>Achievement refers to competence (a condition or quality of effectiveness, ability, sufficiency, or success). Motivation refers to the </a:t>
            </a:r>
            <a:r>
              <a:rPr lang="en-US" dirty="0" err="1"/>
              <a:t>energization</a:t>
            </a:r>
            <a:r>
              <a:rPr lang="en-US" dirty="0"/>
              <a:t> (instigation) and direction (aim) of behavior. Thus, achievement motivation may be defined as the </a:t>
            </a:r>
            <a:r>
              <a:rPr lang="en-US" dirty="0" err="1"/>
              <a:t>energization</a:t>
            </a:r>
            <a:r>
              <a:rPr lang="en-US" dirty="0"/>
              <a:t> and direction of competence-relevant behavior or why and how people strive toward competence (success) and away from incompetence (failure).</a:t>
            </a:r>
          </a:p>
        </p:txBody>
      </p:sp>
    </p:spTree>
    <p:extLst>
      <p:ext uri="{BB962C8B-B14F-4D97-AF65-F5344CB8AC3E}">
        <p14:creationId xmlns:p14="http://schemas.microsoft.com/office/powerpoint/2010/main" val="1257632372"/>
      </p:ext>
    </p:extLst>
  </p:cSld>
  <p:clrMapOvr>
    <a:masterClrMapping/>
  </p:clrMapOvr>
</p:sld>
</file>

<file path=ppt/theme/theme1.xml><?xml version="1.0" encoding="utf-8"?>
<a:theme xmlns:a="http://schemas.openxmlformats.org/drawingml/2006/main" name="Essential">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679</TotalTime>
  <Words>729</Words>
  <Application>Microsoft Office PowerPoint</Application>
  <PresentationFormat>Widescreen</PresentationFormat>
  <Paragraphs>100</Paragraphs>
  <Slides>16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Arial Black</vt:lpstr>
      <vt:lpstr>Calibri</vt:lpstr>
      <vt:lpstr>Essential</vt:lpstr>
      <vt:lpstr>PowerPoint Presentation</vt:lpstr>
      <vt:lpstr>PowerPoint Presentation</vt:lpstr>
      <vt:lpstr>PowerPoint Presentation</vt:lpstr>
      <vt:lpstr>What is Motivation? </vt:lpstr>
      <vt:lpstr>       Key Elements of Motivation </vt:lpstr>
      <vt:lpstr>INTRINSIC VS EXTRINSIC MOTIVATION</vt:lpstr>
      <vt:lpstr>Extrinsic motivation: </vt:lpstr>
      <vt:lpstr>                     Instinct Approaches: Born to Be Motivated </vt:lpstr>
      <vt:lpstr> Drive-Reduction Approaches: Satisfying Our Needs </vt:lpstr>
      <vt:lpstr>Arousal Approaches: Beyond Drive Reduction </vt:lpstr>
      <vt:lpstr>Incentive Approaches: Motivation’s Pull </vt:lpstr>
      <vt:lpstr> Cognitive Approaches: The Thoughts Behind Motivation </vt:lpstr>
      <vt:lpstr>Maslow’s Hierarchy of Needs: Ordering Motivational Needs </vt:lpstr>
      <vt:lpstr>MASLOW’S HIERARCHY OF NEEDS</vt:lpstr>
      <vt:lpstr>SELF-EFFICACY &amp; SOCIAL MOTIVATION</vt:lpstr>
      <vt:lpstr>What Is Achievement Motivation?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Syeda Sadia Qazi</dc:creator>
  <cp:lastModifiedBy>Syeda Sadia Qazi</cp:lastModifiedBy>
  <cp:revision>31</cp:revision>
  <dcterms:modified xsi:type="dcterms:W3CDTF">2025-10-13T11:45:48Z</dcterms:modified>
</cp:coreProperties>
</file>